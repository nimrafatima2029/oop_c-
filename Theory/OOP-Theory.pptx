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notesMasterIdLst>
    <p:notesMasterId r:id="rId143"/>
  </p:notesMasterIdLst>
  <p:sldIdLst>
    <p:sldId id="256" r:id="rId2"/>
    <p:sldId id="282" r:id="rId3"/>
    <p:sldId id="300" r:id="rId4"/>
    <p:sldId id="301" r:id="rId5"/>
    <p:sldId id="279" r:id="rId6"/>
    <p:sldId id="261" r:id="rId7"/>
    <p:sldId id="257" r:id="rId8"/>
    <p:sldId id="260" r:id="rId9"/>
    <p:sldId id="259" r:id="rId10"/>
    <p:sldId id="258" r:id="rId11"/>
    <p:sldId id="332" r:id="rId12"/>
    <p:sldId id="337" r:id="rId13"/>
    <p:sldId id="338" r:id="rId14"/>
    <p:sldId id="339" r:id="rId15"/>
    <p:sldId id="340" r:id="rId16"/>
    <p:sldId id="341" r:id="rId17"/>
    <p:sldId id="342" r:id="rId18"/>
    <p:sldId id="343" r:id="rId19"/>
    <p:sldId id="344" r:id="rId20"/>
    <p:sldId id="345" r:id="rId21"/>
    <p:sldId id="346" r:id="rId22"/>
    <p:sldId id="281" r:id="rId23"/>
    <p:sldId id="280" r:id="rId24"/>
    <p:sldId id="285" r:id="rId25"/>
    <p:sldId id="286" r:id="rId26"/>
    <p:sldId id="287" r:id="rId27"/>
    <p:sldId id="288" r:id="rId28"/>
    <p:sldId id="290" r:id="rId29"/>
    <p:sldId id="283" r:id="rId30"/>
    <p:sldId id="304" r:id="rId31"/>
    <p:sldId id="305" r:id="rId32"/>
    <p:sldId id="306" r:id="rId33"/>
    <p:sldId id="307" r:id="rId34"/>
    <p:sldId id="262" r:id="rId35"/>
    <p:sldId id="277" r:id="rId36"/>
    <p:sldId id="278" r:id="rId37"/>
    <p:sldId id="284" r:id="rId38"/>
    <p:sldId id="302" r:id="rId39"/>
    <p:sldId id="303" r:id="rId40"/>
    <p:sldId id="263" r:id="rId41"/>
    <p:sldId id="264" r:id="rId42"/>
    <p:sldId id="265" r:id="rId43"/>
    <p:sldId id="296" r:id="rId44"/>
    <p:sldId id="297" r:id="rId45"/>
    <p:sldId id="298" r:id="rId46"/>
    <p:sldId id="266" r:id="rId47"/>
    <p:sldId id="363" r:id="rId48"/>
    <p:sldId id="267" r:id="rId49"/>
    <p:sldId id="268" r:id="rId50"/>
    <p:sldId id="291" r:id="rId51"/>
    <p:sldId id="292" r:id="rId52"/>
    <p:sldId id="289" r:id="rId53"/>
    <p:sldId id="293" r:id="rId54"/>
    <p:sldId id="294" r:id="rId55"/>
    <p:sldId id="295" r:id="rId56"/>
    <p:sldId id="269" r:id="rId57"/>
    <p:sldId id="334" r:id="rId58"/>
    <p:sldId id="335" r:id="rId59"/>
    <p:sldId id="273" r:id="rId60"/>
    <p:sldId id="274" r:id="rId61"/>
    <p:sldId id="275" r:id="rId62"/>
    <p:sldId id="308" r:id="rId63"/>
    <p:sldId id="309" r:id="rId64"/>
    <p:sldId id="310" r:id="rId65"/>
    <p:sldId id="347" r:id="rId66"/>
    <p:sldId id="348" r:id="rId67"/>
    <p:sldId id="349" r:id="rId68"/>
    <p:sldId id="311" r:id="rId69"/>
    <p:sldId id="315" r:id="rId70"/>
    <p:sldId id="276" r:id="rId71"/>
    <p:sldId id="312" r:id="rId72"/>
    <p:sldId id="336" r:id="rId73"/>
    <p:sldId id="313" r:id="rId74"/>
    <p:sldId id="314" r:id="rId75"/>
    <p:sldId id="270" r:id="rId76"/>
    <p:sldId id="271" r:id="rId77"/>
    <p:sldId id="272" r:id="rId78"/>
    <p:sldId id="317" r:id="rId79"/>
    <p:sldId id="316" r:id="rId80"/>
    <p:sldId id="319" r:id="rId81"/>
    <p:sldId id="318" r:id="rId82"/>
    <p:sldId id="320" r:id="rId83"/>
    <p:sldId id="321" r:id="rId84"/>
    <p:sldId id="322" r:id="rId85"/>
    <p:sldId id="323" r:id="rId86"/>
    <p:sldId id="324" r:id="rId87"/>
    <p:sldId id="325" r:id="rId88"/>
    <p:sldId id="326" r:id="rId89"/>
    <p:sldId id="327" r:id="rId90"/>
    <p:sldId id="328" r:id="rId91"/>
    <p:sldId id="329" r:id="rId92"/>
    <p:sldId id="330" r:id="rId93"/>
    <p:sldId id="331" r:id="rId94"/>
    <p:sldId id="299" r:id="rId95"/>
    <p:sldId id="358" r:id="rId96"/>
    <p:sldId id="359" r:id="rId97"/>
    <p:sldId id="350" r:id="rId98"/>
    <p:sldId id="351" r:id="rId99"/>
    <p:sldId id="352" r:id="rId100"/>
    <p:sldId id="357" r:id="rId101"/>
    <p:sldId id="354" r:id="rId102"/>
    <p:sldId id="355" r:id="rId103"/>
    <p:sldId id="356" r:id="rId104"/>
    <p:sldId id="360" r:id="rId105"/>
    <p:sldId id="361" r:id="rId106"/>
    <p:sldId id="362" r:id="rId107"/>
    <p:sldId id="364" r:id="rId108"/>
    <p:sldId id="365" r:id="rId109"/>
    <p:sldId id="366" r:id="rId110"/>
    <p:sldId id="367" r:id="rId111"/>
    <p:sldId id="368" r:id="rId112"/>
    <p:sldId id="369" r:id="rId113"/>
    <p:sldId id="370" r:id="rId114"/>
    <p:sldId id="371" r:id="rId115"/>
    <p:sldId id="373" r:id="rId116"/>
    <p:sldId id="374" r:id="rId117"/>
    <p:sldId id="372" r:id="rId118"/>
    <p:sldId id="376" r:id="rId119"/>
    <p:sldId id="375" r:id="rId120"/>
    <p:sldId id="377" r:id="rId121"/>
    <p:sldId id="385" r:id="rId122"/>
    <p:sldId id="387" r:id="rId123"/>
    <p:sldId id="378" r:id="rId124"/>
    <p:sldId id="379" r:id="rId125"/>
    <p:sldId id="380" r:id="rId126"/>
    <p:sldId id="381" r:id="rId127"/>
    <p:sldId id="382" r:id="rId128"/>
    <p:sldId id="383" r:id="rId129"/>
    <p:sldId id="384" r:id="rId130"/>
    <p:sldId id="388" r:id="rId131"/>
    <p:sldId id="389" r:id="rId132"/>
    <p:sldId id="390" r:id="rId133"/>
    <p:sldId id="398" r:id="rId134"/>
    <p:sldId id="391" r:id="rId135"/>
    <p:sldId id="392" r:id="rId136"/>
    <p:sldId id="393" r:id="rId137"/>
    <p:sldId id="394" r:id="rId138"/>
    <p:sldId id="395" r:id="rId139"/>
    <p:sldId id="396" r:id="rId140"/>
    <p:sldId id="397" r:id="rId141"/>
    <p:sldId id="399" r:id="rId1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78" d="100"/>
          <a:sy n="78" d="100"/>
        </p:scale>
        <p:origin x="1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13E031-9F9C-495E-BBA7-AF188A845C76}" type="datetimeFigureOut">
              <a:rPr lang="en-US" smtClean="0"/>
              <a:t>10/18/2026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6FC2B2-4F38-4CCA-B604-06CF14E5AA48}" type="slidenum">
              <a:rPr lang="en-US" smtClean="0"/>
              <a:t>‹#›</a:t>
            </a:fld>
            <a:endParaRPr lang="en-US" dirty="0"/>
          </a:p>
        </p:txBody>
      </p:sp>
    </p:spTree>
    <p:extLst>
      <p:ext uri="{BB962C8B-B14F-4D97-AF65-F5344CB8AC3E}">
        <p14:creationId xmlns:p14="http://schemas.microsoft.com/office/powerpoint/2010/main" val="3359069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GPA should have either float or double as a data type not int as </a:t>
            </a:r>
            <a:r>
              <a:rPr lang="en-US" dirty="0" err="1"/>
              <a:t>gpa</a:t>
            </a:r>
            <a:r>
              <a:rPr lang="en-US" dirty="0"/>
              <a:t> is written in points and int truncate the values after decimal point, results in data loss</a:t>
            </a:r>
          </a:p>
        </p:txBody>
      </p:sp>
      <p:sp>
        <p:nvSpPr>
          <p:cNvPr id="4" name="Slide Number Placeholder 3"/>
          <p:cNvSpPr>
            <a:spLocks noGrp="1"/>
          </p:cNvSpPr>
          <p:nvPr>
            <p:ph type="sldNum" sz="quarter" idx="5"/>
          </p:nvPr>
        </p:nvSpPr>
        <p:spPr/>
        <p:txBody>
          <a:bodyPr/>
          <a:lstStyle/>
          <a:p>
            <a:fld id="{A16FC2B2-4F38-4CCA-B604-06CF14E5AA48}" type="slidenum">
              <a:rPr lang="en-US" smtClean="0"/>
              <a:t>4</a:t>
            </a:fld>
            <a:endParaRPr lang="en-US"/>
          </a:p>
        </p:txBody>
      </p:sp>
    </p:spTree>
    <p:extLst>
      <p:ext uri="{BB962C8B-B14F-4D97-AF65-F5344CB8AC3E}">
        <p14:creationId xmlns:p14="http://schemas.microsoft.com/office/powerpoint/2010/main" val="32376928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Compiler /run-time system allocates memory at the time of object creation on the basis of the class definition(data members)</a:t>
            </a:r>
          </a:p>
        </p:txBody>
      </p:sp>
      <p:sp>
        <p:nvSpPr>
          <p:cNvPr id="4" name="Slide Number Placeholder 3"/>
          <p:cNvSpPr>
            <a:spLocks noGrp="1"/>
          </p:cNvSpPr>
          <p:nvPr>
            <p:ph type="sldNum" sz="quarter" idx="5"/>
          </p:nvPr>
        </p:nvSpPr>
        <p:spPr/>
        <p:txBody>
          <a:bodyPr/>
          <a:lstStyle/>
          <a:p>
            <a:fld id="{A16FC2B2-4F38-4CCA-B604-06CF14E5AA48}" type="slidenum">
              <a:rPr lang="en-US" smtClean="0"/>
              <a:t>6</a:t>
            </a:fld>
            <a:endParaRPr lang="en-US"/>
          </a:p>
        </p:txBody>
      </p:sp>
    </p:spTree>
    <p:extLst>
      <p:ext uri="{BB962C8B-B14F-4D97-AF65-F5344CB8AC3E}">
        <p14:creationId xmlns:p14="http://schemas.microsoft.com/office/powerpoint/2010/main" val="23972018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memory is allocated before constructor execution. Constructor is used to initialize the allocated memory.”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Memory is allocated at object creation on the basis of the size of data members defined in the class. Constructors do not allocate memory; they only initialize it.</a:t>
            </a:r>
          </a:p>
        </p:txBody>
      </p:sp>
      <p:sp>
        <p:nvSpPr>
          <p:cNvPr id="4" name="Slide Number Placeholder 3"/>
          <p:cNvSpPr>
            <a:spLocks noGrp="1"/>
          </p:cNvSpPr>
          <p:nvPr>
            <p:ph type="sldNum" sz="quarter" idx="5"/>
          </p:nvPr>
        </p:nvSpPr>
        <p:spPr/>
        <p:txBody>
          <a:bodyPr/>
          <a:lstStyle/>
          <a:p>
            <a:fld id="{A16FC2B2-4F38-4CCA-B604-06CF14E5AA48}" type="slidenum">
              <a:rPr lang="en-US" smtClean="0"/>
              <a:t>11</a:t>
            </a:fld>
            <a:endParaRPr lang="en-US"/>
          </a:p>
        </p:txBody>
      </p:sp>
    </p:spTree>
    <p:extLst>
      <p:ext uri="{BB962C8B-B14F-4D97-AF65-F5344CB8AC3E}">
        <p14:creationId xmlns:p14="http://schemas.microsoft.com/office/powerpoint/2010/main" val="10545892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Tangible = their presence can be detected by touch  multifaceted = having many different sides or aspects</a:t>
            </a:r>
          </a:p>
        </p:txBody>
      </p:sp>
      <p:sp>
        <p:nvSpPr>
          <p:cNvPr id="4" name="Slide Number Placeholder 3"/>
          <p:cNvSpPr>
            <a:spLocks noGrp="1"/>
          </p:cNvSpPr>
          <p:nvPr>
            <p:ph type="sldNum" sz="quarter" idx="5"/>
          </p:nvPr>
        </p:nvSpPr>
        <p:spPr/>
        <p:txBody>
          <a:bodyPr/>
          <a:lstStyle/>
          <a:p>
            <a:fld id="{A16FC2B2-4F38-4CCA-B604-06CF14E5AA48}" type="slidenum">
              <a:rPr lang="en-US" smtClean="0"/>
              <a:t>30</a:t>
            </a:fld>
            <a:endParaRPr lang="en-US"/>
          </a:p>
        </p:txBody>
      </p:sp>
    </p:spTree>
    <p:extLst>
      <p:ext uri="{BB962C8B-B14F-4D97-AF65-F5344CB8AC3E}">
        <p14:creationId xmlns:p14="http://schemas.microsoft.com/office/powerpoint/2010/main" val="7562238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Bringing objects to life means assigning memory to it</a:t>
            </a:r>
          </a:p>
          <a:p>
            <a:r>
              <a:rPr lang="en-US" dirty="0"/>
              <a:t>Instantiation brings software objects to life</a:t>
            </a:r>
          </a:p>
        </p:txBody>
      </p:sp>
      <p:sp>
        <p:nvSpPr>
          <p:cNvPr id="4" name="Slide Number Placeholder 3"/>
          <p:cNvSpPr>
            <a:spLocks noGrp="1"/>
          </p:cNvSpPr>
          <p:nvPr>
            <p:ph type="sldNum" sz="quarter" idx="5"/>
          </p:nvPr>
        </p:nvSpPr>
        <p:spPr/>
        <p:txBody>
          <a:bodyPr/>
          <a:lstStyle/>
          <a:p>
            <a:fld id="{A16FC2B2-4F38-4CCA-B604-06CF14E5AA48}" type="slidenum">
              <a:rPr lang="en-US" smtClean="0"/>
              <a:t>33</a:t>
            </a:fld>
            <a:endParaRPr lang="en-US"/>
          </a:p>
        </p:txBody>
      </p:sp>
    </p:spTree>
    <p:extLst>
      <p:ext uri="{BB962C8B-B14F-4D97-AF65-F5344CB8AC3E}">
        <p14:creationId xmlns:p14="http://schemas.microsoft.com/office/powerpoint/2010/main" val="19914126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always one destructor per class but program can have multiple destructors.as program have multiple classes and therefore each class may define its own destructor. A class can contain only one destructor because destructors cannot be overloaded in C++. Because its name and signature are fixed, C++ cannot overload destructors</a:t>
            </a:r>
          </a:p>
        </p:txBody>
      </p:sp>
      <p:sp>
        <p:nvSpPr>
          <p:cNvPr id="4" name="Slide Number Placeholder 3"/>
          <p:cNvSpPr>
            <a:spLocks noGrp="1"/>
          </p:cNvSpPr>
          <p:nvPr>
            <p:ph type="sldNum" sz="quarter" idx="5"/>
          </p:nvPr>
        </p:nvSpPr>
        <p:spPr/>
        <p:txBody>
          <a:bodyPr/>
          <a:lstStyle/>
          <a:p>
            <a:fld id="{A16FC2B2-4F38-4CCA-B604-06CF14E5AA48}" type="slidenum">
              <a:rPr lang="en-US" smtClean="0"/>
              <a:t>53</a:t>
            </a:fld>
            <a:endParaRPr lang="en-US"/>
          </a:p>
        </p:txBody>
      </p:sp>
    </p:spTree>
    <p:extLst>
      <p:ext uri="{BB962C8B-B14F-4D97-AF65-F5344CB8AC3E}">
        <p14:creationId xmlns:p14="http://schemas.microsoft.com/office/powerpoint/2010/main" val="14436920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class can contain only one destructor because destructors cannot be overloaded in C++.</a:t>
            </a:r>
          </a:p>
        </p:txBody>
      </p:sp>
      <p:sp>
        <p:nvSpPr>
          <p:cNvPr id="4" name="Slide Number Placeholder 3"/>
          <p:cNvSpPr>
            <a:spLocks noGrp="1"/>
          </p:cNvSpPr>
          <p:nvPr>
            <p:ph type="sldNum" sz="quarter" idx="5"/>
          </p:nvPr>
        </p:nvSpPr>
        <p:spPr/>
        <p:txBody>
          <a:bodyPr/>
          <a:lstStyle/>
          <a:p>
            <a:fld id="{A16FC2B2-4F38-4CCA-B604-06CF14E5AA48}" type="slidenum">
              <a:rPr lang="en-US" smtClean="0"/>
              <a:t>57</a:t>
            </a:fld>
            <a:endParaRPr lang="en-US"/>
          </a:p>
        </p:txBody>
      </p:sp>
    </p:spTree>
    <p:extLst>
      <p:ext uri="{BB962C8B-B14F-4D97-AF65-F5344CB8AC3E}">
        <p14:creationId xmlns:p14="http://schemas.microsoft.com/office/powerpoint/2010/main" val="29890499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Encapsulation is the OOP principle of </a:t>
            </a:r>
            <a:r>
              <a:rPr lang="en-US" b="1" dirty="0"/>
              <a:t>bundling data (state) and methods (behavior) into a single unit (class)</a:t>
            </a:r>
            <a:r>
              <a:rPr lang="en-US" dirty="0"/>
              <a:t> and </a:t>
            </a:r>
            <a:r>
              <a:rPr lang="en-US" b="1" dirty="0"/>
              <a:t>controlling how that data is accessed</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Encapsulation: Protecting data through access control.</a:t>
            </a:r>
            <a:endParaRPr lang="en-US" dirty="0"/>
          </a:p>
          <a:p>
            <a:endParaRPr lang="en-US" dirty="0"/>
          </a:p>
        </p:txBody>
      </p:sp>
      <p:sp>
        <p:nvSpPr>
          <p:cNvPr id="4" name="Slide Number Placeholder 3"/>
          <p:cNvSpPr>
            <a:spLocks noGrp="1"/>
          </p:cNvSpPr>
          <p:nvPr>
            <p:ph type="sldNum" sz="quarter" idx="5"/>
          </p:nvPr>
        </p:nvSpPr>
        <p:spPr/>
        <p:txBody>
          <a:bodyPr/>
          <a:lstStyle/>
          <a:p>
            <a:fld id="{A16FC2B2-4F38-4CCA-B604-06CF14E5AA48}" type="slidenum">
              <a:rPr lang="en-US" smtClean="0"/>
              <a:t>60</a:t>
            </a:fld>
            <a:endParaRPr lang="en-US"/>
          </a:p>
        </p:txBody>
      </p:sp>
    </p:spTree>
    <p:extLst>
      <p:ext uri="{BB962C8B-B14F-4D97-AF65-F5344CB8AC3E}">
        <p14:creationId xmlns:p14="http://schemas.microsoft.com/office/powerpoint/2010/main" val="7569370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Getters/Setters: Controlled access to private data. </a:t>
            </a:r>
            <a:endParaRPr lang="en-US" dirty="0"/>
          </a:p>
        </p:txBody>
      </p:sp>
      <p:sp>
        <p:nvSpPr>
          <p:cNvPr id="4" name="Slide Number Placeholder 3"/>
          <p:cNvSpPr>
            <a:spLocks noGrp="1"/>
          </p:cNvSpPr>
          <p:nvPr>
            <p:ph type="sldNum" sz="quarter" idx="5"/>
          </p:nvPr>
        </p:nvSpPr>
        <p:spPr/>
        <p:txBody>
          <a:bodyPr/>
          <a:lstStyle/>
          <a:p>
            <a:fld id="{A16FC2B2-4F38-4CCA-B604-06CF14E5AA48}" type="slidenum">
              <a:rPr lang="en-US" smtClean="0"/>
              <a:t>64</a:t>
            </a:fld>
            <a:endParaRPr lang="en-US"/>
          </a:p>
        </p:txBody>
      </p:sp>
    </p:spTree>
    <p:extLst>
      <p:ext uri="{BB962C8B-B14F-4D97-AF65-F5344CB8AC3E}">
        <p14:creationId xmlns:p14="http://schemas.microsoft.com/office/powerpoint/2010/main" val="2797269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Final Conclusion</a:t>
            </a:r>
          </a:p>
          <a:p>
            <a:r>
              <a:rPr lang="en-US" dirty="0"/>
              <a:t>Constructors can perform the job of assigning values like setters, but constructors initialize objects during creation, whereas setters modify values after the object is already created.</a:t>
            </a:r>
          </a:p>
          <a:p>
            <a:endParaRPr lang="en-US" dirty="0"/>
          </a:p>
        </p:txBody>
      </p:sp>
      <p:sp>
        <p:nvSpPr>
          <p:cNvPr id="4" name="Slide Number Placeholder 3"/>
          <p:cNvSpPr>
            <a:spLocks noGrp="1"/>
          </p:cNvSpPr>
          <p:nvPr>
            <p:ph type="sldNum" sz="quarter" idx="5"/>
          </p:nvPr>
        </p:nvSpPr>
        <p:spPr/>
        <p:txBody>
          <a:bodyPr/>
          <a:lstStyle/>
          <a:p>
            <a:fld id="{A16FC2B2-4F38-4CCA-B604-06CF14E5AA48}" type="slidenum">
              <a:rPr lang="en-US" smtClean="0"/>
              <a:t>67</a:t>
            </a:fld>
            <a:endParaRPr lang="en-US"/>
          </a:p>
        </p:txBody>
      </p:sp>
    </p:spTree>
    <p:extLst>
      <p:ext uri="{BB962C8B-B14F-4D97-AF65-F5344CB8AC3E}">
        <p14:creationId xmlns:p14="http://schemas.microsoft.com/office/powerpoint/2010/main" val="12312381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Compile-time occurs before program execution and is static, while run-time occurs during execution and is dynamic.</a:t>
            </a:r>
          </a:p>
        </p:txBody>
      </p:sp>
      <p:sp>
        <p:nvSpPr>
          <p:cNvPr id="4" name="Slide Number Placeholder 3"/>
          <p:cNvSpPr>
            <a:spLocks noGrp="1"/>
          </p:cNvSpPr>
          <p:nvPr>
            <p:ph type="sldNum" sz="quarter" idx="5"/>
          </p:nvPr>
        </p:nvSpPr>
        <p:spPr/>
        <p:txBody>
          <a:bodyPr/>
          <a:lstStyle/>
          <a:p>
            <a:fld id="{A16FC2B2-4F38-4CCA-B604-06CF14E5AA48}" type="slidenum">
              <a:rPr lang="en-US" smtClean="0"/>
              <a:t>83</a:t>
            </a:fld>
            <a:endParaRPr lang="en-US"/>
          </a:p>
        </p:txBody>
      </p:sp>
    </p:spTree>
    <p:extLst>
      <p:ext uri="{BB962C8B-B14F-4D97-AF65-F5344CB8AC3E}">
        <p14:creationId xmlns:p14="http://schemas.microsoft.com/office/powerpoint/2010/main" val="18326016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Compile-time occurs before program execution and is static, while run-time occurs during execution and is dynamic.</a:t>
            </a:r>
          </a:p>
        </p:txBody>
      </p:sp>
      <p:sp>
        <p:nvSpPr>
          <p:cNvPr id="4" name="Slide Number Placeholder 3"/>
          <p:cNvSpPr>
            <a:spLocks noGrp="1"/>
          </p:cNvSpPr>
          <p:nvPr>
            <p:ph type="sldNum" sz="quarter" idx="5"/>
          </p:nvPr>
        </p:nvSpPr>
        <p:spPr/>
        <p:txBody>
          <a:bodyPr/>
          <a:lstStyle/>
          <a:p>
            <a:fld id="{A16FC2B2-4F38-4CCA-B604-06CF14E5AA48}" type="slidenum">
              <a:rPr lang="en-US" smtClean="0"/>
              <a:t>84</a:t>
            </a:fld>
            <a:endParaRPr lang="en-US"/>
          </a:p>
        </p:txBody>
      </p:sp>
    </p:spTree>
    <p:extLst>
      <p:ext uri="{BB962C8B-B14F-4D97-AF65-F5344CB8AC3E}">
        <p14:creationId xmlns:p14="http://schemas.microsoft.com/office/powerpoint/2010/main" val="32717768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Inheritance + Same Function Signature + New Implementation in Child = Function Overriding.</a:t>
            </a:r>
          </a:p>
        </p:txBody>
      </p:sp>
      <p:sp>
        <p:nvSpPr>
          <p:cNvPr id="4" name="Slide Number Placeholder 3"/>
          <p:cNvSpPr>
            <a:spLocks noGrp="1"/>
          </p:cNvSpPr>
          <p:nvPr>
            <p:ph type="sldNum" sz="quarter" idx="5"/>
          </p:nvPr>
        </p:nvSpPr>
        <p:spPr/>
        <p:txBody>
          <a:bodyPr/>
          <a:lstStyle/>
          <a:p>
            <a:fld id="{A16FC2B2-4F38-4CCA-B604-06CF14E5AA48}" type="slidenum">
              <a:rPr lang="en-US" smtClean="0"/>
              <a:t>109</a:t>
            </a:fld>
            <a:endParaRPr lang="en-US" dirty="0"/>
          </a:p>
        </p:txBody>
      </p:sp>
    </p:spTree>
    <p:extLst>
      <p:ext uri="{BB962C8B-B14F-4D97-AF65-F5344CB8AC3E}">
        <p14:creationId xmlns:p14="http://schemas.microsoft.com/office/powerpoint/2010/main" val="21873524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r>
              <a:rPr lang="en-US" b="1" dirty="0"/>
              <a:t>Yes, aggregation can be bidirectional if both objects reference each other but still remain independent in lifetime and ownership.</a:t>
            </a:r>
          </a:p>
          <a:p>
            <a:r>
              <a:rPr lang="en-US" b="1" dirty="0"/>
              <a:t>It mainly differs from association due to the relation called whole-part(has-a) relationship like obj1 will be the part of obj2 and vice versa but non of them will own each other and will have separate life cycles. While in association one object knows the other, there is no whole-part(has-a) relation.</a:t>
            </a:r>
          </a:p>
        </p:txBody>
      </p:sp>
      <p:sp>
        <p:nvSpPr>
          <p:cNvPr id="4" name="Slide Number Placeholder 3"/>
          <p:cNvSpPr>
            <a:spLocks noGrp="1"/>
          </p:cNvSpPr>
          <p:nvPr>
            <p:ph type="sldNum" sz="quarter" idx="5"/>
          </p:nvPr>
        </p:nvSpPr>
        <p:spPr/>
        <p:txBody>
          <a:bodyPr/>
          <a:lstStyle/>
          <a:p>
            <a:fld id="{A16FC2B2-4F38-4CCA-B604-06CF14E5AA48}" type="slidenum">
              <a:rPr lang="en-US" smtClean="0"/>
              <a:t>114</a:t>
            </a:fld>
            <a:endParaRPr lang="en-US" dirty="0"/>
          </a:p>
        </p:txBody>
      </p:sp>
    </p:spTree>
    <p:extLst>
      <p:ext uri="{BB962C8B-B14F-4D97-AF65-F5344CB8AC3E}">
        <p14:creationId xmlns:p14="http://schemas.microsoft.com/office/powerpoint/2010/main" val="24663267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Composition is a strong Has-a relationship where the whole owns the part, and the part cannot exist independently.</a:t>
            </a:r>
          </a:p>
        </p:txBody>
      </p:sp>
      <p:sp>
        <p:nvSpPr>
          <p:cNvPr id="4" name="Slide Number Placeholder 3"/>
          <p:cNvSpPr>
            <a:spLocks noGrp="1"/>
          </p:cNvSpPr>
          <p:nvPr>
            <p:ph type="sldNum" sz="quarter" idx="5"/>
          </p:nvPr>
        </p:nvSpPr>
        <p:spPr/>
        <p:txBody>
          <a:bodyPr/>
          <a:lstStyle/>
          <a:p>
            <a:fld id="{A16FC2B2-4F38-4CCA-B604-06CF14E5AA48}" type="slidenum">
              <a:rPr lang="en-US" smtClean="0"/>
              <a:t>119</a:t>
            </a:fld>
            <a:endParaRPr lang="en-US" dirty="0"/>
          </a:p>
        </p:txBody>
      </p:sp>
    </p:spTree>
    <p:extLst>
      <p:ext uri="{BB962C8B-B14F-4D97-AF65-F5344CB8AC3E}">
        <p14:creationId xmlns:p14="http://schemas.microsoft.com/office/powerpoint/2010/main" val="3735235478"/>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dirty="0"/>
              <a:t>10/18/2026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dirty="0"/>
              <a:t>10/18/2026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dirty="0"/>
              <a:t>10/18/2026</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dirty="0"/>
              <a:t>10/18/2026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dirty="0"/>
              <a:t>10/18/2026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7919A6-33EB-49BD-A62F-1FA56B9F9712}" type="datetimeFigureOut">
              <a:rPr lang="en-US" dirty="0"/>
              <a:t>10/18/2026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dirty="0"/>
              <a:t>10/18/2026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16AA21-1863-4931-97CB-99D0A168701B}" type="datetimeFigureOut">
              <a:rPr lang="en-US" dirty="0"/>
              <a:t>10/18/2026</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72C379-9A7C-4C87-A116-CBE9F58B04C5}" type="datetimeFigureOut">
              <a:rPr lang="en-US" dirty="0"/>
              <a:t>10/18/2026</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157CC2-0FC8-4686-B024-99790E0F5162}" type="datetimeFigureOut">
              <a:rPr lang="en-US" dirty="0"/>
              <a:t>10/18/2026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dirty="0"/>
              <a:t>10/18/2026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dirty="0"/>
              <a:t>10/18/2026</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21D14-4ABB-42E8-823D-D16D92B83B52}"/>
              </a:ext>
            </a:extLst>
          </p:cNvPr>
          <p:cNvSpPr>
            <a:spLocks noGrp="1"/>
          </p:cNvSpPr>
          <p:nvPr>
            <p:ph type="ctrTitle"/>
          </p:nvPr>
        </p:nvSpPr>
        <p:spPr>
          <a:xfrm>
            <a:off x="947057" y="2890157"/>
            <a:ext cx="8760279" cy="1577874"/>
          </a:xfrm>
        </p:spPr>
        <p:txBody>
          <a:bodyPr>
            <a:normAutofit fontScale="90000"/>
          </a:bodyPr>
          <a:lstStyle/>
          <a:p>
            <a:pPr algn="ctr"/>
            <a:br>
              <a:rPr lang="en-US" dirty="0"/>
            </a:br>
            <a:br>
              <a:rPr lang="en-US" dirty="0"/>
            </a:br>
            <a:r>
              <a:rPr lang="en-US" dirty="0"/>
              <a:t> </a:t>
            </a:r>
            <a:br>
              <a:rPr lang="en-US" dirty="0"/>
            </a:br>
            <a:r>
              <a:rPr lang="en-US" dirty="0"/>
              <a:t>object-oriented- programming in </a:t>
            </a:r>
            <a:r>
              <a:rPr lang="en-US" dirty="0" err="1"/>
              <a:t>c++</a:t>
            </a:r>
            <a:br>
              <a:rPr lang="en-US" dirty="0"/>
            </a:br>
            <a:br>
              <a:rPr lang="en-US" dirty="0"/>
            </a:br>
            <a:br>
              <a:rPr lang="en-US" dirty="0"/>
            </a:br>
            <a:br>
              <a:rPr lang="en-US" dirty="0"/>
            </a:br>
            <a:endParaRPr lang="en-US" dirty="0"/>
          </a:p>
        </p:txBody>
      </p:sp>
      <p:sp>
        <p:nvSpPr>
          <p:cNvPr id="3" name="Subtitle 2">
            <a:extLst>
              <a:ext uri="{FF2B5EF4-FFF2-40B4-BE49-F238E27FC236}">
                <a16:creationId xmlns:a16="http://schemas.microsoft.com/office/drawing/2014/main" id="{60663E67-3B42-A633-C3B2-F9F899C3184E}"/>
              </a:ext>
            </a:extLst>
          </p:cNvPr>
          <p:cNvSpPr>
            <a:spLocks noGrp="1"/>
          </p:cNvSpPr>
          <p:nvPr>
            <p:ph type="subTitle" idx="1"/>
          </p:nvPr>
        </p:nvSpPr>
        <p:spPr>
          <a:xfrm>
            <a:off x="4988377" y="4555671"/>
            <a:ext cx="2441123" cy="563336"/>
          </a:xfrm>
        </p:spPr>
        <p:txBody>
          <a:bodyPr>
            <a:normAutofit/>
          </a:bodyPr>
          <a:lstStyle/>
          <a:p>
            <a:r>
              <a:rPr lang="en-US" dirty="0"/>
              <a:t>By Nimra Fatima</a:t>
            </a:r>
          </a:p>
        </p:txBody>
      </p:sp>
    </p:spTree>
    <p:extLst>
      <p:ext uri="{BB962C8B-B14F-4D97-AF65-F5344CB8AC3E}">
        <p14:creationId xmlns:p14="http://schemas.microsoft.com/office/powerpoint/2010/main" val="17295552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A7DBA-5A5B-1F93-C4F3-0D1B4E86F1EC}"/>
              </a:ext>
            </a:extLst>
          </p:cNvPr>
          <p:cNvSpPr>
            <a:spLocks noGrp="1"/>
          </p:cNvSpPr>
          <p:nvPr>
            <p:ph type="ctrTitle"/>
          </p:nvPr>
        </p:nvSpPr>
        <p:spPr/>
        <p:txBody>
          <a:bodyPr/>
          <a:lstStyle/>
          <a:p>
            <a:pPr algn="ctr"/>
            <a:r>
              <a:rPr lang="en-US" dirty="0"/>
              <a:t>	defining a class</a:t>
            </a:r>
          </a:p>
        </p:txBody>
      </p:sp>
      <p:sp>
        <p:nvSpPr>
          <p:cNvPr id="3" name="Subtitle 2">
            <a:extLst>
              <a:ext uri="{FF2B5EF4-FFF2-40B4-BE49-F238E27FC236}">
                <a16:creationId xmlns:a16="http://schemas.microsoft.com/office/drawing/2014/main" id="{959DF55F-C932-3547-7E73-AFA673093791}"/>
              </a:ext>
            </a:extLst>
          </p:cNvPr>
          <p:cNvSpPr>
            <a:spLocks noGrp="1"/>
          </p:cNvSpPr>
          <p:nvPr>
            <p:ph type="subTitle" idx="1"/>
          </p:nvPr>
        </p:nvSpPr>
        <p:spPr/>
        <p:txBody>
          <a:bodyPr/>
          <a:lstStyle/>
          <a:p>
            <a:r>
              <a:rPr lang="en-US" dirty="0"/>
              <a:t>In OOP C++</a:t>
            </a:r>
          </a:p>
        </p:txBody>
      </p:sp>
    </p:spTree>
    <p:extLst>
      <p:ext uri="{BB962C8B-B14F-4D97-AF65-F5344CB8AC3E}">
        <p14:creationId xmlns:p14="http://schemas.microsoft.com/office/powerpoint/2010/main" val="10721006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55B4477-DDA0-2230-B373-797656D2129A}"/>
              </a:ext>
            </a:extLst>
          </p:cNvPr>
          <p:cNvPicPr>
            <a:picLocks noChangeAspect="1"/>
          </p:cNvPicPr>
          <p:nvPr/>
        </p:nvPicPr>
        <p:blipFill>
          <a:blip r:embed="rId2"/>
          <a:stretch>
            <a:fillRect/>
          </a:stretch>
        </p:blipFill>
        <p:spPr>
          <a:xfrm>
            <a:off x="0" y="126465"/>
            <a:ext cx="12192000" cy="6605069"/>
          </a:xfrm>
          <a:prstGeom prst="rect">
            <a:avLst/>
          </a:prstGeom>
        </p:spPr>
      </p:pic>
    </p:spTree>
    <p:extLst>
      <p:ext uri="{BB962C8B-B14F-4D97-AF65-F5344CB8AC3E}">
        <p14:creationId xmlns:p14="http://schemas.microsoft.com/office/powerpoint/2010/main" val="22350515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7B882F-D61E-751D-5F18-3DB7C9C2DBD3}"/>
              </a:ext>
            </a:extLst>
          </p:cNvPr>
          <p:cNvPicPr>
            <a:picLocks noChangeAspect="1"/>
          </p:cNvPicPr>
          <p:nvPr/>
        </p:nvPicPr>
        <p:blipFill>
          <a:blip r:embed="rId3"/>
          <a:stretch>
            <a:fillRect/>
          </a:stretch>
        </p:blipFill>
        <p:spPr>
          <a:xfrm>
            <a:off x="513808" y="0"/>
            <a:ext cx="11164383" cy="6858000"/>
          </a:xfrm>
          <a:prstGeom prst="rect">
            <a:avLst/>
          </a:prstGeom>
        </p:spPr>
      </p:pic>
    </p:spTree>
    <p:extLst>
      <p:ext uri="{BB962C8B-B14F-4D97-AF65-F5344CB8AC3E}">
        <p14:creationId xmlns:p14="http://schemas.microsoft.com/office/powerpoint/2010/main" val="5417763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16BBD-ED3F-F476-4996-4BD6367F3E9B}"/>
              </a:ext>
            </a:extLst>
          </p:cNvPr>
          <p:cNvSpPr>
            <a:spLocks noGrp="1"/>
          </p:cNvSpPr>
          <p:nvPr>
            <p:ph type="title"/>
          </p:nvPr>
        </p:nvSpPr>
        <p:spPr>
          <a:xfrm>
            <a:off x="1069848" y="484632"/>
            <a:ext cx="10058400" cy="511411"/>
          </a:xfrm>
        </p:spPr>
        <p:txBody>
          <a:bodyPr>
            <a:normAutofit fontScale="90000"/>
          </a:bodyPr>
          <a:lstStyle/>
          <a:p>
            <a:pPr algn="ctr"/>
            <a:r>
              <a:rPr lang="en-US" dirty="0"/>
              <a:t>Why we need classes?</a:t>
            </a:r>
          </a:p>
        </p:txBody>
      </p:sp>
      <p:sp>
        <p:nvSpPr>
          <p:cNvPr id="3" name="Content Placeholder 2">
            <a:extLst>
              <a:ext uri="{FF2B5EF4-FFF2-40B4-BE49-F238E27FC236}">
                <a16:creationId xmlns:a16="http://schemas.microsoft.com/office/drawing/2014/main" id="{A83F740E-EE3E-BF8C-D66A-405F2B80BF3E}"/>
              </a:ext>
            </a:extLst>
          </p:cNvPr>
          <p:cNvSpPr>
            <a:spLocks noGrp="1"/>
          </p:cNvSpPr>
          <p:nvPr>
            <p:ph idx="1"/>
          </p:nvPr>
        </p:nvSpPr>
        <p:spPr>
          <a:xfrm>
            <a:off x="1069848" y="996043"/>
            <a:ext cx="10058400" cy="5176157"/>
          </a:xfrm>
        </p:spPr>
        <p:txBody>
          <a:bodyPr/>
          <a:lstStyle/>
          <a:p>
            <a:r>
              <a:rPr lang="en-US" dirty="0"/>
              <a:t>Problems with Procedural Programming:</a:t>
            </a:r>
          </a:p>
          <a:p>
            <a:pPr lvl="1"/>
            <a:r>
              <a:rPr lang="en-US" sz="2400" dirty="0"/>
              <a:t>• Data and functions are separate</a:t>
            </a:r>
          </a:p>
          <a:p>
            <a:pPr lvl="1"/>
            <a:r>
              <a:rPr lang="en-US" sz="2400" dirty="0"/>
              <a:t>• No data protection</a:t>
            </a:r>
          </a:p>
          <a:p>
            <a:pPr lvl="1"/>
            <a:r>
              <a:rPr lang="en-US" sz="2400" dirty="0"/>
              <a:t>• Difficult to manage large systems</a:t>
            </a:r>
          </a:p>
          <a:p>
            <a:pPr lvl="1"/>
            <a:r>
              <a:rPr lang="en-US" sz="2400" dirty="0"/>
              <a:t>Example (Structure Based Code)</a:t>
            </a:r>
          </a:p>
          <a:p>
            <a:pPr lvl="1"/>
            <a:r>
              <a:rPr lang="en-US" sz="2400" dirty="0"/>
              <a:t>struct Student { string name; int </a:t>
            </a:r>
            <a:r>
              <a:rPr lang="en-US" sz="2400" dirty="0" err="1"/>
              <a:t>rollNo</a:t>
            </a:r>
            <a:r>
              <a:rPr lang="en-US" sz="2400" dirty="0"/>
              <a:t>; };</a:t>
            </a:r>
          </a:p>
          <a:p>
            <a:pPr lvl="1" indent="0">
              <a:buNone/>
            </a:pPr>
            <a:endParaRPr lang="en-US" dirty="0"/>
          </a:p>
          <a:p>
            <a:endParaRPr lang="en-US" dirty="0"/>
          </a:p>
        </p:txBody>
      </p:sp>
      <p:pic>
        <p:nvPicPr>
          <p:cNvPr id="5" name="Picture 4">
            <a:extLst>
              <a:ext uri="{FF2B5EF4-FFF2-40B4-BE49-F238E27FC236}">
                <a16:creationId xmlns:a16="http://schemas.microsoft.com/office/drawing/2014/main" id="{41CEFD59-C908-4B7A-497C-51A7F80C9D38}"/>
              </a:ext>
            </a:extLst>
          </p:cNvPr>
          <p:cNvPicPr>
            <a:picLocks noChangeAspect="1"/>
          </p:cNvPicPr>
          <p:nvPr/>
        </p:nvPicPr>
        <p:blipFill>
          <a:blip r:embed="rId2"/>
          <a:stretch>
            <a:fillRect/>
          </a:stretch>
        </p:blipFill>
        <p:spPr>
          <a:xfrm>
            <a:off x="1828800" y="3624943"/>
            <a:ext cx="8534400" cy="3058668"/>
          </a:xfrm>
          <a:prstGeom prst="rect">
            <a:avLst/>
          </a:prstGeom>
        </p:spPr>
      </p:pic>
    </p:spTree>
    <p:extLst>
      <p:ext uri="{BB962C8B-B14F-4D97-AF65-F5344CB8AC3E}">
        <p14:creationId xmlns:p14="http://schemas.microsoft.com/office/powerpoint/2010/main" val="41937021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FECE3-02D5-437C-9713-6CF7CF0C512E}"/>
              </a:ext>
            </a:extLst>
          </p:cNvPr>
          <p:cNvSpPr>
            <a:spLocks noGrp="1"/>
          </p:cNvSpPr>
          <p:nvPr>
            <p:ph type="title"/>
          </p:nvPr>
        </p:nvSpPr>
        <p:spPr>
          <a:xfrm>
            <a:off x="1069848" y="484632"/>
            <a:ext cx="10058400" cy="1069848"/>
          </a:xfrm>
        </p:spPr>
        <p:txBody>
          <a:bodyPr/>
          <a:lstStyle/>
          <a:p>
            <a:pPr algn="ctr"/>
            <a:r>
              <a:rPr lang="en-US" dirty="0"/>
              <a:t>What Is a Class?</a:t>
            </a:r>
          </a:p>
        </p:txBody>
      </p:sp>
      <p:sp>
        <p:nvSpPr>
          <p:cNvPr id="3" name="Content Placeholder 2">
            <a:extLst>
              <a:ext uri="{FF2B5EF4-FFF2-40B4-BE49-F238E27FC236}">
                <a16:creationId xmlns:a16="http://schemas.microsoft.com/office/drawing/2014/main" id="{61D7DCF2-EFB9-BF5E-3B6B-7CC352CD5B81}"/>
              </a:ext>
            </a:extLst>
          </p:cNvPr>
          <p:cNvSpPr>
            <a:spLocks noGrp="1"/>
          </p:cNvSpPr>
          <p:nvPr>
            <p:ph idx="1"/>
          </p:nvPr>
        </p:nvSpPr>
        <p:spPr>
          <a:xfrm>
            <a:off x="1066800" y="1403604"/>
            <a:ext cx="10058400" cy="4050792"/>
          </a:xfrm>
        </p:spPr>
        <p:txBody>
          <a:bodyPr>
            <a:normAutofit fontScale="70000" lnSpcReduction="20000"/>
          </a:bodyPr>
          <a:lstStyle/>
          <a:p>
            <a:r>
              <a:rPr lang="en-US" sz="3600" dirty="0">
                <a:solidFill>
                  <a:srgbClr val="00B0F0"/>
                </a:solidFill>
              </a:rPr>
              <a:t>Blue print</a:t>
            </a:r>
            <a:r>
              <a:rPr lang="en-US" sz="3600" dirty="0"/>
              <a:t> for creating objects</a:t>
            </a:r>
          </a:p>
          <a:p>
            <a:r>
              <a:rPr lang="en-US" sz="3600" dirty="0"/>
              <a:t>A class is the logical template or a “map” that defines how object will look like or how it behaves</a:t>
            </a:r>
          </a:p>
          <a:p>
            <a:r>
              <a:rPr lang="en-US" sz="3600" dirty="0"/>
              <a:t>It is abstract and only exist in code</a:t>
            </a:r>
          </a:p>
          <a:p>
            <a:r>
              <a:rPr lang="en-US" sz="3600" dirty="0"/>
              <a:t>Defines </a:t>
            </a:r>
            <a:r>
              <a:rPr lang="en-US" sz="3600" dirty="0">
                <a:solidFill>
                  <a:srgbClr val="00B0F0"/>
                </a:solidFill>
              </a:rPr>
              <a:t>methods</a:t>
            </a:r>
            <a:r>
              <a:rPr lang="en-US" sz="3600" dirty="0"/>
              <a:t>(functions declared inside the class) and </a:t>
            </a:r>
            <a:r>
              <a:rPr lang="en-US" sz="3600" dirty="0">
                <a:solidFill>
                  <a:srgbClr val="00B0F0"/>
                </a:solidFill>
              </a:rPr>
              <a:t>attributes</a:t>
            </a:r>
            <a:r>
              <a:rPr lang="en-US" sz="3600" dirty="0"/>
              <a:t>(data)</a:t>
            </a:r>
          </a:p>
          <a:p>
            <a:r>
              <a:rPr lang="en-US" sz="3600" dirty="0">
                <a:solidFill>
                  <a:srgbClr val="00B0F0"/>
                </a:solidFill>
              </a:rPr>
              <a:t>Objects</a:t>
            </a:r>
            <a:r>
              <a:rPr lang="en-US" sz="3600" dirty="0"/>
              <a:t> are </a:t>
            </a:r>
            <a:r>
              <a:rPr lang="en-US" sz="3600" dirty="0">
                <a:solidFill>
                  <a:srgbClr val="00B0F0"/>
                </a:solidFill>
              </a:rPr>
              <a:t>instances</a:t>
            </a:r>
            <a:r>
              <a:rPr lang="en-US" sz="3600" dirty="0"/>
              <a:t>(real thing made from the class , a blueprint) of class</a:t>
            </a:r>
          </a:p>
          <a:p>
            <a:r>
              <a:rPr lang="en-US" sz="3600" dirty="0">
                <a:solidFill>
                  <a:srgbClr val="00B0F0"/>
                </a:solidFill>
              </a:rPr>
              <a:t>Class</a:t>
            </a:r>
            <a:r>
              <a:rPr lang="en-US" sz="3600" dirty="0"/>
              <a:t> is </a:t>
            </a:r>
            <a:r>
              <a:rPr lang="en-US" sz="3600" dirty="0">
                <a:solidFill>
                  <a:srgbClr val="00B0F0"/>
                </a:solidFill>
              </a:rPr>
              <a:t>memoryless</a:t>
            </a:r>
            <a:r>
              <a:rPr lang="en-US" sz="3600" dirty="0"/>
              <a:t> , no memory assigned to it until object is created.</a:t>
            </a:r>
            <a:br>
              <a:rPr lang="en-US" sz="3600" dirty="0"/>
            </a:br>
            <a:endParaRPr lang="en-US" sz="3600" dirty="0"/>
          </a:p>
        </p:txBody>
      </p:sp>
    </p:spTree>
    <p:extLst>
      <p:ext uri="{BB962C8B-B14F-4D97-AF65-F5344CB8AC3E}">
        <p14:creationId xmlns:p14="http://schemas.microsoft.com/office/powerpoint/2010/main" val="7623296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B0B6C-743D-86EB-4EBA-8897E62CD16A}"/>
              </a:ext>
            </a:extLst>
          </p:cNvPr>
          <p:cNvSpPr>
            <a:spLocks noGrp="1"/>
          </p:cNvSpPr>
          <p:nvPr>
            <p:ph type="title"/>
          </p:nvPr>
        </p:nvSpPr>
        <p:spPr/>
        <p:txBody>
          <a:bodyPr/>
          <a:lstStyle/>
          <a:p>
            <a:pPr algn="ctr"/>
            <a:r>
              <a:rPr lang="en-US" dirty="0"/>
              <a:t>Defining a class</a:t>
            </a:r>
          </a:p>
        </p:txBody>
      </p:sp>
      <p:sp>
        <p:nvSpPr>
          <p:cNvPr id="3" name="Content Placeholder 2">
            <a:extLst>
              <a:ext uri="{FF2B5EF4-FFF2-40B4-BE49-F238E27FC236}">
                <a16:creationId xmlns:a16="http://schemas.microsoft.com/office/drawing/2014/main" id="{8D5CB828-3EAD-C663-962F-C1AC7652083C}"/>
              </a:ext>
            </a:extLst>
          </p:cNvPr>
          <p:cNvSpPr>
            <a:spLocks noGrp="1"/>
          </p:cNvSpPr>
          <p:nvPr>
            <p:ph idx="1"/>
          </p:nvPr>
        </p:nvSpPr>
        <p:spPr/>
        <p:txBody>
          <a:bodyPr>
            <a:noAutofit/>
          </a:bodyPr>
          <a:lstStyle/>
          <a:p>
            <a:endParaRPr lang="en-US" sz="3200" b="1" dirty="0"/>
          </a:p>
          <a:p>
            <a:r>
              <a:rPr lang="en-US" sz="3200" b="1" dirty="0"/>
              <a:t>A class is called a </a:t>
            </a:r>
            <a:r>
              <a:rPr lang="en-US" sz="3200" b="1" dirty="0">
                <a:solidFill>
                  <a:srgbClr val="00B0F0"/>
                </a:solidFill>
              </a:rPr>
              <a:t>user-defined data type</a:t>
            </a:r>
            <a:r>
              <a:rPr lang="en-US" sz="3200" b="1" dirty="0"/>
              <a:t> because it allows the programmer to create a new data type that groups data members and functions together.</a:t>
            </a:r>
            <a:endParaRPr lang="en-US" sz="3200" dirty="0"/>
          </a:p>
          <a:p>
            <a:r>
              <a:rPr lang="en-US" sz="3200" dirty="0"/>
              <a:t>class = blueprint to create a new type of data.</a:t>
            </a:r>
            <a:endParaRPr lang="en-US" sz="3200" b="1" dirty="0"/>
          </a:p>
          <a:p>
            <a:pPr marL="0" indent="0">
              <a:buNone/>
            </a:pPr>
            <a:endParaRPr lang="en-US" sz="3200" b="1" dirty="0">
              <a:solidFill>
                <a:srgbClr val="00B0F0"/>
              </a:solidFill>
            </a:endParaRPr>
          </a:p>
        </p:txBody>
      </p:sp>
    </p:spTree>
    <p:extLst>
      <p:ext uri="{BB962C8B-B14F-4D97-AF65-F5344CB8AC3E}">
        <p14:creationId xmlns:p14="http://schemas.microsoft.com/office/powerpoint/2010/main" val="7878061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BF357-9341-696F-3AB0-6F22B454C894}"/>
              </a:ext>
            </a:extLst>
          </p:cNvPr>
          <p:cNvSpPr>
            <a:spLocks noGrp="1"/>
          </p:cNvSpPr>
          <p:nvPr>
            <p:ph type="title"/>
          </p:nvPr>
        </p:nvSpPr>
        <p:spPr/>
        <p:txBody>
          <a:bodyPr/>
          <a:lstStyle/>
          <a:p>
            <a:pPr algn="ctr"/>
            <a:r>
              <a:rPr lang="en-US" dirty="0"/>
              <a:t>Syntax of class</a:t>
            </a:r>
          </a:p>
        </p:txBody>
      </p:sp>
      <p:sp>
        <p:nvSpPr>
          <p:cNvPr id="3" name="Content Placeholder 2">
            <a:extLst>
              <a:ext uri="{FF2B5EF4-FFF2-40B4-BE49-F238E27FC236}">
                <a16:creationId xmlns:a16="http://schemas.microsoft.com/office/drawing/2014/main" id="{98049BAD-BAFB-B5A5-71E2-2AD0AC1B2488}"/>
              </a:ext>
            </a:extLst>
          </p:cNvPr>
          <p:cNvSpPr>
            <a:spLocks noGrp="1"/>
          </p:cNvSpPr>
          <p:nvPr>
            <p:ph idx="1"/>
          </p:nvPr>
        </p:nvSpPr>
        <p:spPr/>
        <p:txBody>
          <a:bodyPr>
            <a:normAutofit fontScale="85000" lnSpcReduction="20000"/>
          </a:bodyPr>
          <a:lstStyle/>
          <a:p>
            <a:r>
              <a:rPr lang="en-US" b="1" dirty="0"/>
              <a:t>Syntax:</a:t>
            </a:r>
          </a:p>
          <a:p>
            <a:r>
              <a:rPr lang="en-US" b="1" dirty="0">
                <a:solidFill>
                  <a:srgbClr val="00B0F0"/>
                </a:solidFill>
              </a:rPr>
              <a:t>Class </a:t>
            </a:r>
            <a:r>
              <a:rPr lang="en-US" b="1" dirty="0"/>
              <a:t>Teacher{</a:t>
            </a:r>
          </a:p>
          <a:p>
            <a:pPr marL="0" indent="0">
              <a:buNone/>
            </a:pPr>
            <a:r>
              <a:rPr lang="en-US" b="1" dirty="0">
                <a:solidFill>
                  <a:srgbClr val="00B0F0"/>
                </a:solidFill>
              </a:rPr>
              <a:t>private:</a:t>
            </a:r>
          </a:p>
          <a:p>
            <a:pPr marL="0" indent="0">
              <a:buNone/>
            </a:pPr>
            <a:r>
              <a:rPr lang="en-US" b="1" dirty="0"/>
              <a:t>String name;</a:t>
            </a:r>
          </a:p>
          <a:p>
            <a:pPr marL="0" indent="0">
              <a:buNone/>
            </a:pPr>
            <a:r>
              <a:rPr lang="en-US" b="1" dirty="0">
                <a:solidFill>
                  <a:srgbClr val="00B0F0"/>
                </a:solidFill>
              </a:rPr>
              <a:t>Public:</a:t>
            </a:r>
          </a:p>
          <a:p>
            <a:pPr marL="0" indent="0">
              <a:buNone/>
            </a:pPr>
            <a:r>
              <a:rPr lang="en-US" b="1" dirty="0"/>
              <a:t>Void </a:t>
            </a:r>
            <a:r>
              <a:rPr lang="en-US" b="1" dirty="0" err="1"/>
              <a:t>setdata</a:t>
            </a:r>
            <a:r>
              <a:rPr lang="en-US" b="1" dirty="0"/>
              <a:t>( string n){</a:t>
            </a:r>
          </a:p>
          <a:p>
            <a:pPr marL="0" indent="0">
              <a:buNone/>
            </a:pPr>
            <a:r>
              <a:rPr lang="en-US" b="1" dirty="0"/>
              <a:t>Name = n;</a:t>
            </a:r>
          </a:p>
          <a:p>
            <a:pPr marL="0" indent="0">
              <a:buNone/>
            </a:pPr>
            <a:r>
              <a:rPr lang="en-US" b="1" dirty="0"/>
              <a:t>}</a:t>
            </a:r>
          </a:p>
          <a:p>
            <a:pPr marL="0" indent="0">
              <a:buNone/>
            </a:pPr>
            <a:r>
              <a:rPr lang="en-US" b="1" dirty="0"/>
              <a:t>Void display(){</a:t>
            </a:r>
          </a:p>
          <a:p>
            <a:pPr marL="0" indent="0">
              <a:buNone/>
            </a:pPr>
            <a:r>
              <a:rPr lang="en-US" b="1" dirty="0"/>
              <a:t>Cout &lt;&lt;  name &lt;&lt;  </a:t>
            </a:r>
            <a:r>
              <a:rPr lang="en-US" b="1" dirty="0" err="1"/>
              <a:t>endl</a:t>
            </a:r>
            <a:r>
              <a:rPr lang="en-US" b="1" dirty="0"/>
              <a:t>;</a:t>
            </a:r>
          </a:p>
          <a:p>
            <a:pPr marL="0" indent="0">
              <a:buNone/>
            </a:pPr>
            <a:r>
              <a:rPr lang="en-US" b="1" dirty="0"/>
              <a:t>}</a:t>
            </a:r>
          </a:p>
          <a:p>
            <a:pPr marL="0" indent="0">
              <a:buNone/>
            </a:pPr>
            <a:r>
              <a:rPr lang="en-US" b="1" dirty="0"/>
              <a:t>}</a:t>
            </a:r>
            <a:r>
              <a:rPr lang="en-US" b="1" dirty="0">
                <a:solidFill>
                  <a:srgbClr val="00B0F0"/>
                </a:solidFill>
              </a:rPr>
              <a:t> ;</a:t>
            </a:r>
            <a:endParaRPr lang="en-US" b="1" dirty="0"/>
          </a:p>
          <a:p>
            <a:endParaRPr lang="en-US" dirty="0"/>
          </a:p>
        </p:txBody>
      </p:sp>
    </p:spTree>
    <p:extLst>
      <p:ext uri="{BB962C8B-B14F-4D97-AF65-F5344CB8AC3E}">
        <p14:creationId xmlns:p14="http://schemas.microsoft.com/office/powerpoint/2010/main" val="25597317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3BF9E-AB43-74F3-27B1-6487B398A6D9}"/>
              </a:ext>
            </a:extLst>
          </p:cNvPr>
          <p:cNvSpPr>
            <a:spLocks noGrp="1"/>
          </p:cNvSpPr>
          <p:nvPr>
            <p:ph type="title"/>
          </p:nvPr>
        </p:nvSpPr>
        <p:spPr/>
        <p:txBody>
          <a:bodyPr/>
          <a:lstStyle/>
          <a:p>
            <a:pPr algn="ctr"/>
            <a:r>
              <a:rPr lang="en-US" dirty="0"/>
              <a:t>Critical thinking question</a:t>
            </a:r>
          </a:p>
        </p:txBody>
      </p:sp>
      <p:sp>
        <p:nvSpPr>
          <p:cNvPr id="3" name="Content Placeholder 2">
            <a:extLst>
              <a:ext uri="{FF2B5EF4-FFF2-40B4-BE49-F238E27FC236}">
                <a16:creationId xmlns:a16="http://schemas.microsoft.com/office/drawing/2014/main" id="{8149C11E-6B7F-FABF-F76F-2EFFCA7F8CE4}"/>
              </a:ext>
            </a:extLst>
          </p:cNvPr>
          <p:cNvSpPr>
            <a:spLocks noGrp="1"/>
          </p:cNvSpPr>
          <p:nvPr>
            <p:ph idx="1"/>
          </p:nvPr>
        </p:nvSpPr>
        <p:spPr/>
        <p:txBody>
          <a:bodyPr/>
          <a:lstStyle/>
          <a:p>
            <a:r>
              <a:rPr lang="en-US" sz="3200" i="1" dirty="0"/>
              <a:t>If built-in data types have fixed memory sizes, how does the compiler determine the memory size of objects created from a user-defined data type (class)?</a:t>
            </a:r>
            <a:endParaRPr lang="en-US" sz="3200" dirty="0"/>
          </a:p>
          <a:p>
            <a:r>
              <a:rPr lang="en-US" b="1" dirty="0"/>
              <a:t>The compiler determines the memory size of a class object by adding the sizes of all the data members defined inside the class.</a:t>
            </a:r>
            <a:endParaRPr lang="en-US" dirty="0"/>
          </a:p>
          <a:p>
            <a:r>
              <a:rPr lang="en-US" b="1" dirty="0"/>
              <a:t>Key Point</a:t>
            </a:r>
          </a:p>
          <a:p>
            <a:r>
              <a:rPr lang="en-US" dirty="0"/>
              <a:t>Memory is </a:t>
            </a:r>
            <a:r>
              <a:rPr lang="en-US" b="1" dirty="0"/>
              <a:t>not assigned to the class itself</a:t>
            </a:r>
            <a:r>
              <a:rPr lang="en-US" dirty="0"/>
              <a:t>, but to the </a:t>
            </a:r>
            <a:r>
              <a:rPr lang="en-US" b="1" dirty="0"/>
              <a:t>objects created from that class</a:t>
            </a:r>
            <a:r>
              <a:rPr lang="en-US" dirty="0"/>
              <a:t>, based on the combined size of its data members.</a:t>
            </a:r>
          </a:p>
          <a:p>
            <a:endParaRPr lang="en-US" dirty="0"/>
          </a:p>
        </p:txBody>
      </p:sp>
    </p:spTree>
    <p:extLst>
      <p:ext uri="{BB962C8B-B14F-4D97-AF65-F5344CB8AC3E}">
        <p14:creationId xmlns:p14="http://schemas.microsoft.com/office/powerpoint/2010/main" val="27274984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77A22-7F75-86A1-990B-88844920A61E}"/>
              </a:ext>
            </a:extLst>
          </p:cNvPr>
          <p:cNvSpPr>
            <a:spLocks noGrp="1"/>
          </p:cNvSpPr>
          <p:nvPr>
            <p:ph type="title"/>
          </p:nvPr>
        </p:nvSpPr>
        <p:spPr>
          <a:xfrm>
            <a:off x="1069848" y="484632"/>
            <a:ext cx="10058400" cy="886968"/>
          </a:xfrm>
        </p:spPr>
        <p:txBody>
          <a:bodyPr>
            <a:normAutofit fontScale="90000"/>
          </a:bodyPr>
          <a:lstStyle/>
          <a:p>
            <a:pPr algn="ctr"/>
            <a:r>
              <a:rPr lang="en-US" dirty="0"/>
              <a:t>Example, Class as user-defined data type</a:t>
            </a:r>
          </a:p>
        </p:txBody>
      </p:sp>
      <p:sp>
        <p:nvSpPr>
          <p:cNvPr id="3" name="Content Placeholder 2">
            <a:extLst>
              <a:ext uri="{FF2B5EF4-FFF2-40B4-BE49-F238E27FC236}">
                <a16:creationId xmlns:a16="http://schemas.microsoft.com/office/drawing/2014/main" id="{F62D17DB-745C-DFFD-5F22-9A3482B3EB4D}"/>
              </a:ext>
            </a:extLst>
          </p:cNvPr>
          <p:cNvSpPr>
            <a:spLocks noGrp="1"/>
          </p:cNvSpPr>
          <p:nvPr>
            <p:ph idx="1"/>
          </p:nvPr>
        </p:nvSpPr>
        <p:spPr>
          <a:xfrm>
            <a:off x="1069848" y="1371600"/>
            <a:ext cx="10058400" cy="4800600"/>
          </a:xfrm>
        </p:spPr>
        <p:txBody>
          <a:bodyPr>
            <a:normAutofit/>
          </a:bodyPr>
          <a:lstStyle/>
          <a:p>
            <a:r>
              <a:rPr lang="en-US" dirty="0"/>
              <a:t>class Student {</a:t>
            </a:r>
          </a:p>
          <a:p>
            <a:r>
              <a:rPr lang="en-US" dirty="0"/>
              <a:t>public:</a:t>
            </a:r>
          </a:p>
          <a:p>
            <a:r>
              <a:rPr lang="en-US" dirty="0"/>
              <a:t>    int </a:t>
            </a:r>
            <a:r>
              <a:rPr lang="en-US" dirty="0" err="1"/>
              <a:t>rollNo</a:t>
            </a:r>
            <a:r>
              <a:rPr lang="en-US" dirty="0"/>
              <a:t>;</a:t>
            </a:r>
          </a:p>
          <a:p>
            <a:r>
              <a:rPr lang="en-US" dirty="0"/>
              <a:t>    float marks;</a:t>
            </a:r>
          </a:p>
          <a:p>
            <a:r>
              <a:rPr lang="en-US" dirty="0"/>
              <a:t>};</a:t>
            </a:r>
          </a:p>
          <a:p>
            <a:r>
              <a:rPr lang="en-US" dirty="0"/>
              <a:t>The compiler calculates the size like this:</a:t>
            </a:r>
          </a:p>
          <a:p>
            <a:r>
              <a:rPr lang="en-US" dirty="0">
                <a:solidFill>
                  <a:srgbClr val="FF0000"/>
                </a:solidFill>
              </a:rPr>
              <a:t>int</a:t>
            </a:r>
            <a:r>
              <a:rPr lang="en-US" dirty="0"/>
              <a:t> </a:t>
            </a:r>
            <a:r>
              <a:rPr lang="en-US" dirty="0" err="1"/>
              <a:t>rollNo</a:t>
            </a:r>
            <a:r>
              <a:rPr lang="en-US" dirty="0"/>
              <a:t> → </a:t>
            </a:r>
            <a:r>
              <a:rPr lang="en-US" dirty="0">
                <a:solidFill>
                  <a:srgbClr val="FF0000"/>
                </a:solidFill>
              </a:rPr>
              <a:t>4 bytes</a:t>
            </a:r>
          </a:p>
          <a:p>
            <a:r>
              <a:rPr lang="en-US" dirty="0">
                <a:solidFill>
                  <a:srgbClr val="FF0000"/>
                </a:solidFill>
              </a:rPr>
              <a:t>float</a:t>
            </a:r>
            <a:r>
              <a:rPr lang="en-US" dirty="0"/>
              <a:t> marks → </a:t>
            </a:r>
            <a:r>
              <a:rPr lang="en-US" dirty="0">
                <a:solidFill>
                  <a:srgbClr val="FF0000"/>
                </a:solidFill>
              </a:rPr>
              <a:t>4 bytes</a:t>
            </a:r>
          </a:p>
          <a:p>
            <a:r>
              <a:rPr lang="en-US" dirty="0">
                <a:solidFill>
                  <a:srgbClr val="FF0000"/>
                </a:solidFill>
              </a:rPr>
              <a:t>Total size of Student object = </a:t>
            </a:r>
            <a:r>
              <a:rPr lang="en-US" b="1" dirty="0">
                <a:solidFill>
                  <a:srgbClr val="FF0000"/>
                </a:solidFill>
              </a:rPr>
              <a:t>4 + 4 = 8 bytes</a:t>
            </a:r>
            <a:endParaRPr lang="en-US" dirty="0">
              <a:solidFill>
                <a:srgbClr val="FF0000"/>
              </a:solidFill>
            </a:endParaRPr>
          </a:p>
          <a:p>
            <a:r>
              <a:rPr lang="en-US" dirty="0"/>
              <a:t>When an object is created:</a:t>
            </a:r>
          </a:p>
          <a:p>
            <a:r>
              <a:rPr lang="en-US" dirty="0"/>
              <a:t>Student s1;                 the compiler allocates </a:t>
            </a:r>
            <a:r>
              <a:rPr lang="en-US" b="1" dirty="0"/>
              <a:t>8 bytes of memory</a:t>
            </a:r>
            <a:r>
              <a:rPr lang="en-US" dirty="0"/>
              <a:t> for s1.</a:t>
            </a:r>
          </a:p>
          <a:p>
            <a:endParaRPr lang="en-US" dirty="0"/>
          </a:p>
        </p:txBody>
      </p:sp>
    </p:spTree>
    <p:extLst>
      <p:ext uri="{BB962C8B-B14F-4D97-AF65-F5344CB8AC3E}">
        <p14:creationId xmlns:p14="http://schemas.microsoft.com/office/powerpoint/2010/main" val="42539962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258C0-304E-B564-82BF-AB35628E806D}"/>
              </a:ext>
            </a:extLst>
          </p:cNvPr>
          <p:cNvSpPr>
            <a:spLocks noGrp="1"/>
          </p:cNvSpPr>
          <p:nvPr>
            <p:ph type="title"/>
          </p:nvPr>
        </p:nvSpPr>
        <p:spPr>
          <a:xfrm>
            <a:off x="1069848" y="484632"/>
            <a:ext cx="10058400" cy="650204"/>
          </a:xfrm>
        </p:spPr>
        <p:txBody>
          <a:bodyPr>
            <a:normAutofit fontScale="90000"/>
          </a:bodyPr>
          <a:lstStyle/>
          <a:p>
            <a:pPr algn="ctr"/>
            <a:r>
              <a:rPr lang="en-US" dirty="0"/>
              <a:t>does constructor actually assigns memory</a:t>
            </a:r>
          </a:p>
        </p:txBody>
      </p:sp>
      <p:sp>
        <p:nvSpPr>
          <p:cNvPr id="3" name="Content Placeholder 2">
            <a:extLst>
              <a:ext uri="{FF2B5EF4-FFF2-40B4-BE49-F238E27FC236}">
                <a16:creationId xmlns:a16="http://schemas.microsoft.com/office/drawing/2014/main" id="{3E9D7E84-6290-F5A1-569B-130038BCB441}"/>
              </a:ext>
            </a:extLst>
          </p:cNvPr>
          <p:cNvSpPr>
            <a:spLocks noGrp="1"/>
          </p:cNvSpPr>
          <p:nvPr>
            <p:ph idx="1"/>
          </p:nvPr>
        </p:nvSpPr>
        <p:spPr>
          <a:xfrm>
            <a:off x="1069848" y="1330779"/>
            <a:ext cx="10058400" cy="4841421"/>
          </a:xfrm>
        </p:spPr>
        <p:txBody>
          <a:bodyPr>
            <a:normAutofit fontScale="40000" lnSpcReduction="20000"/>
          </a:bodyPr>
          <a:lstStyle/>
          <a:p>
            <a:r>
              <a:rPr lang="en-US" b="1" dirty="0"/>
              <a:t>No, a constructor does NOT assign memory.</a:t>
            </a:r>
            <a:endParaRPr lang="en-US" dirty="0"/>
          </a:p>
          <a:p>
            <a:r>
              <a:rPr lang="en-US" b="1" dirty="0"/>
              <a:t>🔹 What actually happens?</a:t>
            </a:r>
          </a:p>
          <a:p>
            <a:r>
              <a:rPr lang="en-US" dirty="0"/>
              <a:t>👉 </a:t>
            </a:r>
            <a:r>
              <a:rPr lang="en-US" b="1" dirty="0"/>
              <a:t>Memory allocation</a:t>
            </a:r>
            <a:r>
              <a:rPr lang="en-US" dirty="0"/>
              <a:t> happens </a:t>
            </a:r>
            <a:r>
              <a:rPr lang="en-US" b="1" dirty="0"/>
              <a:t>before</a:t>
            </a:r>
            <a:r>
              <a:rPr lang="en-US" dirty="0"/>
              <a:t> the constructor is called.</a:t>
            </a:r>
          </a:p>
          <a:p>
            <a:r>
              <a:rPr lang="en-US" dirty="0"/>
              <a:t>👉 The </a:t>
            </a:r>
            <a:r>
              <a:rPr lang="en-US" b="1" dirty="0"/>
              <a:t>constructor’s job</a:t>
            </a:r>
            <a:r>
              <a:rPr lang="en-US" dirty="0"/>
              <a:t> is to </a:t>
            </a:r>
            <a:r>
              <a:rPr lang="en-US" b="1" dirty="0"/>
              <a:t>initialize that already allocated memory</a:t>
            </a:r>
            <a:r>
              <a:rPr lang="en-US" dirty="0"/>
              <a:t>.</a:t>
            </a:r>
          </a:p>
          <a:p>
            <a:br>
              <a:rPr lang="en-US" dirty="0"/>
            </a:br>
            <a:endParaRPr lang="en-US" dirty="0"/>
          </a:p>
          <a:p>
            <a:r>
              <a:rPr lang="en-US" b="1" dirty="0"/>
              <a:t>🔹 Step-by-step process (very important for exams)</a:t>
            </a:r>
          </a:p>
          <a:p>
            <a:r>
              <a:rPr lang="en-US" dirty="0"/>
              <a:t>When you create an object like:</a:t>
            </a:r>
          </a:p>
          <a:p>
            <a:r>
              <a:rPr lang="en-US" dirty="0"/>
              <a:t>Student s1;</a:t>
            </a:r>
          </a:p>
          <a:p>
            <a:r>
              <a:rPr lang="en-US" b="1" dirty="0"/>
              <a:t>Memory is allocated</a:t>
            </a:r>
            <a:r>
              <a:rPr lang="en-US" dirty="0"/>
              <a:t> (by compiler/runtime) </a:t>
            </a:r>
          </a:p>
          <a:p>
            <a:r>
              <a:rPr lang="en-US" b="1" dirty="0"/>
              <a:t>Constructor is called</a:t>
            </a:r>
            <a:r>
              <a:rPr lang="en-US" dirty="0"/>
              <a:t> </a:t>
            </a:r>
          </a:p>
          <a:p>
            <a:r>
              <a:rPr lang="en-US" dirty="0"/>
              <a:t>Constructor </a:t>
            </a:r>
            <a:r>
              <a:rPr lang="en-US" b="1" dirty="0"/>
              <a:t>assigns values / initializes variables</a:t>
            </a:r>
            <a:endParaRPr lang="en-US" dirty="0"/>
          </a:p>
          <a:p>
            <a:r>
              <a:rPr lang="en-US" b="1" dirty="0"/>
              <a:t>Simple analogy</a:t>
            </a:r>
          </a:p>
          <a:p>
            <a:r>
              <a:rPr lang="en-US" dirty="0"/>
              <a:t>Think of it like this:</a:t>
            </a:r>
          </a:p>
          <a:p>
            <a:r>
              <a:rPr lang="en-US" dirty="0"/>
              <a:t>🏠 </a:t>
            </a:r>
            <a:r>
              <a:rPr lang="en-US" b="1" dirty="0"/>
              <a:t>Memory allocation</a:t>
            </a:r>
            <a:r>
              <a:rPr lang="en-US" dirty="0"/>
              <a:t> = building a house </a:t>
            </a:r>
          </a:p>
          <a:p>
            <a:r>
              <a:rPr lang="en-US" dirty="0"/>
              <a:t>🎨 </a:t>
            </a:r>
            <a:r>
              <a:rPr lang="en-US" b="1" dirty="0"/>
              <a:t>Constructor</a:t>
            </a:r>
            <a:r>
              <a:rPr lang="en-US" dirty="0"/>
              <a:t> = decorating &amp; arranging inside the house </a:t>
            </a:r>
          </a:p>
          <a:p>
            <a:r>
              <a:rPr lang="en-US" dirty="0"/>
              <a:t>👉 Constructor doesn’t build the house, it just </a:t>
            </a:r>
            <a:r>
              <a:rPr lang="en-US" b="1" dirty="0"/>
              <a:t>sets things inside it</a:t>
            </a:r>
            <a:endParaRPr lang="en-US" dirty="0"/>
          </a:p>
          <a:p>
            <a:r>
              <a:rPr lang="en-US" dirty="0"/>
              <a:t>Who allocates memory?</a:t>
            </a:r>
            <a:br>
              <a:rPr lang="en-US" dirty="0"/>
            </a:br>
            <a:r>
              <a:rPr lang="en-US" dirty="0"/>
              <a:t>→ Compiler / runtime system </a:t>
            </a:r>
          </a:p>
          <a:p>
            <a:r>
              <a:rPr lang="en-US" dirty="0"/>
              <a:t>When?</a:t>
            </a:r>
            <a:br>
              <a:rPr lang="en-US" dirty="0"/>
            </a:br>
            <a:r>
              <a:rPr lang="en-US" dirty="0"/>
              <a:t>→ At object creation </a:t>
            </a:r>
          </a:p>
          <a:p>
            <a:r>
              <a:rPr lang="en-US" dirty="0"/>
              <a:t>Then why constructor?</a:t>
            </a:r>
            <a:br>
              <a:rPr lang="en-US" dirty="0"/>
            </a:br>
            <a:r>
              <a:rPr lang="en-US" dirty="0"/>
              <a:t>→ To make object usable by giving it initial state </a:t>
            </a:r>
          </a:p>
          <a:p>
            <a:endParaRPr lang="en-US" dirty="0"/>
          </a:p>
        </p:txBody>
      </p:sp>
    </p:spTree>
    <p:extLst>
      <p:ext uri="{BB962C8B-B14F-4D97-AF65-F5344CB8AC3E}">
        <p14:creationId xmlns:p14="http://schemas.microsoft.com/office/powerpoint/2010/main" val="9569424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212EA-E552-7388-725F-426D76E76BA8}"/>
              </a:ext>
            </a:extLst>
          </p:cNvPr>
          <p:cNvSpPr>
            <a:spLocks noGrp="1"/>
          </p:cNvSpPr>
          <p:nvPr>
            <p:ph type="title"/>
          </p:nvPr>
        </p:nvSpPr>
        <p:spPr>
          <a:xfrm>
            <a:off x="1069848" y="484632"/>
            <a:ext cx="10058400" cy="761541"/>
          </a:xfrm>
        </p:spPr>
        <p:txBody>
          <a:bodyPr>
            <a:normAutofit fontScale="90000"/>
          </a:bodyPr>
          <a:lstStyle/>
          <a:p>
            <a:r>
              <a:rPr lang="en-US" dirty="0"/>
              <a:t>Memory of member function</a:t>
            </a:r>
          </a:p>
        </p:txBody>
      </p:sp>
      <p:sp>
        <p:nvSpPr>
          <p:cNvPr id="3" name="Content Placeholder 2">
            <a:extLst>
              <a:ext uri="{FF2B5EF4-FFF2-40B4-BE49-F238E27FC236}">
                <a16:creationId xmlns:a16="http://schemas.microsoft.com/office/drawing/2014/main" id="{35C93A02-7DEC-E09D-5E76-C3DDA39C4865}"/>
              </a:ext>
            </a:extLst>
          </p:cNvPr>
          <p:cNvSpPr>
            <a:spLocks noGrp="1"/>
          </p:cNvSpPr>
          <p:nvPr>
            <p:ph idx="1"/>
          </p:nvPr>
        </p:nvSpPr>
        <p:spPr>
          <a:xfrm>
            <a:off x="1069848" y="1310910"/>
            <a:ext cx="10058400" cy="4861290"/>
          </a:xfrm>
        </p:spPr>
        <p:txBody>
          <a:bodyPr>
            <a:normAutofit fontScale="70000" lnSpcReduction="20000"/>
          </a:bodyPr>
          <a:lstStyle/>
          <a:p>
            <a:r>
              <a:rPr lang="en-US" b="1" dirty="0"/>
              <a:t>🔹 Important point (VERY EXAM IMPORTANT)</a:t>
            </a:r>
          </a:p>
          <a:p>
            <a:r>
              <a:rPr lang="en-US" dirty="0"/>
              <a:t>👉 </a:t>
            </a:r>
            <a:r>
              <a:rPr lang="en-US" b="1" dirty="0"/>
              <a:t>Member functions (including constructor) do NOT take memory per object</a:t>
            </a:r>
            <a:endParaRPr lang="en-US" dirty="0"/>
          </a:p>
          <a:p>
            <a:r>
              <a:rPr lang="en-US" dirty="0"/>
              <a:t>Only </a:t>
            </a:r>
            <a:r>
              <a:rPr lang="en-US" b="1" dirty="0"/>
              <a:t>data members</a:t>
            </a:r>
            <a:r>
              <a:rPr lang="en-US" dirty="0"/>
              <a:t> take memory</a:t>
            </a:r>
          </a:p>
          <a:p>
            <a:r>
              <a:rPr lang="en-US" b="1" dirty="0"/>
              <a:t>Easy Breakdown of Class Memory in C++</a:t>
            </a:r>
          </a:p>
          <a:p>
            <a:r>
              <a:rPr lang="en-US" dirty="0"/>
              <a:t>Think of a class as a </a:t>
            </a:r>
            <a:r>
              <a:rPr lang="en-US" b="1" dirty="0"/>
              <a:t>blueprint</a:t>
            </a:r>
            <a:r>
              <a:rPr lang="en-US" dirty="0"/>
              <a:t>.</a:t>
            </a:r>
          </a:p>
          <a:p>
            <a:r>
              <a:rPr lang="en-US" dirty="0"/>
              <a:t>class Student {</a:t>
            </a:r>
            <a:br>
              <a:rPr lang="en-US" dirty="0"/>
            </a:br>
            <a:r>
              <a:rPr lang="en-US" dirty="0"/>
              <a:t>    int </a:t>
            </a:r>
            <a:r>
              <a:rPr lang="en-US" dirty="0" err="1"/>
              <a:t>rollNo</a:t>
            </a:r>
            <a:r>
              <a:rPr lang="en-US" dirty="0"/>
              <a:t>;</a:t>
            </a:r>
            <a:br>
              <a:rPr lang="en-US" dirty="0"/>
            </a:br>
            <a:r>
              <a:rPr lang="en-US" dirty="0"/>
              <a:t>    float marks;</a:t>
            </a:r>
            <a:br>
              <a:rPr lang="en-US" dirty="0"/>
            </a:br>
            <a:br>
              <a:rPr lang="en-US" dirty="0"/>
            </a:br>
            <a:r>
              <a:rPr lang="en-US" dirty="0"/>
              <a:t>public:</a:t>
            </a:r>
            <a:br>
              <a:rPr lang="en-US" dirty="0"/>
            </a:br>
            <a:r>
              <a:rPr lang="en-US" dirty="0"/>
              <a:t>    void display() {}</a:t>
            </a:r>
            <a:br>
              <a:rPr lang="en-US" dirty="0"/>
            </a:br>
            <a:r>
              <a:rPr lang="en-US" dirty="0"/>
              <a:t>};</a:t>
            </a:r>
          </a:p>
          <a:p>
            <a:r>
              <a:rPr lang="en-US" dirty="0"/>
              <a:t>Now suppose we create objects:</a:t>
            </a:r>
          </a:p>
          <a:p>
            <a:r>
              <a:rPr lang="en-US" dirty="0"/>
              <a:t>Student s1;</a:t>
            </a:r>
            <a:br>
              <a:rPr lang="en-US" dirty="0"/>
            </a:br>
            <a:r>
              <a:rPr lang="en-US" dirty="0"/>
              <a:t>Student s2;</a:t>
            </a:r>
          </a:p>
          <a:p>
            <a:r>
              <a:rPr lang="en-US" b="1" dirty="0"/>
              <a:t>STEP 1 — What Happens to Data Members?</a:t>
            </a:r>
          </a:p>
          <a:p>
            <a:r>
              <a:rPr lang="en-US" dirty="0"/>
              <a:t>Data members are the variables inside the class.</a:t>
            </a:r>
          </a:p>
          <a:p>
            <a:r>
              <a:rPr lang="en-US" dirty="0"/>
              <a:t>int </a:t>
            </a:r>
            <a:r>
              <a:rPr lang="en-US" dirty="0" err="1"/>
              <a:t>rollNo</a:t>
            </a:r>
            <a:r>
              <a:rPr lang="en-US" dirty="0"/>
              <a:t>;</a:t>
            </a:r>
            <a:br>
              <a:rPr lang="en-US" dirty="0"/>
            </a:br>
            <a:r>
              <a:rPr lang="en-US" dirty="0"/>
              <a:t>float marks;</a:t>
            </a:r>
          </a:p>
          <a:p>
            <a:r>
              <a:rPr lang="en-US" dirty="0"/>
              <a:t>Each object gets its </a:t>
            </a:r>
            <a:r>
              <a:rPr lang="en-US" b="1" dirty="0"/>
              <a:t>own separate copy</a:t>
            </a:r>
            <a:r>
              <a:rPr lang="en-US" dirty="0"/>
              <a:t>.</a:t>
            </a:r>
          </a:p>
          <a:p>
            <a:endParaRPr lang="en-US" dirty="0"/>
          </a:p>
        </p:txBody>
      </p:sp>
    </p:spTree>
    <p:extLst>
      <p:ext uri="{BB962C8B-B14F-4D97-AF65-F5344CB8AC3E}">
        <p14:creationId xmlns:p14="http://schemas.microsoft.com/office/powerpoint/2010/main" val="5082407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033AA-F178-C1F7-F497-8DFA6D89CD3C}"/>
              </a:ext>
            </a:extLst>
          </p:cNvPr>
          <p:cNvSpPr>
            <a:spLocks noGrp="1"/>
          </p:cNvSpPr>
          <p:nvPr>
            <p:ph type="title"/>
          </p:nvPr>
        </p:nvSpPr>
        <p:spPr>
          <a:xfrm>
            <a:off x="1069848" y="484632"/>
            <a:ext cx="10058400" cy="534964"/>
          </a:xfrm>
        </p:spPr>
        <p:txBody>
          <a:bodyPr>
            <a:normAutofit fontScale="90000"/>
          </a:bodyPr>
          <a:lstStyle/>
          <a:p>
            <a:r>
              <a:rPr lang="en-US" dirty="0"/>
              <a:t>…</a:t>
            </a:r>
          </a:p>
        </p:txBody>
      </p:sp>
      <p:sp>
        <p:nvSpPr>
          <p:cNvPr id="3" name="Content Placeholder 2">
            <a:extLst>
              <a:ext uri="{FF2B5EF4-FFF2-40B4-BE49-F238E27FC236}">
                <a16:creationId xmlns:a16="http://schemas.microsoft.com/office/drawing/2014/main" id="{43C03541-C166-7179-C83D-1F53BFAD07DD}"/>
              </a:ext>
            </a:extLst>
          </p:cNvPr>
          <p:cNvSpPr>
            <a:spLocks noGrp="1"/>
          </p:cNvSpPr>
          <p:nvPr>
            <p:ph idx="1"/>
          </p:nvPr>
        </p:nvSpPr>
        <p:spPr>
          <a:xfrm>
            <a:off x="1069848" y="1254265"/>
            <a:ext cx="10058400" cy="4917935"/>
          </a:xfrm>
        </p:spPr>
        <p:txBody>
          <a:bodyPr/>
          <a:lstStyle/>
          <a:p>
            <a:r>
              <a:rPr lang="en-US" b="1" dirty="0"/>
              <a:t>Memory View</a:t>
            </a:r>
          </a:p>
          <a:p>
            <a:r>
              <a:rPr lang="en-US" b="1" dirty="0"/>
              <a:t>Object s1</a:t>
            </a:r>
          </a:p>
          <a:p>
            <a:r>
              <a:rPr lang="en-US" dirty="0"/>
              <a:t>Total ≈ 8 bytes</a:t>
            </a:r>
            <a:endParaRPr lang="en-US" b="1" dirty="0"/>
          </a:p>
          <a:p>
            <a:r>
              <a:rPr lang="en-US" dirty="0"/>
              <a:t>Object s2</a:t>
            </a:r>
          </a:p>
          <a:p>
            <a:r>
              <a:rPr lang="en-US" dirty="0"/>
              <a:t>Total ≈ 8 bytes</a:t>
            </a:r>
          </a:p>
          <a:p>
            <a:r>
              <a:rPr lang="en-US" b="1" dirty="0"/>
              <a:t>Important Idea</a:t>
            </a:r>
          </a:p>
          <a:p>
            <a:r>
              <a:rPr lang="en-US" dirty="0"/>
              <a:t>Each object stores its own data.</a:t>
            </a:r>
          </a:p>
          <a:p>
            <a:r>
              <a:rPr lang="en-US" dirty="0"/>
              <a:t>So:</a:t>
            </a:r>
          </a:p>
          <a:p>
            <a:r>
              <a:rPr lang="pl-PL" dirty="0"/>
              <a:t>s1.rollNo = 1;</a:t>
            </a:r>
          </a:p>
          <a:p>
            <a:r>
              <a:rPr lang="pl-PL" dirty="0"/>
              <a:t>s2.rollNo = 2;</a:t>
            </a:r>
            <a:endParaRPr lang="en-US" dirty="0"/>
          </a:p>
          <a:p>
            <a:r>
              <a:rPr lang="en-US" dirty="0"/>
              <a:t>Both values must be stored separately.</a:t>
            </a:r>
          </a:p>
          <a:p>
            <a:endParaRPr lang="en-US" dirty="0"/>
          </a:p>
          <a:p>
            <a:endParaRPr lang="en-US" dirty="0"/>
          </a:p>
        </p:txBody>
      </p:sp>
      <p:graphicFrame>
        <p:nvGraphicFramePr>
          <p:cNvPr id="4" name="Table 3">
            <a:extLst>
              <a:ext uri="{FF2B5EF4-FFF2-40B4-BE49-F238E27FC236}">
                <a16:creationId xmlns:a16="http://schemas.microsoft.com/office/drawing/2014/main" id="{AD3EBC08-EB79-A51F-2C2C-72AF05F2E410}"/>
              </a:ext>
            </a:extLst>
          </p:cNvPr>
          <p:cNvGraphicFramePr>
            <a:graphicFrameLocks noGrp="1"/>
          </p:cNvGraphicFramePr>
          <p:nvPr>
            <p:extLst>
              <p:ext uri="{D42A27DB-BD31-4B8C-83A1-F6EECF244321}">
                <p14:modId xmlns:p14="http://schemas.microsoft.com/office/powerpoint/2010/main" val="3773920724"/>
              </p:ext>
            </p:extLst>
          </p:nvPr>
        </p:nvGraphicFramePr>
        <p:xfrm>
          <a:off x="5073706" y="1955227"/>
          <a:ext cx="6048446" cy="1097280"/>
        </p:xfrm>
        <a:graphic>
          <a:graphicData uri="http://schemas.openxmlformats.org/drawingml/2006/table">
            <a:tbl>
              <a:tblPr/>
              <a:tblGrid>
                <a:gridCol w="3024223">
                  <a:extLst>
                    <a:ext uri="{9D8B030D-6E8A-4147-A177-3AD203B41FA5}">
                      <a16:colId xmlns:a16="http://schemas.microsoft.com/office/drawing/2014/main" val="689245463"/>
                    </a:ext>
                  </a:extLst>
                </a:gridCol>
                <a:gridCol w="3024223">
                  <a:extLst>
                    <a:ext uri="{9D8B030D-6E8A-4147-A177-3AD203B41FA5}">
                      <a16:colId xmlns:a16="http://schemas.microsoft.com/office/drawing/2014/main" val="2288688449"/>
                    </a:ext>
                  </a:extLst>
                </a:gridCol>
              </a:tblGrid>
              <a:tr h="0">
                <a:tc>
                  <a:txBody>
                    <a:bodyPr/>
                    <a:lstStyle/>
                    <a:p>
                      <a:pPr>
                        <a:buNone/>
                      </a:pPr>
                      <a:r>
                        <a:rPr lang="en-US" dirty="0"/>
                        <a:t>Variable for object 1</a:t>
                      </a:r>
                    </a:p>
                  </a:txBody>
                  <a:tcPr anchor="ctr">
                    <a:lnL>
                      <a:noFill/>
                    </a:lnL>
                    <a:lnR>
                      <a:noFill/>
                    </a:lnR>
                    <a:lnT>
                      <a:noFill/>
                    </a:lnT>
                    <a:lnB>
                      <a:noFill/>
                    </a:lnB>
                    <a:noFill/>
                  </a:tcPr>
                </a:tc>
                <a:tc>
                  <a:txBody>
                    <a:bodyPr/>
                    <a:lstStyle/>
                    <a:p>
                      <a:pPr>
                        <a:buNone/>
                      </a:pPr>
                      <a:r>
                        <a:rPr lang="en-US"/>
                        <a:t>Memory</a:t>
                      </a:r>
                    </a:p>
                  </a:txBody>
                  <a:tcPr anchor="ctr">
                    <a:lnL>
                      <a:noFill/>
                    </a:lnL>
                    <a:lnR>
                      <a:noFill/>
                    </a:lnR>
                    <a:lnT>
                      <a:noFill/>
                    </a:lnT>
                    <a:lnB>
                      <a:noFill/>
                    </a:lnB>
                    <a:noFill/>
                  </a:tcPr>
                </a:tc>
                <a:extLst>
                  <a:ext uri="{0D108BD9-81ED-4DB2-BD59-A6C34878D82A}">
                    <a16:rowId xmlns:a16="http://schemas.microsoft.com/office/drawing/2014/main" val="3513898713"/>
                  </a:ext>
                </a:extLst>
              </a:tr>
              <a:tr h="0">
                <a:tc>
                  <a:txBody>
                    <a:bodyPr/>
                    <a:lstStyle/>
                    <a:p>
                      <a:pPr>
                        <a:buNone/>
                      </a:pPr>
                      <a:r>
                        <a:rPr lang="en-US" dirty="0" err="1"/>
                        <a:t>rollNo</a:t>
                      </a:r>
                      <a:endParaRPr lang="en-US" dirty="0"/>
                    </a:p>
                  </a:txBody>
                  <a:tcPr anchor="ctr">
                    <a:lnL>
                      <a:noFill/>
                    </a:lnL>
                    <a:lnR>
                      <a:noFill/>
                    </a:lnR>
                    <a:lnT>
                      <a:noFill/>
                    </a:lnT>
                    <a:lnB>
                      <a:noFill/>
                    </a:lnB>
                    <a:noFill/>
                  </a:tcPr>
                </a:tc>
                <a:tc>
                  <a:txBody>
                    <a:bodyPr/>
                    <a:lstStyle/>
                    <a:p>
                      <a:pPr>
                        <a:buNone/>
                      </a:pPr>
                      <a:r>
                        <a:rPr lang="en-US"/>
                        <a:t>4 bytes</a:t>
                      </a:r>
                    </a:p>
                  </a:txBody>
                  <a:tcPr anchor="ctr">
                    <a:lnL>
                      <a:noFill/>
                    </a:lnL>
                    <a:lnR>
                      <a:noFill/>
                    </a:lnR>
                    <a:lnT>
                      <a:noFill/>
                    </a:lnT>
                    <a:lnB>
                      <a:noFill/>
                    </a:lnB>
                    <a:noFill/>
                  </a:tcPr>
                </a:tc>
                <a:extLst>
                  <a:ext uri="{0D108BD9-81ED-4DB2-BD59-A6C34878D82A}">
                    <a16:rowId xmlns:a16="http://schemas.microsoft.com/office/drawing/2014/main" val="452972729"/>
                  </a:ext>
                </a:extLst>
              </a:tr>
              <a:tr h="0">
                <a:tc>
                  <a:txBody>
                    <a:bodyPr/>
                    <a:lstStyle/>
                    <a:p>
                      <a:pPr>
                        <a:buNone/>
                      </a:pPr>
                      <a:r>
                        <a:rPr lang="en-US" dirty="0"/>
                        <a:t>marks</a:t>
                      </a:r>
                    </a:p>
                  </a:txBody>
                  <a:tcPr anchor="ctr">
                    <a:lnL>
                      <a:noFill/>
                    </a:lnL>
                    <a:lnR>
                      <a:noFill/>
                    </a:lnR>
                    <a:lnT>
                      <a:noFill/>
                    </a:lnT>
                    <a:lnB>
                      <a:noFill/>
                    </a:lnB>
                    <a:noFill/>
                  </a:tcPr>
                </a:tc>
                <a:tc>
                  <a:txBody>
                    <a:bodyPr/>
                    <a:lstStyle/>
                    <a:p>
                      <a:pPr>
                        <a:buNone/>
                      </a:pPr>
                      <a:r>
                        <a:rPr lang="en-US" dirty="0"/>
                        <a:t>4 bytes</a:t>
                      </a:r>
                    </a:p>
                  </a:txBody>
                  <a:tcPr anchor="ctr">
                    <a:lnL>
                      <a:noFill/>
                    </a:lnL>
                    <a:lnR>
                      <a:noFill/>
                    </a:lnR>
                    <a:lnT>
                      <a:noFill/>
                    </a:lnT>
                    <a:lnB>
                      <a:noFill/>
                    </a:lnB>
                    <a:noFill/>
                  </a:tcPr>
                </a:tc>
                <a:extLst>
                  <a:ext uri="{0D108BD9-81ED-4DB2-BD59-A6C34878D82A}">
                    <a16:rowId xmlns:a16="http://schemas.microsoft.com/office/drawing/2014/main" val="1876511671"/>
                  </a:ext>
                </a:extLst>
              </a:tr>
            </a:tbl>
          </a:graphicData>
        </a:graphic>
      </p:graphicFrame>
      <p:graphicFrame>
        <p:nvGraphicFramePr>
          <p:cNvPr id="5" name="Table 4">
            <a:extLst>
              <a:ext uri="{FF2B5EF4-FFF2-40B4-BE49-F238E27FC236}">
                <a16:creationId xmlns:a16="http://schemas.microsoft.com/office/drawing/2014/main" id="{72A3F97A-BB60-DFCD-9451-F65B659C176B}"/>
              </a:ext>
            </a:extLst>
          </p:cNvPr>
          <p:cNvGraphicFramePr>
            <a:graphicFrameLocks noGrp="1"/>
          </p:cNvGraphicFramePr>
          <p:nvPr>
            <p:extLst>
              <p:ext uri="{D42A27DB-BD31-4B8C-83A1-F6EECF244321}">
                <p14:modId xmlns:p14="http://schemas.microsoft.com/office/powerpoint/2010/main" val="3197140412"/>
              </p:ext>
            </p:extLst>
          </p:nvPr>
        </p:nvGraphicFramePr>
        <p:xfrm>
          <a:off x="5073705" y="3597909"/>
          <a:ext cx="6054670" cy="1097280"/>
        </p:xfrm>
        <a:graphic>
          <a:graphicData uri="http://schemas.openxmlformats.org/drawingml/2006/table">
            <a:tbl>
              <a:tblPr/>
              <a:tblGrid>
                <a:gridCol w="3027335">
                  <a:extLst>
                    <a:ext uri="{9D8B030D-6E8A-4147-A177-3AD203B41FA5}">
                      <a16:colId xmlns:a16="http://schemas.microsoft.com/office/drawing/2014/main" val="3849751845"/>
                    </a:ext>
                  </a:extLst>
                </a:gridCol>
                <a:gridCol w="3027335">
                  <a:extLst>
                    <a:ext uri="{9D8B030D-6E8A-4147-A177-3AD203B41FA5}">
                      <a16:colId xmlns:a16="http://schemas.microsoft.com/office/drawing/2014/main" val="3076786779"/>
                    </a:ext>
                  </a:extLst>
                </a:gridCol>
              </a:tblGrid>
              <a:tr h="278842">
                <a:tc>
                  <a:txBody>
                    <a:bodyPr/>
                    <a:lstStyle/>
                    <a:p>
                      <a:pPr>
                        <a:buNone/>
                      </a:pPr>
                      <a:r>
                        <a:rPr lang="en-US" dirty="0"/>
                        <a:t>Variable for object 2</a:t>
                      </a:r>
                    </a:p>
                  </a:txBody>
                  <a:tcPr anchor="ctr">
                    <a:lnL>
                      <a:noFill/>
                    </a:lnL>
                    <a:lnR>
                      <a:noFill/>
                    </a:lnR>
                    <a:lnT>
                      <a:noFill/>
                    </a:lnT>
                    <a:lnB>
                      <a:noFill/>
                    </a:lnB>
                    <a:noFill/>
                  </a:tcPr>
                </a:tc>
                <a:tc>
                  <a:txBody>
                    <a:bodyPr/>
                    <a:lstStyle/>
                    <a:p>
                      <a:pPr>
                        <a:buNone/>
                      </a:pPr>
                      <a:r>
                        <a:rPr lang="en-US"/>
                        <a:t>Memory</a:t>
                      </a:r>
                    </a:p>
                  </a:txBody>
                  <a:tcPr anchor="ctr">
                    <a:lnL>
                      <a:noFill/>
                    </a:lnL>
                    <a:lnR>
                      <a:noFill/>
                    </a:lnR>
                    <a:lnT>
                      <a:noFill/>
                    </a:lnT>
                    <a:lnB>
                      <a:noFill/>
                    </a:lnB>
                    <a:noFill/>
                  </a:tcPr>
                </a:tc>
                <a:extLst>
                  <a:ext uri="{0D108BD9-81ED-4DB2-BD59-A6C34878D82A}">
                    <a16:rowId xmlns:a16="http://schemas.microsoft.com/office/drawing/2014/main" val="2887690194"/>
                  </a:ext>
                </a:extLst>
              </a:tr>
              <a:tr h="278842">
                <a:tc>
                  <a:txBody>
                    <a:bodyPr/>
                    <a:lstStyle/>
                    <a:p>
                      <a:pPr>
                        <a:buNone/>
                      </a:pPr>
                      <a:r>
                        <a:rPr lang="en-US"/>
                        <a:t>rollNo</a:t>
                      </a:r>
                    </a:p>
                  </a:txBody>
                  <a:tcPr anchor="ctr">
                    <a:lnL>
                      <a:noFill/>
                    </a:lnL>
                    <a:lnR>
                      <a:noFill/>
                    </a:lnR>
                    <a:lnT>
                      <a:noFill/>
                    </a:lnT>
                    <a:lnB>
                      <a:noFill/>
                    </a:lnB>
                    <a:noFill/>
                  </a:tcPr>
                </a:tc>
                <a:tc>
                  <a:txBody>
                    <a:bodyPr/>
                    <a:lstStyle/>
                    <a:p>
                      <a:pPr>
                        <a:buNone/>
                      </a:pPr>
                      <a:r>
                        <a:rPr lang="en-US"/>
                        <a:t>4 bytes</a:t>
                      </a:r>
                    </a:p>
                  </a:txBody>
                  <a:tcPr anchor="ctr">
                    <a:lnL>
                      <a:noFill/>
                    </a:lnL>
                    <a:lnR>
                      <a:noFill/>
                    </a:lnR>
                    <a:lnT>
                      <a:noFill/>
                    </a:lnT>
                    <a:lnB>
                      <a:noFill/>
                    </a:lnB>
                    <a:noFill/>
                  </a:tcPr>
                </a:tc>
                <a:extLst>
                  <a:ext uri="{0D108BD9-81ED-4DB2-BD59-A6C34878D82A}">
                    <a16:rowId xmlns:a16="http://schemas.microsoft.com/office/drawing/2014/main" val="754726066"/>
                  </a:ext>
                </a:extLst>
              </a:tr>
              <a:tr h="278842">
                <a:tc>
                  <a:txBody>
                    <a:bodyPr/>
                    <a:lstStyle/>
                    <a:p>
                      <a:pPr>
                        <a:buNone/>
                      </a:pPr>
                      <a:r>
                        <a:rPr lang="en-US"/>
                        <a:t>marks</a:t>
                      </a:r>
                    </a:p>
                  </a:txBody>
                  <a:tcPr anchor="ctr">
                    <a:lnL>
                      <a:noFill/>
                    </a:lnL>
                    <a:lnR>
                      <a:noFill/>
                    </a:lnR>
                    <a:lnT>
                      <a:noFill/>
                    </a:lnT>
                    <a:lnB>
                      <a:noFill/>
                    </a:lnB>
                    <a:noFill/>
                  </a:tcPr>
                </a:tc>
                <a:tc>
                  <a:txBody>
                    <a:bodyPr/>
                    <a:lstStyle/>
                    <a:p>
                      <a:pPr>
                        <a:buNone/>
                      </a:pPr>
                      <a:r>
                        <a:rPr lang="en-US" dirty="0"/>
                        <a:t>4 bytes</a:t>
                      </a:r>
                    </a:p>
                  </a:txBody>
                  <a:tcPr anchor="ctr">
                    <a:lnL>
                      <a:noFill/>
                    </a:lnL>
                    <a:lnR>
                      <a:noFill/>
                    </a:lnR>
                    <a:lnT>
                      <a:noFill/>
                    </a:lnT>
                    <a:lnB>
                      <a:noFill/>
                    </a:lnB>
                    <a:noFill/>
                  </a:tcPr>
                </a:tc>
                <a:extLst>
                  <a:ext uri="{0D108BD9-81ED-4DB2-BD59-A6C34878D82A}">
                    <a16:rowId xmlns:a16="http://schemas.microsoft.com/office/drawing/2014/main" val="2051581447"/>
                  </a:ext>
                </a:extLst>
              </a:tr>
            </a:tbl>
          </a:graphicData>
        </a:graphic>
      </p:graphicFrame>
    </p:spTree>
    <p:extLst>
      <p:ext uri="{BB962C8B-B14F-4D97-AF65-F5344CB8AC3E}">
        <p14:creationId xmlns:p14="http://schemas.microsoft.com/office/powerpoint/2010/main" val="42801998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792F2-B0DA-A215-C177-DC359F94C35B}"/>
              </a:ext>
            </a:extLst>
          </p:cNvPr>
          <p:cNvSpPr>
            <a:spLocks noGrp="1"/>
          </p:cNvSpPr>
          <p:nvPr>
            <p:ph type="title"/>
          </p:nvPr>
        </p:nvSpPr>
        <p:spPr>
          <a:xfrm>
            <a:off x="1069848" y="484632"/>
            <a:ext cx="10058400" cy="478320"/>
          </a:xfrm>
        </p:spPr>
        <p:txBody>
          <a:bodyPr>
            <a:normAutofit fontScale="90000"/>
          </a:bodyPr>
          <a:lstStyle/>
          <a:p>
            <a:r>
              <a:rPr lang="en-US" dirty="0"/>
              <a:t>…</a:t>
            </a:r>
          </a:p>
        </p:txBody>
      </p:sp>
      <p:sp>
        <p:nvSpPr>
          <p:cNvPr id="3" name="Content Placeholder 2">
            <a:extLst>
              <a:ext uri="{FF2B5EF4-FFF2-40B4-BE49-F238E27FC236}">
                <a16:creationId xmlns:a16="http://schemas.microsoft.com/office/drawing/2014/main" id="{2F23A5D1-9EDF-4B80-8987-F33FAA13C38A}"/>
              </a:ext>
            </a:extLst>
          </p:cNvPr>
          <p:cNvSpPr>
            <a:spLocks noGrp="1"/>
          </p:cNvSpPr>
          <p:nvPr>
            <p:ph idx="1"/>
          </p:nvPr>
        </p:nvSpPr>
        <p:spPr>
          <a:xfrm>
            <a:off x="1069848" y="1027688"/>
            <a:ext cx="10058400" cy="5144512"/>
          </a:xfrm>
        </p:spPr>
        <p:txBody>
          <a:bodyPr>
            <a:normAutofit fontScale="25000" lnSpcReduction="20000"/>
          </a:bodyPr>
          <a:lstStyle/>
          <a:p>
            <a:r>
              <a:rPr lang="en-US" b="1" dirty="0"/>
              <a:t>STEP 2 — What Happens to Member Functions?</a:t>
            </a:r>
          </a:p>
          <a:p>
            <a:r>
              <a:rPr lang="en-US" dirty="0"/>
              <a:t>Function:</a:t>
            </a:r>
          </a:p>
          <a:p>
            <a:r>
              <a:rPr lang="en-US" dirty="0"/>
              <a:t>void display() {}</a:t>
            </a:r>
          </a:p>
          <a:p>
            <a:r>
              <a:rPr lang="en-US" dirty="0"/>
              <a:t>is NOT copied into every object.</a:t>
            </a:r>
          </a:p>
          <a:p>
            <a:r>
              <a:rPr lang="en-US" dirty="0"/>
              <a:t>Only </a:t>
            </a:r>
            <a:r>
              <a:rPr lang="en-US" b="1" dirty="0"/>
              <a:t>one copy</a:t>
            </a:r>
            <a:r>
              <a:rPr lang="en-US" dirty="0"/>
              <a:t> of the function exists in program memory.</a:t>
            </a:r>
          </a:p>
          <a:p>
            <a:r>
              <a:rPr lang="en-US" dirty="0"/>
              <a:t>All objects share it.</a:t>
            </a:r>
          </a:p>
          <a:p>
            <a:r>
              <a:rPr lang="en-US" b="1" dirty="0"/>
              <a:t>Memory Concept</a:t>
            </a:r>
          </a:p>
          <a:p>
            <a:r>
              <a:rPr lang="en-US" b="1" dirty="0"/>
              <a:t>Data Members → inside object</a:t>
            </a:r>
          </a:p>
          <a:p>
            <a:r>
              <a:rPr lang="en-US" b="1" dirty="0"/>
              <a:t>Member Functions → outside object</a:t>
            </a:r>
          </a:p>
          <a:p>
            <a:r>
              <a:rPr lang="en-US" dirty="0"/>
              <a:t>(stored once in code/text segment)</a:t>
            </a:r>
          </a:p>
          <a:p>
            <a:r>
              <a:rPr lang="en-US" dirty="0"/>
              <a:t>Visual Representation</a:t>
            </a:r>
          </a:p>
          <a:p>
            <a:r>
              <a:rPr lang="en-US" dirty="0"/>
              <a:t>OBJECT s1</a:t>
            </a:r>
          </a:p>
          <a:p>
            <a:r>
              <a:rPr lang="en-US" dirty="0"/>
              <a:t>-------------</a:t>
            </a:r>
          </a:p>
          <a:p>
            <a:r>
              <a:rPr lang="en-US" dirty="0" err="1"/>
              <a:t>rollNo</a:t>
            </a:r>
            <a:endParaRPr lang="en-US" dirty="0"/>
          </a:p>
          <a:p>
            <a:r>
              <a:rPr lang="en-US" dirty="0"/>
              <a:t>marks</a:t>
            </a:r>
          </a:p>
          <a:p>
            <a:r>
              <a:rPr lang="en-US" dirty="0"/>
              <a:t>-------------</a:t>
            </a:r>
          </a:p>
          <a:p>
            <a:r>
              <a:rPr lang="en-US" dirty="0"/>
              <a:t>OBJECT s2</a:t>
            </a:r>
          </a:p>
          <a:p>
            <a:r>
              <a:rPr lang="en-US" dirty="0"/>
              <a:t>-------------</a:t>
            </a:r>
          </a:p>
          <a:p>
            <a:r>
              <a:rPr lang="en-US" dirty="0" err="1"/>
              <a:t>rollNo</a:t>
            </a:r>
            <a:endParaRPr lang="en-US" dirty="0"/>
          </a:p>
          <a:p>
            <a:r>
              <a:rPr lang="en-US" dirty="0"/>
              <a:t>marks</a:t>
            </a:r>
          </a:p>
          <a:p>
            <a:r>
              <a:rPr lang="en-US" dirty="0"/>
              <a:t>-------------</a:t>
            </a:r>
          </a:p>
          <a:p>
            <a:r>
              <a:rPr lang="en-US" dirty="0"/>
              <a:t>Functions are stored separately:</a:t>
            </a:r>
          </a:p>
          <a:p>
            <a:r>
              <a:rPr lang="en-US" dirty="0"/>
              <a:t>Program Code Area</a:t>
            </a:r>
            <a:br>
              <a:rPr lang="en-US" dirty="0"/>
            </a:br>
            <a:r>
              <a:rPr lang="en-US" dirty="0"/>
              <a:t>------------------</a:t>
            </a:r>
            <a:br>
              <a:rPr lang="en-US" dirty="0"/>
            </a:br>
            <a:r>
              <a:rPr lang="en-US" dirty="0"/>
              <a:t>display()</a:t>
            </a:r>
            <a:br>
              <a:rPr lang="en-US" dirty="0"/>
            </a:br>
            <a:r>
              <a:rPr lang="en-US" dirty="0"/>
              <a:t>------------------</a:t>
            </a:r>
          </a:p>
          <a:p>
            <a:r>
              <a:rPr lang="en-US" dirty="0"/>
              <a:t>Both s1 and s2 use the same function.</a:t>
            </a:r>
          </a:p>
          <a:p>
            <a:endParaRPr lang="en-US" dirty="0"/>
          </a:p>
        </p:txBody>
      </p:sp>
    </p:spTree>
    <p:extLst>
      <p:ext uri="{BB962C8B-B14F-4D97-AF65-F5344CB8AC3E}">
        <p14:creationId xmlns:p14="http://schemas.microsoft.com/office/powerpoint/2010/main" val="39523261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54F3A-6376-45EE-940B-2359CD740016}"/>
              </a:ext>
            </a:extLst>
          </p:cNvPr>
          <p:cNvSpPr>
            <a:spLocks noGrp="1"/>
          </p:cNvSpPr>
          <p:nvPr>
            <p:ph type="title"/>
          </p:nvPr>
        </p:nvSpPr>
        <p:spPr>
          <a:xfrm>
            <a:off x="1069848" y="484632"/>
            <a:ext cx="10058400" cy="356940"/>
          </a:xfrm>
        </p:spPr>
        <p:txBody>
          <a:bodyPr>
            <a:normAutofit fontScale="90000"/>
          </a:bodyPr>
          <a:lstStyle/>
          <a:p>
            <a:r>
              <a:rPr lang="en-US" dirty="0"/>
              <a:t>…</a:t>
            </a:r>
          </a:p>
        </p:txBody>
      </p:sp>
      <p:sp>
        <p:nvSpPr>
          <p:cNvPr id="3" name="Content Placeholder 2">
            <a:extLst>
              <a:ext uri="{FF2B5EF4-FFF2-40B4-BE49-F238E27FC236}">
                <a16:creationId xmlns:a16="http://schemas.microsoft.com/office/drawing/2014/main" id="{C752D118-7C3D-8CE4-58FF-32EE1B6D060D}"/>
              </a:ext>
            </a:extLst>
          </p:cNvPr>
          <p:cNvSpPr>
            <a:spLocks noGrp="1"/>
          </p:cNvSpPr>
          <p:nvPr>
            <p:ph idx="1"/>
          </p:nvPr>
        </p:nvSpPr>
        <p:spPr>
          <a:xfrm>
            <a:off x="1069848" y="906308"/>
            <a:ext cx="10058400" cy="5265892"/>
          </a:xfrm>
        </p:spPr>
        <p:txBody>
          <a:bodyPr>
            <a:normAutofit fontScale="70000" lnSpcReduction="20000"/>
          </a:bodyPr>
          <a:lstStyle/>
          <a:p>
            <a:r>
              <a:rPr lang="en-US" b="1" dirty="0"/>
              <a:t>Real-Life Analogy</a:t>
            </a:r>
          </a:p>
          <a:p>
            <a:r>
              <a:rPr lang="en-US" dirty="0"/>
              <a:t>Imagine:</a:t>
            </a:r>
          </a:p>
          <a:p>
            <a:r>
              <a:rPr lang="en-US" b="1" dirty="0"/>
              <a:t>Objects = Students</a:t>
            </a:r>
          </a:p>
          <a:p>
            <a:r>
              <a:rPr lang="en-US" b="1" dirty="0"/>
              <a:t>Function = Teacher</a:t>
            </a:r>
          </a:p>
          <a:p>
            <a:r>
              <a:rPr lang="en-US" dirty="0"/>
              <a:t>Every student has:</a:t>
            </a:r>
          </a:p>
          <a:p>
            <a:r>
              <a:rPr lang="en-US" dirty="0"/>
              <a:t>their own notebook </a:t>
            </a:r>
          </a:p>
          <a:p>
            <a:r>
              <a:rPr lang="en-US" dirty="0"/>
              <a:t>their own marks </a:t>
            </a:r>
          </a:p>
          <a:p>
            <a:r>
              <a:rPr lang="en-US" dirty="0"/>
              <a:t>But one teacher teaches all students.</a:t>
            </a:r>
          </a:p>
          <a:p>
            <a:r>
              <a:rPr lang="en-US" dirty="0"/>
              <a:t>The teacher is not copied for every student.</a:t>
            </a:r>
          </a:p>
          <a:p>
            <a:r>
              <a:rPr lang="en-US" dirty="0"/>
              <a:t>Similarly:</a:t>
            </a:r>
          </a:p>
          <a:p>
            <a:r>
              <a:rPr lang="en-US" dirty="0"/>
              <a:t>Data members are separate for every object </a:t>
            </a:r>
          </a:p>
          <a:p>
            <a:r>
              <a:rPr lang="en-US" dirty="0"/>
              <a:t>Member functions are shared</a:t>
            </a:r>
          </a:p>
          <a:p>
            <a:r>
              <a:rPr lang="en-US" b="1" dirty="0"/>
              <a:t>Important Formula</a:t>
            </a:r>
          </a:p>
          <a:p>
            <a:r>
              <a:rPr lang="en-US" b="1" dirty="0"/>
              <a:t>Object Memory =</a:t>
            </a:r>
          </a:p>
          <a:p>
            <a:r>
              <a:rPr lang="en-US" dirty="0"/>
              <a:t>Memory of Data Members</a:t>
            </a:r>
          </a:p>
          <a:p>
            <a:r>
              <a:rPr lang="en-US" dirty="0"/>
              <a:t>Padding (sometimes) </a:t>
            </a:r>
          </a:p>
          <a:p>
            <a:r>
              <a:rPr lang="en-US" dirty="0"/>
              <a:t>NOT member functions.</a:t>
            </a:r>
          </a:p>
          <a:p>
            <a:endParaRPr lang="en-US" dirty="0"/>
          </a:p>
        </p:txBody>
      </p:sp>
    </p:spTree>
    <p:extLst>
      <p:ext uri="{BB962C8B-B14F-4D97-AF65-F5344CB8AC3E}">
        <p14:creationId xmlns:p14="http://schemas.microsoft.com/office/powerpoint/2010/main" val="18608794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07E48-681E-B1B8-48E4-099BF6429B7C}"/>
              </a:ext>
            </a:extLst>
          </p:cNvPr>
          <p:cNvSpPr>
            <a:spLocks noGrp="1"/>
          </p:cNvSpPr>
          <p:nvPr>
            <p:ph type="title"/>
          </p:nvPr>
        </p:nvSpPr>
        <p:spPr>
          <a:xfrm>
            <a:off x="1069848" y="484632"/>
            <a:ext cx="10058400" cy="421676"/>
          </a:xfrm>
        </p:spPr>
        <p:txBody>
          <a:bodyPr>
            <a:normAutofit fontScale="90000"/>
          </a:bodyPr>
          <a:lstStyle/>
          <a:p>
            <a:r>
              <a:rPr lang="en-US" dirty="0"/>
              <a:t>…</a:t>
            </a:r>
          </a:p>
        </p:txBody>
      </p:sp>
      <p:sp>
        <p:nvSpPr>
          <p:cNvPr id="3" name="Content Placeholder 2">
            <a:extLst>
              <a:ext uri="{FF2B5EF4-FFF2-40B4-BE49-F238E27FC236}">
                <a16:creationId xmlns:a16="http://schemas.microsoft.com/office/drawing/2014/main" id="{30FA591E-A807-D1E6-BC04-3714819D2595}"/>
              </a:ext>
            </a:extLst>
          </p:cNvPr>
          <p:cNvSpPr>
            <a:spLocks noGrp="1"/>
          </p:cNvSpPr>
          <p:nvPr>
            <p:ph idx="1"/>
          </p:nvPr>
        </p:nvSpPr>
        <p:spPr>
          <a:xfrm>
            <a:off x="1069848" y="906308"/>
            <a:ext cx="10058400" cy="5265892"/>
          </a:xfrm>
        </p:spPr>
        <p:txBody>
          <a:bodyPr>
            <a:normAutofit fontScale="40000" lnSpcReduction="20000"/>
          </a:bodyPr>
          <a:lstStyle/>
          <a:p>
            <a:r>
              <a:rPr lang="en-US" dirty="0"/>
              <a:t>Example</a:t>
            </a:r>
          </a:p>
          <a:p>
            <a:r>
              <a:rPr lang="en-US" dirty="0"/>
              <a:t>class Test {</a:t>
            </a:r>
          </a:p>
          <a:p>
            <a:r>
              <a:rPr lang="en-US" dirty="0"/>
              <a:t>    int a;      // 4 bytes</a:t>
            </a:r>
          </a:p>
          <a:p>
            <a:r>
              <a:rPr lang="en-US" dirty="0"/>
              <a:t>    char b;     // 1 byte</a:t>
            </a:r>
          </a:p>
          <a:p>
            <a:endParaRPr lang="en-US" dirty="0"/>
          </a:p>
          <a:p>
            <a:r>
              <a:rPr lang="en-US" dirty="0"/>
              <a:t>public:</a:t>
            </a:r>
          </a:p>
          <a:p>
            <a:r>
              <a:rPr lang="en-US" dirty="0"/>
              <a:t>    void show() {}</a:t>
            </a:r>
          </a:p>
          <a:p>
            <a:r>
              <a:rPr lang="en-US" dirty="0"/>
              <a:t>};</a:t>
            </a:r>
          </a:p>
          <a:p>
            <a:r>
              <a:rPr lang="en-US" b="1" dirty="0"/>
              <a:t>Expected Memory</a:t>
            </a:r>
          </a:p>
          <a:p>
            <a:r>
              <a:rPr lang="en-US" dirty="0"/>
              <a:t>a = 4 bytes</a:t>
            </a:r>
            <a:br>
              <a:rPr lang="en-US" dirty="0"/>
            </a:br>
            <a:r>
              <a:rPr lang="en-US" dirty="0"/>
              <a:t>b = 1 byte</a:t>
            </a:r>
          </a:p>
          <a:p>
            <a:r>
              <a:rPr lang="en-US" dirty="0"/>
              <a:t>You may think:</a:t>
            </a:r>
          </a:p>
          <a:p>
            <a:r>
              <a:rPr lang="en-US" dirty="0"/>
              <a:t>Total = 5 bytes</a:t>
            </a:r>
          </a:p>
          <a:p>
            <a:r>
              <a:rPr lang="en-US" dirty="0"/>
              <a:t>But compiler may add padding.</a:t>
            </a:r>
          </a:p>
          <a:p>
            <a:r>
              <a:rPr lang="en-US" dirty="0"/>
              <a:t>So actual size may become:</a:t>
            </a:r>
          </a:p>
          <a:p>
            <a:r>
              <a:rPr lang="en-US" dirty="0" err="1"/>
              <a:t>sizeof</a:t>
            </a:r>
            <a:r>
              <a:rPr lang="en-US" dirty="0"/>
              <a:t>(Test) = 8</a:t>
            </a:r>
          </a:p>
          <a:p>
            <a:r>
              <a:rPr lang="en-US" b="1" dirty="0"/>
              <a:t>Why Function Doesn't Increase Size?</a:t>
            </a:r>
          </a:p>
          <a:p>
            <a:r>
              <a:rPr lang="en-US" dirty="0"/>
              <a:t>Because if function memory were copied for every object:</a:t>
            </a:r>
          </a:p>
          <a:p>
            <a:r>
              <a:rPr lang="en-US" dirty="0"/>
              <a:t>Test t1, t2, t3, t4, t5;</a:t>
            </a:r>
          </a:p>
          <a:p>
            <a:r>
              <a:rPr lang="en-US" dirty="0"/>
              <a:t>then the same code would be copied again and again.</a:t>
            </a:r>
          </a:p>
          <a:p>
            <a:r>
              <a:rPr lang="en-US" dirty="0"/>
              <a:t>That would waste memory.</a:t>
            </a:r>
          </a:p>
          <a:p>
            <a:r>
              <a:rPr lang="en-US" dirty="0"/>
              <a:t>So C++ stores only one shared copy</a:t>
            </a:r>
          </a:p>
          <a:p>
            <a:endParaRPr lang="en-US" dirty="0"/>
          </a:p>
        </p:txBody>
      </p:sp>
    </p:spTree>
    <p:extLst>
      <p:ext uri="{BB962C8B-B14F-4D97-AF65-F5344CB8AC3E}">
        <p14:creationId xmlns:p14="http://schemas.microsoft.com/office/powerpoint/2010/main" val="39193373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A890F-55C6-49D3-A86B-811C2229504A}"/>
              </a:ext>
            </a:extLst>
          </p:cNvPr>
          <p:cNvSpPr>
            <a:spLocks noGrp="1"/>
          </p:cNvSpPr>
          <p:nvPr>
            <p:ph type="title"/>
          </p:nvPr>
        </p:nvSpPr>
        <p:spPr>
          <a:xfrm>
            <a:off x="1069848" y="484632"/>
            <a:ext cx="10058400" cy="454044"/>
          </a:xfrm>
        </p:spPr>
        <p:txBody>
          <a:bodyPr>
            <a:normAutofit fontScale="90000"/>
          </a:bodyPr>
          <a:lstStyle/>
          <a:p>
            <a:r>
              <a:rPr lang="en-US" dirty="0"/>
              <a:t>…</a:t>
            </a:r>
          </a:p>
        </p:txBody>
      </p:sp>
      <p:sp>
        <p:nvSpPr>
          <p:cNvPr id="3" name="Content Placeholder 2">
            <a:extLst>
              <a:ext uri="{FF2B5EF4-FFF2-40B4-BE49-F238E27FC236}">
                <a16:creationId xmlns:a16="http://schemas.microsoft.com/office/drawing/2014/main" id="{B4367365-3668-3667-AF81-E67595FF81DF}"/>
              </a:ext>
            </a:extLst>
          </p:cNvPr>
          <p:cNvSpPr>
            <a:spLocks noGrp="1"/>
          </p:cNvSpPr>
          <p:nvPr>
            <p:ph idx="1"/>
          </p:nvPr>
        </p:nvSpPr>
        <p:spPr>
          <a:xfrm>
            <a:off x="1069848" y="938676"/>
            <a:ext cx="10058400" cy="5818174"/>
          </a:xfrm>
        </p:spPr>
        <p:txBody>
          <a:bodyPr>
            <a:normAutofit fontScale="55000" lnSpcReduction="20000"/>
          </a:bodyPr>
          <a:lstStyle/>
          <a:p>
            <a:r>
              <a:rPr lang="en-US" dirty="0"/>
              <a:t>CLASS</a:t>
            </a:r>
          </a:p>
          <a:p>
            <a:r>
              <a:rPr lang="en-US" dirty="0"/>
              <a:t>        +------------------+</a:t>
            </a:r>
          </a:p>
          <a:p>
            <a:r>
              <a:rPr lang="en-US" dirty="0"/>
              <a:t>        | Data Members     |</a:t>
            </a:r>
          </a:p>
          <a:p>
            <a:r>
              <a:rPr lang="en-US" dirty="0"/>
              <a:t>        | Member Functions |</a:t>
            </a:r>
          </a:p>
          <a:p>
            <a:r>
              <a:rPr lang="en-US" dirty="0"/>
              <a:t>        +------------------+</a:t>
            </a:r>
          </a:p>
          <a:p>
            <a:r>
              <a:rPr lang="en-US" dirty="0"/>
              <a:t>                 ↓</a:t>
            </a:r>
          </a:p>
          <a:p>
            <a:r>
              <a:rPr lang="en-US" dirty="0"/>
              <a:t>        OBJECT CREATED</a:t>
            </a:r>
          </a:p>
          <a:p>
            <a:r>
              <a:rPr lang="en-US" dirty="0"/>
              <a:t>        +------------------+</a:t>
            </a:r>
          </a:p>
          <a:p>
            <a:r>
              <a:rPr lang="en-US" dirty="0"/>
              <a:t>        | Data Members     |  ← stored</a:t>
            </a:r>
          </a:p>
          <a:p>
            <a:r>
              <a:rPr lang="en-US" dirty="0"/>
              <a:t>        +------------------+</a:t>
            </a:r>
          </a:p>
          <a:p>
            <a:r>
              <a:rPr lang="en-US" dirty="0"/>
              <a:t>Functions are NOT stored here.</a:t>
            </a:r>
          </a:p>
          <a:p>
            <a:r>
              <a:rPr lang="en-US" b="1" dirty="0"/>
              <a:t>Special Case: Virtual Functions</a:t>
            </a:r>
          </a:p>
          <a:p>
            <a:r>
              <a:rPr lang="en-US" dirty="0"/>
              <a:t>If class has virtual functions:</a:t>
            </a:r>
          </a:p>
          <a:p>
            <a:r>
              <a:rPr lang="en-US" dirty="0"/>
              <a:t>class A {</a:t>
            </a:r>
            <a:br>
              <a:rPr lang="en-US" dirty="0"/>
            </a:br>
            <a:r>
              <a:rPr lang="en-US" dirty="0"/>
              <a:t>public:</a:t>
            </a:r>
            <a:br>
              <a:rPr lang="en-US" dirty="0"/>
            </a:br>
            <a:r>
              <a:rPr lang="en-US" dirty="0"/>
              <a:t>    virtual void show() {}</a:t>
            </a:r>
            <a:br>
              <a:rPr lang="en-US" dirty="0"/>
            </a:br>
            <a:r>
              <a:rPr lang="en-US" dirty="0"/>
              <a:t>};</a:t>
            </a:r>
          </a:p>
          <a:p>
            <a:r>
              <a:rPr lang="en-US" dirty="0"/>
              <a:t>then object contains a hidden pointer:</a:t>
            </a:r>
          </a:p>
          <a:p>
            <a:r>
              <a:rPr lang="en-US" dirty="0" err="1"/>
              <a:t>vptr</a:t>
            </a:r>
            <a:endParaRPr lang="en-US" dirty="0"/>
          </a:p>
          <a:p>
            <a:r>
              <a:rPr lang="en-US" dirty="0"/>
              <a:t>So object size increases.</a:t>
            </a:r>
          </a:p>
          <a:p>
            <a:r>
              <a:rPr lang="en-US" dirty="0"/>
              <a:t>But still:</a:t>
            </a:r>
          </a:p>
          <a:p>
            <a:r>
              <a:rPr lang="en-US" dirty="0"/>
              <a:t>function code is shared </a:t>
            </a:r>
          </a:p>
          <a:p>
            <a:r>
              <a:rPr lang="en-US" dirty="0"/>
              <a:t>only pointer is added</a:t>
            </a:r>
          </a:p>
          <a:p>
            <a:endParaRPr lang="en-US" dirty="0"/>
          </a:p>
        </p:txBody>
      </p:sp>
    </p:spTree>
    <p:extLst>
      <p:ext uri="{BB962C8B-B14F-4D97-AF65-F5344CB8AC3E}">
        <p14:creationId xmlns:p14="http://schemas.microsoft.com/office/powerpoint/2010/main" val="35042820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404A4-856E-5D9D-CBC7-F9193FF1154D}"/>
              </a:ext>
            </a:extLst>
          </p:cNvPr>
          <p:cNvSpPr>
            <a:spLocks noGrp="1"/>
          </p:cNvSpPr>
          <p:nvPr>
            <p:ph type="title"/>
          </p:nvPr>
        </p:nvSpPr>
        <p:spPr>
          <a:xfrm>
            <a:off x="1069848" y="484632"/>
            <a:ext cx="10058400" cy="437860"/>
          </a:xfrm>
        </p:spPr>
        <p:txBody>
          <a:bodyPr>
            <a:normAutofit fontScale="90000"/>
          </a:bodyPr>
          <a:lstStyle/>
          <a:p>
            <a:r>
              <a:rPr lang="en-US" dirty="0"/>
              <a:t>…</a:t>
            </a:r>
          </a:p>
        </p:txBody>
      </p:sp>
      <p:sp>
        <p:nvSpPr>
          <p:cNvPr id="3" name="Content Placeholder 2">
            <a:extLst>
              <a:ext uri="{FF2B5EF4-FFF2-40B4-BE49-F238E27FC236}">
                <a16:creationId xmlns:a16="http://schemas.microsoft.com/office/drawing/2014/main" id="{81B158DD-B62D-7A4D-1610-2C1A7F3023D3}"/>
              </a:ext>
            </a:extLst>
          </p:cNvPr>
          <p:cNvSpPr>
            <a:spLocks noGrp="1"/>
          </p:cNvSpPr>
          <p:nvPr>
            <p:ph idx="1"/>
          </p:nvPr>
        </p:nvSpPr>
        <p:spPr>
          <a:xfrm>
            <a:off x="1069848" y="922492"/>
            <a:ext cx="10058400" cy="5249708"/>
          </a:xfrm>
        </p:spPr>
        <p:txBody>
          <a:bodyPr/>
          <a:lstStyle/>
          <a:p>
            <a:r>
              <a:rPr lang="en-US" dirty="0"/>
              <a:t>Final Concept</a:t>
            </a:r>
          </a:p>
          <a:p>
            <a:endParaRPr lang="en-US" dirty="0"/>
          </a:p>
          <a:p>
            <a:endParaRPr lang="en-US" dirty="0"/>
          </a:p>
          <a:p>
            <a:endParaRPr lang="en-US" dirty="0"/>
          </a:p>
          <a:p>
            <a:endParaRPr lang="en-US" dirty="0"/>
          </a:p>
          <a:p>
            <a:pPr marL="0" indent="0">
              <a:buNone/>
            </a:pPr>
            <a:endParaRPr lang="en-US" dirty="0"/>
          </a:p>
          <a:p>
            <a:r>
              <a:rPr lang="en-US" b="1" dirty="0"/>
              <a:t>Toppers Exam Statement</a:t>
            </a:r>
          </a:p>
          <a:p>
            <a:r>
              <a:rPr lang="en-US" dirty="0"/>
              <a:t>Data members occupy memory separately for each object, while member functions are stored only once in program memory and shared by all objects of the class.</a:t>
            </a:r>
          </a:p>
          <a:p>
            <a:endParaRPr lang="en-US" dirty="0"/>
          </a:p>
          <a:p>
            <a:endParaRPr lang="en-US" dirty="0"/>
          </a:p>
        </p:txBody>
      </p:sp>
      <p:graphicFrame>
        <p:nvGraphicFramePr>
          <p:cNvPr id="4" name="Table 3">
            <a:extLst>
              <a:ext uri="{FF2B5EF4-FFF2-40B4-BE49-F238E27FC236}">
                <a16:creationId xmlns:a16="http://schemas.microsoft.com/office/drawing/2014/main" id="{82D52B00-A8E4-E668-DF6A-FDEAA3A0480C}"/>
              </a:ext>
            </a:extLst>
          </p:cNvPr>
          <p:cNvGraphicFramePr>
            <a:graphicFrameLocks noGrp="1"/>
          </p:cNvGraphicFramePr>
          <p:nvPr>
            <p:extLst>
              <p:ext uri="{D42A27DB-BD31-4B8C-83A1-F6EECF244321}">
                <p14:modId xmlns:p14="http://schemas.microsoft.com/office/powerpoint/2010/main" val="465092485"/>
              </p:ext>
            </p:extLst>
          </p:nvPr>
        </p:nvGraphicFramePr>
        <p:xfrm>
          <a:off x="1066800" y="1325880"/>
          <a:ext cx="10058400" cy="2103120"/>
        </p:xfrm>
        <a:graphic>
          <a:graphicData uri="http://schemas.openxmlformats.org/drawingml/2006/table">
            <a:tbl>
              <a:tblPr/>
              <a:tblGrid>
                <a:gridCol w="3352800">
                  <a:extLst>
                    <a:ext uri="{9D8B030D-6E8A-4147-A177-3AD203B41FA5}">
                      <a16:colId xmlns:a16="http://schemas.microsoft.com/office/drawing/2014/main" val="954044954"/>
                    </a:ext>
                  </a:extLst>
                </a:gridCol>
                <a:gridCol w="3352800">
                  <a:extLst>
                    <a:ext uri="{9D8B030D-6E8A-4147-A177-3AD203B41FA5}">
                      <a16:colId xmlns:a16="http://schemas.microsoft.com/office/drawing/2014/main" val="1926259327"/>
                    </a:ext>
                  </a:extLst>
                </a:gridCol>
                <a:gridCol w="3352800">
                  <a:extLst>
                    <a:ext uri="{9D8B030D-6E8A-4147-A177-3AD203B41FA5}">
                      <a16:colId xmlns:a16="http://schemas.microsoft.com/office/drawing/2014/main" val="1998253223"/>
                    </a:ext>
                  </a:extLst>
                </a:gridCol>
              </a:tblGrid>
              <a:tr h="579676">
                <a:tc>
                  <a:txBody>
                    <a:bodyPr/>
                    <a:lstStyle/>
                    <a:p>
                      <a:pPr>
                        <a:buNone/>
                      </a:pPr>
                      <a:r>
                        <a:rPr lang="en-US" dirty="0"/>
                        <a:t>Thing</a:t>
                      </a:r>
                    </a:p>
                  </a:txBody>
                  <a:tcPr anchor="ctr">
                    <a:lnL>
                      <a:noFill/>
                    </a:lnL>
                    <a:lnR>
                      <a:noFill/>
                    </a:lnR>
                    <a:lnT>
                      <a:noFill/>
                    </a:lnT>
                    <a:lnB>
                      <a:noFill/>
                    </a:lnB>
                    <a:noFill/>
                  </a:tcPr>
                </a:tc>
                <a:tc>
                  <a:txBody>
                    <a:bodyPr/>
                    <a:lstStyle/>
                    <a:p>
                      <a:pPr>
                        <a:buNone/>
                      </a:pPr>
                      <a:r>
                        <a:rPr lang="en-US"/>
                        <a:t>Stored in Object?</a:t>
                      </a:r>
                    </a:p>
                  </a:txBody>
                  <a:tcPr anchor="ctr">
                    <a:lnL>
                      <a:noFill/>
                    </a:lnL>
                    <a:lnR>
                      <a:noFill/>
                    </a:lnR>
                    <a:lnT>
                      <a:noFill/>
                    </a:lnT>
                    <a:lnB>
                      <a:noFill/>
                    </a:lnB>
                    <a:noFill/>
                  </a:tcPr>
                </a:tc>
                <a:tc>
                  <a:txBody>
                    <a:bodyPr/>
                    <a:lstStyle/>
                    <a:p>
                      <a:pPr>
                        <a:buNone/>
                      </a:pPr>
                      <a:r>
                        <a:rPr lang="en-US"/>
                        <a:t>Separate Copy for Every Object?</a:t>
                      </a:r>
                    </a:p>
                  </a:txBody>
                  <a:tcPr anchor="ctr">
                    <a:lnL>
                      <a:noFill/>
                    </a:lnL>
                    <a:lnR>
                      <a:noFill/>
                    </a:lnR>
                    <a:lnT>
                      <a:noFill/>
                    </a:lnT>
                    <a:lnB>
                      <a:noFill/>
                    </a:lnB>
                    <a:noFill/>
                  </a:tcPr>
                </a:tc>
                <a:extLst>
                  <a:ext uri="{0D108BD9-81ED-4DB2-BD59-A6C34878D82A}">
                    <a16:rowId xmlns:a16="http://schemas.microsoft.com/office/drawing/2014/main" val="25881496"/>
                  </a:ext>
                </a:extLst>
              </a:tr>
              <a:tr h="331244">
                <a:tc>
                  <a:txBody>
                    <a:bodyPr/>
                    <a:lstStyle/>
                    <a:p>
                      <a:pPr>
                        <a:buNone/>
                      </a:pPr>
                      <a:r>
                        <a:rPr lang="en-US"/>
                        <a:t>Data Members</a:t>
                      </a:r>
                    </a:p>
                  </a:txBody>
                  <a:tcPr anchor="ctr">
                    <a:lnL>
                      <a:noFill/>
                    </a:lnL>
                    <a:lnR>
                      <a:noFill/>
                    </a:lnR>
                    <a:lnT>
                      <a:noFill/>
                    </a:lnT>
                    <a:lnB>
                      <a:noFill/>
                    </a:lnB>
                    <a:noFill/>
                  </a:tcPr>
                </a:tc>
                <a:tc>
                  <a:txBody>
                    <a:bodyPr/>
                    <a:lstStyle/>
                    <a:p>
                      <a:pPr>
                        <a:buNone/>
                      </a:pPr>
                      <a:r>
                        <a:rPr lang="en-US"/>
                        <a:t>Yes</a:t>
                      </a:r>
                    </a:p>
                  </a:txBody>
                  <a:tcPr anchor="ctr">
                    <a:lnL>
                      <a:noFill/>
                    </a:lnL>
                    <a:lnR>
                      <a:noFill/>
                    </a:lnR>
                    <a:lnT>
                      <a:noFill/>
                    </a:lnT>
                    <a:lnB>
                      <a:noFill/>
                    </a:lnB>
                    <a:noFill/>
                  </a:tcPr>
                </a:tc>
                <a:tc>
                  <a:txBody>
                    <a:bodyPr/>
                    <a:lstStyle/>
                    <a:p>
                      <a:pPr>
                        <a:buNone/>
                      </a:pPr>
                      <a:r>
                        <a:rPr lang="en-US"/>
                        <a:t>Yes</a:t>
                      </a:r>
                    </a:p>
                  </a:txBody>
                  <a:tcPr anchor="ctr">
                    <a:lnL>
                      <a:noFill/>
                    </a:lnL>
                    <a:lnR>
                      <a:noFill/>
                    </a:lnR>
                    <a:lnT>
                      <a:noFill/>
                    </a:lnT>
                    <a:lnB>
                      <a:noFill/>
                    </a:lnB>
                    <a:noFill/>
                  </a:tcPr>
                </a:tc>
                <a:extLst>
                  <a:ext uri="{0D108BD9-81ED-4DB2-BD59-A6C34878D82A}">
                    <a16:rowId xmlns:a16="http://schemas.microsoft.com/office/drawing/2014/main" val="1819059914"/>
                  </a:ext>
                </a:extLst>
              </a:tr>
              <a:tr h="331244">
                <a:tc>
                  <a:txBody>
                    <a:bodyPr/>
                    <a:lstStyle/>
                    <a:p>
                      <a:pPr>
                        <a:buNone/>
                      </a:pPr>
                      <a:r>
                        <a:rPr lang="en-US"/>
                        <a:t>Member Functions</a:t>
                      </a:r>
                    </a:p>
                  </a:txBody>
                  <a:tcPr anchor="ctr">
                    <a:lnL>
                      <a:noFill/>
                    </a:lnL>
                    <a:lnR>
                      <a:noFill/>
                    </a:lnR>
                    <a:lnT>
                      <a:noFill/>
                    </a:lnT>
                    <a:lnB>
                      <a:noFill/>
                    </a:lnB>
                    <a:noFill/>
                  </a:tcPr>
                </a:tc>
                <a:tc>
                  <a:txBody>
                    <a:bodyPr/>
                    <a:lstStyle/>
                    <a:p>
                      <a:pPr>
                        <a:buNone/>
                      </a:pPr>
                      <a:r>
                        <a:rPr lang="en-US" dirty="0"/>
                        <a:t>No</a:t>
                      </a:r>
                    </a:p>
                  </a:txBody>
                  <a:tcPr anchor="ctr">
                    <a:lnL>
                      <a:noFill/>
                    </a:lnL>
                    <a:lnR>
                      <a:noFill/>
                    </a:lnR>
                    <a:lnT>
                      <a:noFill/>
                    </a:lnT>
                    <a:lnB>
                      <a:noFill/>
                    </a:lnB>
                    <a:noFill/>
                  </a:tcPr>
                </a:tc>
                <a:tc>
                  <a:txBody>
                    <a:bodyPr/>
                    <a:lstStyle/>
                    <a:p>
                      <a:pPr>
                        <a:buNone/>
                      </a:pPr>
                      <a:r>
                        <a:rPr lang="en-US"/>
                        <a:t>No</a:t>
                      </a:r>
                    </a:p>
                  </a:txBody>
                  <a:tcPr anchor="ctr">
                    <a:lnL>
                      <a:noFill/>
                    </a:lnL>
                    <a:lnR>
                      <a:noFill/>
                    </a:lnR>
                    <a:lnT>
                      <a:noFill/>
                    </a:lnT>
                    <a:lnB>
                      <a:noFill/>
                    </a:lnB>
                    <a:noFill/>
                  </a:tcPr>
                </a:tc>
                <a:extLst>
                  <a:ext uri="{0D108BD9-81ED-4DB2-BD59-A6C34878D82A}">
                    <a16:rowId xmlns:a16="http://schemas.microsoft.com/office/drawing/2014/main" val="2119371779"/>
                  </a:ext>
                </a:extLst>
              </a:tr>
              <a:tr h="331244">
                <a:tc>
                  <a:txBody>
                    <a:bodyPr/>
                    <a:lstStyle/>
                    <a:p>
                      <a:pPr>
                        <a:buNone/>
                      </a:pPr>
                      <a:r>
                        <a:rPr lang="en-US"/>
                        <a:t>Static Members</a:t>
                      </a:r>
                    </a:p>
                  </a:txBody>
                  <a:tcPr anchor="ctr">
                    <a:lnL>
                      <a:noFill/>
                    </a:lnL>
                    <a:lnR>
                      <a:noFill/>
                    </a:lnR>
                    <a:lnT>
                      <a:noFill/>
                    </a:lnT>
                    <a:lnB>
                      <a:noFill/>
                    </a:lnB>
                    <a:noFill/>
                  </a:tcPr>
                </a:tc>
                <a:tc>
                  <a:txBody>
                    <a:bodyPr/>
                    <a:lstStyle/>
                    <a:p>
                      <a:pPr>
                        <a:buNone/>
                      </a:pPr>
                      <a:r>
                        <a:rPr lang="en-US"/>
                        <a:t>No</a:t>
                      </a:r>
                    </a:p>
                  </a:txBody>
                  <a:tcPr anchor="ctr">
                    <a:lnL>
                      <a:noFill/>
                    </a:lnL>
                    <a:lnR>
                      <a:noFill/>
                    </a:lnR>
                    <a:lnT>
                      <a:noFill/>
                    </a:lnT>
                    <a:lnB>
                      <a:noFill/>
                    </a:lnB>
                    <a:noFill/>
                  </a:tcPr>
                </a:tc>
                <a:tc>
                  <a:txBody>
                    <a:bodyPr/>
                    <a:lstStyle/>
                    <a:p>
                      <a:pPr>
                        <a:buNone/>
                      </a:pPr>
                      <a:r>
                        <a:rPr lang="en-US"/>
                        <a:t>No</a:t>
                      </a:r>
                    </a:p>
                  </a:txBody>
                  <a:tcPr anchor="ctr">
                    <a:lnL>
                      <a:noFill/>
                    </a:lnL>
                    <a:lnR>
                      <a:noFill/>
                    </a:lnR>
                    <a:lnT>
                      <a:noFill/>
                    </a:lnT>
                    <a:lnB>
                      <a:noFill/>
                    </a:lnB>
                    <a:noFill/>
                  </a:tcPr>
                </a:tc>
                <a:extLst>
                  <a:ext uri="{0D108BD9-81ED-4DB2-BD59-A6C34878D82A}">
                    <a16:rowId xmlns:a16="http://schemas.microsoft.com/office/drawing/2014/main" val="3324964705"/>
                  </a:ext>
                </a:extLst>
              </a:tr>
              <a:tr h="331244">
                <a:tc>
                  <a:txBody>
                    <a:bodyPr/>
                    <a:lstStyle/>
                    <a:p>
                      <a:pPr>
                        <a:buNone/>
                      </a:pPr>
                      <a:r>
                        <a:rPr lang="en-US" dirty="0"/>
                        <a:t>Virtual Function Pointer (</a:t>
                      </a:r>
                      <a:r>
                        <a:rPr lang="en-US" dirty="0" err="1"/>
                        <a:t>vptr</a:t>
                      </a:r>
                      <a:r>
                        <a:rPr lang="en-US" dirty="0"/>
                        <a:t>)</a:t>
                      </a:r>
                    </a:p>
                  </a:txBody>
                  <a:tcPr anchor="ctr">
                    <a:lnL>
                      <a:noFill/>
                    </a:lnL>
                    <a:lnR>
                      <a:noFill/>
                    </a:lnR>
                    <a:lnT>
                      <a:noFill/>
                    </a:lnT>
                    <a:lnB>
                      <a:noFill/>
                    </a:lnB>
                    <a:noFill/>
                  </a:tcPr>
                </a:tc>
                <a:tc>
                  <a:txBody>
                    <a:bodyPr/>
                    <a:lstStyle/>
                    <a:p>
                      <a:pPr>
                        <a:buNone/>
                      </a:pPr>
                      <a:r>
                        <a:rPr lang="en-US"/>
                        <a:t>Yes</a:t>
                      </a:r>
                    </a:p>
                  </a:txBody>
                  <a:tcPr anchor="ctr">
                    <a:lnL>
                      <a:noFill/>
                    </a:lnL>
                    <a:lnR>
                      <a:noFill/>
                    </a:lnR>
                    <a:lnT>
                      <a:noFill/>
                    </a:lnT>
                    <a:lnB>
                      <a:noFill/>
                    </a:lnB>
                    <a:noFill/>
                  </a:tcPr>
                </a:tc>
                <a:tc>
                  <a:txBody>
                    <a:bodyPr/>
                    <a:lstStyle/>
                    <a:p>
                      <a:pPr>
                        <a:buNone/>
                      </a:pPr>
                      <a:r>
                        <a:rPr lang="en-US" dirty="0"/>
                        <a:t>Yes</a:t>
                      </a:r>
                    </a:p>
                  </a:txBody>
                  <a:tcPr anchor="ctr">
                    <a:lnL>
                      <a:noFill/>
                    </a:lnL>
                    <a:lnR>
                      <a:noFill/>
                    </a:lnR>
                    <a:lnT>
                      <a:noFill/>
                    </a:lnT>
                    <a:lnB>
                      <a:noFill/>
                    </a:lnB>
                    <a:noFill/>
                  </a:tcPr>
                </a:tc>
                <a:extLst>
                  <a:ext uri="{0D108BD9-81ED-4DB2-BD59-A6C34878D82A}">
                    <a16:rowId xmlns:a16="http://schemas.microsoft.com/office/drawing/2014/main" val="3158562847"/>
                  </a:ext>
                </a:extLst>
              </a:tr>
            </a:tbl>
          </a:graphicData>
        </a:graphic>
      </p:graphicFrame>
    </p:spTree>
    <p:extLst>
      <p:ext uri="{BB962C8B-B14F-4D97-AF65-F5344CB8AC3E}">
        <p14:creationId xmlns:p14="http://schemas.microsoft.com/office/powerpoint/2010/main" val="13277995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9E9D3-3380-454B-11C2-42605B3B4A3A}"/>
              </a:ext>
            </a:extLst>
          </p:cNvPr>
          <p:cNvSpPr>
            <a:spLocks noGrp="1"/>
          </p:cNvSpPr>
          <p:nvPr>
            <p:ph type="title"/>
          </p:nvPr>
        </p:nvSpPr>
        <p:spPr>
          <a:xfrm>
            <a:off x="1069848" y="484632"/>
            <a:ext cx="10058400" cy="429768"/>
          </a:xfrm>
        </p:spPr>
        <p:txBody>
          <a:bodyPr>
            <a:normAutofit fontScale="90000"/>
          </a:bodyPr>
          <a:lstStyle/>
          <a:p>
            <a:r>
              <a:rPr lang="en-US" dirty="0"/>
              <a:t>padding</a:t>
            </a:r>
          </a:p>
        </p:txBody>
      </p:sp>
      <p:sp>
        <p:nvSpPr>
          <p:cNvPr id="3" name="Content Placeholder 2">
            <a:extLst>
              <a:ext uri="{FF2B5EF4-FFF2-40B4-BE49-F238E27FC236}">
                <a16:creationId xmlns:a16="http://schemas.microsoft.com/office/drawing/2014/main" id="{1DA78CAA-2BDB-63C1-D40D-70F0B0AB1C84}"/>
              </a:ext>
            </a:extLst>
          </p:cNvPr>
          <p:cNvSpPr>
            <a:spLocks noGrp="1"/>
          </p:cNvSpPr>
          <p:nvPr>
            <p:ph idx="1"/>
          </p:nvPr>
        </p:nvSpPr>
        <p:spPr>
          <a:xfrm>
            <a:off x="1069848" y="914400"/>
            <a:ext cx="10058400" cy="5257800"/>
          </a:xfrm>
        </p:spPr>
        <p:txBody>
          <a:bodyPr>
            <a:normAutofit/>
          </a:bodyPr>
          <a:lstStyle/>
          <a:p>
            <a:r>
              <a:rPr lang="en-US" dirty="0"/>
              <a:t>Extra unused bytes added by the compiler inside an object to make memory access faster and more efficient.</a:t>
            </a:r>
          </a:p>
          <a:p>
            <a:r>
              <a:rPr lang="en-US" b="1" dirty="0"/>
              <a:t>Why Padding is Needed?</a:t>
            </a:r>
          </a:p>
          <a:p>
            <a:r>
              <a:rPr lang="en-US" dirty="0"/>
              <a:t>Computer memory works faster when data is stored at certain addresses called </a:t>
            </a:r>
            <a:r>
              <a:rPr lang="en-US" b="1" dirty="0"/>
              <a:t>aligned addresses</a:t>
            </a:r>
            <a:r>
              <a:rPr lang="en-US" dirty="0"/>
              <a:t>.</a:t>
            </a:r>
          </a:p>
          <a:p>
            <a:r>
              <a:rPr lang="en-US" dirty="0"/>
              <a:t>For example:</a:t>
            </a:r>
          </a:p>
          <a:p>
            <a:endParaRPr lang="en-US" dirty="0"/>
          </a:p>
          <a:p>
            <a:endParaRPr lang="en-US" dirty="0"/>
          </a:p>
          <a:p>
            <a:endParaRPr lang="en-US" dirty="0"/>
          </a:p>
          <a:p>
            <a:r>
              <a:rPr lang="en-US" dirty="0"/>
              <a:t>So compiler may insert empty bytes between variables.</a:t>
            </a:r>
          </a:p>
          <a:p>
            <a:endParaRPr lang="en-US" dirty="0"/>
          </a:p>
          <a:p>
            <a:endParaRPr lang="en-US" dirty="0"/>
          </a:p>
          <a:p>
            <a:endParaRPr lang="en-US" dirty="0"/>
          </a:p>
          <a:p>
            <a:endParaRPr lang="en-US" dirty="0"/>
          </a:p>
          <a:p>
            <a:endParaRPr lang="en-US" dirty="0"/>
          </a:p>
          <a:p>
            <a:endParaRPr lang="en-US" dirty="0"/>
          </a:p>
        </p:txBody>
      </p:sp>
      <p:graphicFrame>
        <p:nvGraphicFramePr>
          <p:cNvPr id="4" name="Table 3">
            <a:extLst>
              <a:ext uri="{FF2B5EF4-FFF2-40B4-BE49-F238E27FC236}">
                <a16:creationId xmlns:a16="http://schemas.microsoft.com/office/drawing/2014/main" id="{83858AED-EFB8-B7E2-A03F-6478E13A899F}"/>
              </a:ext>
            </a:extLst>
          </p:cNvPr>
          <p:cNvGraphicFramePr>
            <a:graphicFrameLocks noGrp="1"/>
          </p:cNvGraphicFramePr>
          <p:nvPr>
            <p:extLst>
              <p:ext uri="{D42A27DB-BD31-4B8C-83A1-F6EECF244321}">
                <p14:modId xmlns:p14="http://schemas.microsoft.com/office/powerpoint/2010/main" val="1360522825"/>
              </p:ext>
            </p:extLst>
          </p:nvPr>
        </p:nvGraphicFramePr>
        <p:xfrm>
          <a:off x="1158988" y="3067073"/>
          <a:ext cx="7839356" cy="1463040"/>
        </p:xfrm>
        <a:graphic>
          <a:graphicData uri="http://schemas.openxmlformats.org/drawingml/2006/table">
            <a:tbl>
              <a:tblPr/>
              <a:tblGrid>
                <a:gridCol w="3919678">
                  <a:extLst>
                    <a:ext uri="{9D8B030D-6E8A-4147-A177-3AD203B41FA5}">
                      <a16:colId xmlns:a16="http://schemas.microsoft.com/office/drawing/2014/main" val="1486691487"/>
                    </a:ext>
                  </a:extLst>
                </a:gridCol>
                <a:gridCol w="3919678">
                  <a:extLst>
                    <a:ext uri="{9D8B030D-6E8A-4147-A177-3AD203B41FA5}">
                      <a16:colId xmlns:a16="http://schemas.microsoft.com/office/drawing/2014/main" val="2649173640"/>
                    </a:ext>
                  </a:extLst>
                </a:gridCol>
              </a:tblGrid>
              <a:tr h="0">
                <a:tc>
                  <a:txBody>
                    <a:bodyPr/>
                    <a:lstStyle/>
                    <a:p>
                      <a:pPr>
                        <a:buNone/>
                      </a:pPr>
                      <a:r>
                        <a:rPr lang="en-US"/>
                        <a:t>Data Type</a:t>
                      </a:r>
                    </a:p>
                  </a:txBody>
                  <a:tcPr anchor="ctr">
                    <a:lnL>
                      <a:noFill/>
                    </a:lnL>
                    <a:lnR>
                      <a:noFill/>
                    </a:lnR>
                    <a:lnT>
                      <a:noFill/>
                    </a:lnT>
                    <a:lnB>
                      <a:noFill/>
                    </a:lnB>
                    <a:noFill/>
                  </a:tcPr>
                </a:tc>
                <a:tc>
                  <a:txBody>
                    <a:bodyPr/>
                    <a:lstStyle/>
                    <a:p>
                      <a:pPr>
                        <a:buNone/>
                      </a:pPr>
                      <a:r>
                        <a:rPr lang="en-US"/>
                        <a:t>Preferred Alignment</a:t>
                      </a:r>
                    </a:p>
                  </a:txBody>
                  <a:tcPr anchor="ctr">
                    <a:lnL>
                      <a:noFill/>
                    </a:lnL>
                    <a:lnR>
                      <a:noFill/>
                    </a:lnR>
                    <a:lnT>
                      <a:noFill/>
                    </a:lnT>
                    <a:lnB>
                      <a:noFill/>
                    </a:lnB>
                    <a:noFill/>
                  </a:tcPr>
                </a:tc>
                <a:extLst>
                  <a:ext uri="{0D108BD9-81ED-4DB2-BD59-A6C34878D82A}">
                    <a16:rowId xmlns:a16="http://schemas.microsoft.com/office/drawing/2014/main" val="2345489925"/>
                  </a:ext>
                </a:extLst>
              </a:tr>
              <a:tr h="0">
                <a:tc>
                  <a:txBody>
                    <a:bodyPr/>
                    <a:lstStyle/>
                    <a:p>
                      <a:pPr>
                        <a:buNone/>
                      </a:pPr>
                      <a:r>
                        <a:rPr lang="en-US">
                          <a:latin typeface="Courier New" panose="02070309020205020404" pitchFamily="49" charset="0"/>
                        </a:rPr>
                        <a:t>char</a:t>
                      </a:r>
                      <a:endParaRPr lang="en-US"/>
                    </a:p>
                  </a:txBody>
                  <a:tcPr anchor="ctr">
                    <a:lnL>
                      <a:noFill/>
                    </a:lnL>
                    <a:lnR>
                      <a:noFill/>
                    </a:lnR>
                    <a:lnT>
                      <a:noFill/>
                    </a:lnT>
                    <a:lnB>
                      <a:noFill/>
                    </a:lnB>
                    <a:noFill/>
                  </a:tcPr>
                </a:tc>
                <a:tc>
                  <a:txBody>
                    <a:bodyPr/>
                    <a:lstStyle/>
                    <a:p>
                      <a:pPr>
                        <a:buNone/>
                      </a:pPr>
                      <a:r>
                        <a:rPr lang="en-US" dirty="0"/>
                        <a:t>1 byte boundary</a:t>
                      </a:r>
                    </a:p>
                  </a:txBody>
                  <a:tcPr anchor="ctr">
                    <a:lnL>
                      <a:noFill/>
                    </a:lnL>
                    <a:lnR>
                      <a:noFill/>
                    </a:lnR>
                    <a:lnT>
                      <a:noFill/>
                    </a:lnT>
                    <a:lnB>
                      <a:noFill/>
                    </a:lnB>
                    <a:noFill/>
                  </a:tcPr>
                </a:tc>
                <a:extLst>
                  <a:ext uri="{0D108BD9-81ED-4DB2-BD59-A6C34878D82A}">
                    <a16:rowId xmlns:a16="http://schemas.microsoft.com/office/drawing/2014/main" val="3243570706"/>
                  </a:ext>
                </a:extLst>
              </a:tr>
              <a:tr h="0">
                <a:tc>
                  <a:txBody>
                    <a:bodyPr/>
                    <a:lstStyle/>
                    <a:p>
                      <a:pPr>
                        <a:buNone/>
                      </a:pPr>
                      <a:r>
                        <a:rPr lang="en-US" dirty="0">
                          <a:latin typeface="Courier New" panose="02070309020205020404" pitchFamily="49" charset="0"/>
                        </a:rPr>
                        <a:t>int</a:t>
                      </a:r>
                      <a:endParaRPr lang="en-US" dirty="0"/>
                    </a:p>
                  </a:txBody>
                  <a:tcPr anchor="ctr">
                    <a:lnL>
                      <a:noFill/>
                    </a:lnL>
                    <a:lnR>
                      <a:noFill/>
                    </a:lnR>
                    <a:lnT>
                      <a:noFill/>
                    </a:lnT>
                    <a:lnB>
                      <a:noFill/>
                    </a:lnB>
                    <a:noFill/>
                  </a:tcPr>
                </a:tc>
                <a:tc>
                  <a:txBody>
                    <a:bodyPr/>
                    <a:lstStyle/>
                    <a:p>
                      <a:pPr>
                        <a:buNone/>
                      </a:pPr>
                      <a:r>
                        <a:rPr lang="en-US" dirty="0"/>
                        <a:t>4 byte boundary</a:t>
                      </a:r>
                    </a:p>
                  </a:txBody>
                  <a:tcPr anchor="ctr">
                    <a:lnL>
                      <a:noFill/>
                    </a:lnL>
                    <a:lnR>
                      <a:noFill/>
                    </a:lnR>
                    <a:lnT>
                      <a:noFill/>
                    </a:lnT>
                    <a:lnB>
                      <a:noFill/>
                    </a:lnB>
                    <a:noFill/>
                  </a:tcPr>
                </a:tc>
                <a:extLst>
                  <a:ext uri="{0D108BD9-81ED-4DB2-BD59-A6C34878D82A}">
                    <a16:rowId xmlns:a16="http://schemas.microsoft.com/office/drawing/2014/main" val="1532816436"/>
                  </a:ext>
                </a:extLst>
              </a:tr>
              <a:tr h="0">
                <a:tc>
                  <a:txBody>
                    <a:bodyPr/>
                    <a:lstStyle/>
                    <a:p>
                      <a:pPr>
                        <a:buNone/>
                      </a:pPr>
                      <a:r>
                        <a:rPr lang="en-US" dirty="0">
                          <a:latin typeface="Courier New" panose="02070309020205020404" pitchFamily="49" charset="0"/>
                        </a:rPr>
                        <a:t>double</a:t>
                      </a:r>
                      <a:endParaRPr lang="en-US" dirty="0"/>
                    </a:p>
                  </a:txBody>
                  <a:tcPr anchor="ctr">
                    <a:lnL>
                      <a:noFill/>
                    </a:lnL>
                    <a:lnR>
                      <a:noFill/>
                    </a:lnR>
                    <a:lnT>
                      <a:noFill/>
                    </a:lnT>
                    <a:lnB>
                      <a:noFill/>
                    </a:lnB>
                    <a:noFill/>
                  </a:tcPr>
                </a:tc>
                <a:tc>
                  <a:txBody>
                    <a:bodyPr/>
                    <a:lstStyle/>
                    <a:p>
                      <a:pPr>
                        <a:buNone/>
                      </a:pPr>
                      <a:r>
                        <a:rPr lang="en-US" dirty="0"/>
                        <a:t>8 byte boundary</a:t>
                      </a:r>
                    </a:p>
                  </a:txBody>
                  <a:tcPr anchor="ctr">
                    <a:lnL>
                      <a:noFill/>
                    </a:lnL>
                    <a:lnR>
                      <a:noFill/>
                    </a:lnR>
                    <a:lnT>
                      <a:noFill/>
                    </a:lnT>
                    <a:lnB>
                      <a:noFill/>
                    </a:lnB>
                    <a:noFill/>
                  </a:tcPr>
                </a:tc>
                <a:extLst>
                  <a:ext uri="{0D108BD9-81ED-4DB2-BD59-A6C34878D82A}">
                    <a16:rowId xmlns:a16="http://schemas.microsoft.com/office/drawing/2014/main" val="3794936872"/>
                  </a:ext>
                </a:extLst>
              </a:tr>
            </a:tbl>
          </a:graphicData>
        </a:graphic>
      </p:graphicFrame>
    </p:spTree>
    <p:extLst>
      <p:ext uri="{BB962C8B-B14F-4D97-AF65-F5344CB8AC3E}">
        <p14:creationId xmlns:p14="http://schemas.microsoft.com/office/powerpoint/2010/main" val="12867531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69B45-0DBB-BF06-325B-6B8EF31BDBD4}"/>
              </a:ext>
            </a:extLst>
          </p:cNvPr>
          <p:cNvSpPr>
            <a:spLocks noGrp="1"/>
          </p:cNvSpPr>
          <p:nvPr>
            <p:ph type="title"/>
          </p:nvPr>
        </p:nvSpPr>
        <p:spPr>
          <a:xfrm>
            <a:off x="1069848" y="484632"/>
            <a:ext cx="10058400" cy="365032"/>
          </a:xfrm>
        </p:spPr>
        <p:txBody>
          <a:bodyPr>
            <a:normAutofit fontScale="90000"/>
          </a:bodyPr>
          <a:lstStyle/>
          <a:p>
            <a:r>
              <a:rPr lang="en-US" dirty="0"/>
              <a:t>…</a:t>
            </a:r>
          </a:p>
        </p:txBody>
      </p:sp>
      <p:sp>
        <p:nvSpPr>
          <p:cNvPr id="3" name="Content Placeholder 2">
            <a:extLst>
              <a:ext uri="{FF2B5EF4-FFF2-40B4-BE49-F238E27FC236}">
                <a16:creationId xmlns:a16="http://schemas.microsoft.com/office/drawing/2014/main" id="{76E66691-015E-DAA6-8673-57907FEA6AF2}"/>
              </a:ext>
            </a:extLst>
          </p:cNvPr>
          <p:cNvSpPr>
            <a:spLocks noGrp="1"/>
          </p:cNvSpPr>
          <p:nvPr>
            <p:ph idx="1"/>
          </p:nvPr>
        </p:nvSpPr>
        <p:spPr>
          <a:xfrm>
            <a:off x="1069848" y="914400"/>
            <a:ext cx="10058400" cy="5850542"/>
          </a:xfrm>
        </p:spPr>
        <p:txBody>
          <a:bodyPr>
            <a:normAutofit fontScale="25000" lnSpcReduction="20000"/>
          </a:bodyPr>
          <a:lstStyle/>
          <a:p>
            <a:r>
              <a:rPr lang="en-US" b="1" dirty="0"/>
              <a:t>Easy Example</a:t>
            </a:r>
          </a:p>
          <a:p>
            <a:r>
              <a:rPr lang="en-US" dirty="0"/>
              <a:t>class Test {</a:t>
            </a:r>
            <a:br>
              <a:rPr lang="en-US" dirty="0"/>
            </a:br>
            <a:r>
              <a:rPr lang="en-US" dirty="0"/>
              <a:t>    char a;   // 1 byte</a:t>
            </a:r>
            <a:br>
              <a:rPr lang="en-US" dirty="0"/>
            </a:br>
            <a:r>
              <a:rPr lang="en-US" dirty="0"/>
              <a:t>    int b;    // 4 bytes</a:t>
            </a:r>
            <a:br>
              <a:rPr lang="en-US" dirty="0"/>
            </a:br>
            <a:r>
              <a:rPr lang="en-US" dirty="0"/>
              <a:t>};</a:t>
            </a:r>
          </a:p>
          <a:p>
            <a:r>
              <a:rPr lang="en-US" dirty="0"/>
              <a:t>You may think:</a:t>
            </a:r>
          </a:p>
          <a:p>
            <a:r>
              <a:rPr lang="en-US" dirty="0"/>
              <a:t>1 + 4 = 5 bytes</a:t>
            </a:r>
          </a:p>
          <a:p>
            <a:r>
              <a:rPr lang="en-US" dirty="0"/>
              <a:t>But actual size is usually:</a:t>
            </a:r>
          </a:p>
          <a:p>
            <a:r>
              <a:rPr lang="en-US" dirty="0" err="1"/>
              <a:t>sizeof</a:t>
            </a:r>
            <a:r>
              <a:rPr lang="en-US" dirty="0"/>
              <a:t>(Test) = 8</a:t>
            </a:r>
          </a:p>
          <a:p>
            <a:r>
              <a:rPr lang="en-US" b="1" dirty="0"/>
              <a:t>Why 8 Bytes?</a:t>
            </a:r>
          </a:p>
          <a:p>
            <a:r>
              <a:rPr lang="en-US" dirty="0"/>
              <a:t>Because compiler adds </a:t>
            </a:r>
            <a:r>
              <a:rPr lang="en-US" b="1" dirty="0"/>
              <a:t>padding</a:t>
            </a:r>
            <a:r>
              <a:rPr lang="en-US" dirty="0"/>
              <a:t>.</a:t>
            </a:r>
          </a:p>
          <a:p>
            <a:r>
              <a:rPr lang="en-US" b="1" dirty="0"/>
              <a:t>Memory Breakdown</a:t>
            </a:r>
          </a:p>
          <a:p>
            <a:r>
              <a:rPr lang="en-US" b="1" dirty="0"/>
              <a:t>Without Padding (slow access)</a:t>
            </a:r>
          </a:p>
          <a:p>
            <a:r>
              <a:rPr lang="en-US" dirty="0"/>
              <a:t>Address</a:t>
            </a:r>
            <a:br>
              <a:rPr lang="en-US" dirty="0"/>
            </a:br>
            <a:r>
              <a:rPr lang="en-US" dirty="0"/>
              <a:t>1000 → a (1 byte)</a:t>
            </a:r>
            <a:br>
              <a:rPr lang="en-US" dirty="0"/>
            </a:br>
            <a:r>
              <a:rPr lang="en-US" dirty="0"/>
              <a:t>1001 → b starts</a:t>
            </a:r>
          </a:p>
          <a:p>
            <a:r>
              <a:rPr lang="en-US" dirty="0"/>
              <a:t>Problem:</a:t>
            </a:r>
            <a:br>
              <a:rPr lang="en-US" dirty="0"/>
            </a:br>
            <a:r>
              <a:rPr lang="en-US" dirty="0"/>
              <a:t>int prefers to start at address multiple of 4.</a:t>
            </a:r>
          </a:p>
          <a:p>
            <a:r>
              <a:rPr lang="en-US" dirty="0"/>
              <a:t>But 1001 is not multiple of 4.</a:t>
            </a:r>
          </a:p>
          <a:p>
            <a:r>
              <a:rPr lang="en-US" dirty="0"/>
              <a:t>So CPU access becomes slower.</a:t>
            </a:r>
          </a:p>
          <a:p>
            <a:r>
              <a:rPr lang="en-US" b="1" dirty="0"/>
              <a:t>Compiler Adds Padding</a:t>
            </a:r>
          </a:p>
          <a:p>
            <a:r>
              <a:rPr lang="en-US" dirty="0"/>
              <a:t>1000 → a (1 byte)</a:t>
            </a:r>
            <a:br>
              <a:rPr lang="en-US" dirty="0"/>
            </a:br>
            <a:br>
              <a:rPr lang="en-US" dirty="0"/>
            </a:br>
            <a:r>
              <a:rPr lang="en-US" dirty="0"/>
              <a:t>1001 → padding</a:t>
            </a:r>
            <a:br>
              <a:rPr lang="en-US" dirty="0"/>
            </a:br>
            <a:r>
              <a:rPr lang="en-US" dirty="0"/>
              <a:t>1002 → padding</a:t>
            </a:r>
            <a:br>
              <a:rPr lang="en-US" dirty="0"/>
            </a:br>
            <a:r>
              <a:rPr lang="en-US" dirty="0"/>
              <a:t>1003 → padding</a:t>
            </a:r>
            <a:br>
              <a:rPr lang="en-US" dirty="0"/>
            </a:br>
            <a:br>
              <a:rPr lang="en-US" dirty="0"/>
            </a:br>
            <a:r>
              <a:rPr lang="en-US" dirty="0"/>
              <a:t>1004 → b starts (4 bytes)</a:t>
            </a:r>
            <a:br>
              <a:rPr lang="en-US" dirty="0"/>
            </a:br>
            <a:r>
              <a:rPr lang="en-US" dirty="0"/>
              <a:t>1005</a:t>
            </a:r>
            <a:br>
              <a:rPr lang="en-US" dirty="0"/>
            </a:br>
            <a:r>
              <a:rPr lang="en-US" dirty="0"/>
              <a:t>1006</a:t>
            </a:r>
            <a:br>
              <a:rPr lang="en-US" dirty="0"/>
            </a:br>
            <a:r>
              <a:rPr lang="en-US" dirty="0"/>
              <a:t>1007</a:t>
            </a:r>
          </a:p>
          <a:p>
            <a:r>
              <a:rPr lang="en-US" dirty="0"/>
              <a:t>Now b starts at aligned address.</a:t>
            </a:r>
          </a:p>
          <a:p>
            <a:r>
              <a:rPr lang="en-US" dirty="0"/>
              <a:t>Total = 8 bytes.</a:t>
            </a:r>
          </a:p>
          <a:p>
            <a:r>
              <a:rPr lang="pt-BR" b="1" dirty="0"/>
              <a:t>Visual Diagram</a:t>
            </a:r>
          </a:p>
          <a:p>
            <a:r>
              <a:rPr lang="pt-BR" dirty="0"/>
              <a:t>+----+----+----+----+----+----+----+----+</a:t>
            </a:r>
            <a:br>
              <a:rPr lang="pt-BR" dirty="0"/>
            </a:br>
            <a:r>
              <a:rPr lang="pt-BR" dirty="0"/>
              <a:t>| a  |pad |pad |pad |       b           |</a:t>
            </a:r>
            <a:br>
              <a:rPr lang="pt-BR" dirty="0"/>
            </a:br>
            <a:r>
              <a:rPr lang="pt-BR" dirty="0"/>
              <a:t>+----+----+----+----+----+----+----+----+</a:t>
            </a:r>
            <a:endParaRPr lang="pt-BR" b="1" dirty="0"/>
          </a:p>
          <a:p>
            <a:r>
              <a:rPr lang="en-US" b="1" dirty="0"/>
              <a:t>Important Point</a:t>
            </a:r>
          </a:p>
          <a:p>
            <a:r>
              <a:rPr lang="en-US" dirty="0"/>
              <a:t>Padding bytes:</a:t>
            </a:r>
          </a:p>
          <a:p>
            <a:r>
              <a:rPr lang="en-US" dirty="0"/>
              <a:t>do not store useful data </a:t>
            </a:r>
          </a:p>
          <a:p>
            <a:r>
              <a:rPr lang="en-US" dirty="0"/>
              <a:t>are automatically added by compiler </a:t>
            </a:r>
          </a:p>
          <a:p>
            <a:r>
              <a:rPr lang="en-US" dirty="0"/>
              <a:t>improve speed/performance </a:t>
            </a:r>
          </a:p>
          <a:p>
            <a:endParaRPr lang="pt-BR" dirty="0"/>
          </a:p>
        </p:txBody>
      </p:sp>
    </p:spTree>
    <p:extLst>
      <p:ext uri="{BB962C8B-B14F-4D97-AF65-F5344CB8AC3E}">
        <p14:creationId xmlns:p14="http://schemas.microsoft.com/office/powerpoint/2010/main" val="7848507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FEFC0-226F-E622-26C1-BEC196C6AF69}"/>
              </a:ext>
            </a:extLst>
          </p:cNvPr>
          <p:cNvSpPr>
            <a:spLocks noGrp="1"/>
          </p:cNvSpPr>
          <p:nvPr>
            <p:ph type="title"/>
          </p:nvPr>
        </p:nvSpPr>
        <p:spPr>
          <a:xfrm>
            <a:off x="1069848" y="484632"/>
            <a:ext cx="10058400" cy="470228"/>
          </a:xfrm>
        </p:spPr>
        <p:txBody>
          <a:bodyPr>
            <a:normAutofit fontScale="90000"/>
          </a:bodyPr>
          <a:lstStyle/>
          <a:p>
            <a:r>
              <a:rPr lang="en-US" dirty="0"/>
              <a:t>…</a:t>
            </a:r>
          </a:p>
        </p:txBody>
      </p:sp>
      <p:sp>
        <p:nvSpPr>
          <p:cNvPr id="3" name="Content Placeholder 2">
            <a:extLst>
              <a:ext uri="{FF2B5EF4-FFF2-40B4-BE49-F238E27FC236}">
                <a16:creationId xmlns:a16="http://schemas.microsoft.com/office/drawing/2014/main" id="{71F9C08B-8C10-0FDB-6436-ECB455D947BF}"/>
              </a:ext>
            </a:extLst>
          </p:cNvPr>
          <p:cNvSpPr>
            <a:spLocks noGrp="1"/>
          </p:cNvSpPr>
          <p:nvPr>
            <p:ph idx="1"/>
          </p:nvPr>
        </p:nvSpPr>
        <p:spPr>
          <a:xfrm>
            <a:off x="1069848" y="1011503"/>
            <a:ext cx="10058400" cy="5672517"/>
          </a:xfrm>
        </p:spPr>
        <p:txBody>
          <a:bodyPr/>
          <a:lstStyle/>
          <a:p>
            <a:r>
              <a:rPr lang="en-US" b="1" dirty="0"/>
              <a:t>Simple Rule</a:t>
            </a:r>
          </a:p>
          <a:p>
            <a:r>
              <a:rPr lang="en-US" b="1" dirty="0"/>
              <a:t>Padding depends on:</a:t>
            </a:r>
          </a:p>
          <a:p>
            <a:r>
              <a:rPr lang="en-US" dirty="0"/>
              <a:t>compiler </a:t>
            </a:r>
          </a:p>
          <a:p>
            <a:r>
              <a:rPr lang="en-US" dirty="0"/>
              <a:t>system architecture </a:t>
            </a:r>
          </a:p>
          <a:p>
            <a:r>
              <a:rPr lang="en-US" dirty="0"/>
              <a:t>data type alignment rules </a:t>
            </a:r>
          </a:p>
          <a:p>
            <a:r>
              <a:rPr lang="en-US" dirty="0"/>
              <a:t>order of variables</a:t>
            </a:r>
          </a:p>
          <a:p>
            <a:r>
              <a:rPr lang="en-US" b="1" dirty="0"/>
              <a:t>Important Trick</a:t>
            </a:r>
          </a:p>
          <a:p>
            <a:r>
              <a:rPr lang="en-US" dirty="0"/>
              <a:t>Changing variable order can reduce padding.</a:t>
            </a:r>
          </a:p>
          <a:p>
            <a:r>
              <a:rPr lang="en-US" b="1" dirty="0"/>
              <a:t>Final Easy Definition</a:t>
            </a:r>
          </a:p>
          <a:p>
            <a:r>
              <a:rPr lang="en-US" dirty="0"/>
              <a:t>Padding is extra unused memory added by the compiler between or after data members to properly align data in memory for faster CPU access.</a:t>
            </a:r>
          </a:p>
          <a:p>
            <a:r>
              <a:rPr lang="en-US" b="1" dirty="0"/>
              <a:t>One-Line Exam Definition</a:t>
            </a:r>
          </a:p>
          <a:p>
            <a:r>
              <a:rPr lang="en-US" dirty="0"/>
              <a:t>Padding is the unused memory added by the compiler to satisfy memory alignment requirements and improve execution speed.</a:t>
            </a:r>
          </a:p>
          <a:p>
            <a:endParaRPr lang="en-US" dirty="0"/>
          </a:p>
        </p:txBody>
      </p:sp>
    </p:spTree>
    <p:extLst>
      <p:ext uri="{BB962C8B-B14F-4D97-AF65-F5344CB8AC3E}">
        <p14:creationId xmlns:p14="http://schemas.microsoft.com/office/powerpoint/2010/main" val="27612932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E6651-7457-4604-DEAB-9D9DB52EDCDB}"/>
              </a:ext>
            </a:extLst>
          </p:cNvPr>
          <p:cNvSpPr>
            <a:spLocks noGrp="1"/>
          </p:cNvSpPr>
          <p:nvPr>
            <p:ph type="ctrTitle"/>
          </p:nvPr>
        </p:nvSpPr>
        <p:spPr/>
        <p:txBody>
          <a:bodyPr/>
          <a:lstStyle/>
          <a:p>
            <a:pPr algn="ctr"/>
            <a:r>
              <a:rPr lang="en-US" dirty="0"/>
              <a:t>Access specifiers</a:t>
            </a:r>
          </a:p>
        </p:txBody>
      </p:sp>
      <p:sp>
        <p:nvSpPr>
          <p:cNvPr id="3" name="Subtitle 2">
            <a:extLst>
              <a:ext uri="{FF2B5EF4-FFF2-40B4-BE49-F238E27FC236}">
                <a16:creationId xmlns:a16="http://schemas.microsoft.com/office/drawing/2014/main" id="{D1EAC54E-C5F9-A0B6-30FF-CF615137A05D}"/>
              </a:ext>
            </a:extLst>
          </p:cNvPr>
          <p:cNvSpPr>
            <a:spLocks noGrp="1"/>
          </p:cNvSpPr>
          <p:nvPr>
            <p:ph type="subTitle" idx="1"/>
          </p:nvPr>
        </p:nvSpPr>
        <p:spPr/>
        <p:txBody>
          <a:bodyPr/>
          <a:lstStyle/>
          <a:p>
            <a:r>
              <a:rPr lang="en-US" dirty="0"/>
              <a:t>In OOP C++</a:t>
            </a:r>
          </a:p>
        </p:txBody>
      </p:sp>
    </p:spTree>
    <p:extLst>
      <p:ext uri="{BB962C8B-B14F-4D97-AF65-F5344CB8AC3E}">
        <p14:creationId xmlns:p14="http://schemas.microsoft.com/office/powerpoint/2010/main" val="4978281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0FAA9-393D-AFC9-1C13-DF996897B1E7}"/>
              </a:ext>
            </a:extLst>
          </p:cNvPr>
          <p:cNvSpPr>
            <a:spLocks noGrp="1"/>
          </p:cNvSpPr>
          <p:nvPr>
            <p:ph type="title"/>
          </p:nvPr>
        </p:nvSpPr>
        <p:spPr>
          <a:xfrm>
            <a:off x="1069848" y="484632"/>
            <a:ext cx="10058400" cy="552232"/>
          </a:xfrm>
        </p:spPr>
        <p:txBody>
          <a:bodyPr>
            <a:normAutofit fontScale="90000"/>
          </a:bodyPr>
          <a:lstStyle/>
          <a:p>
            <a:pPr algn="ctr"/>
            <a:r>
              <a:rPr lang="en-US" dirty="0"/>
              <a:t>Access specifiers</a:t>
            </a:r>
          </a:p>
        </p:txBody>
      </p:sp>
      <p:sp>
        <p:nvSpPr>
          <p:cNvPr id="3" name="Content Placeholder 2">
            <a:extLst>
              <a:ext uri="{FF2B5EF4-FFF2-40B4-BE49-F238E27FC236}">
                <a16:creationId xmlns:a16="http://schemas.microsoft.com/office/drawing/2014/main" id="{94BD83D3-308F-282A-B65B-1C4D32D90B01}"/>
              </a:ext>
            </a:extLst>
          </p:cNvPr>
          <p:cNvSpPr>
            <a:spLocks noGrp="1"/>
          </p:cNvSpPr>
          <p:nvPr>
            <p:ph idx="1"/>
          </p:nvPr>
        </p:nvSpPr>
        <p:spPr>
          <a:xfrm>
            <a:off x="1167819" y="1589096"/>
            <a:ext cx="10058400" cy="4163786"/>
          </a:xfrm>
        </p:spPr>
        <p:txBody>
          <a:bodyPr>
            <a:normAutofit fontScale="92500" lnSpcReduction="20000"/>
          </a:bodyPr>
          <a:lstStyle/>
          <a:p>
            <a:r>
              <a:rPr lang="en-US" b="1" dirty="0"/>
              <a:t>Access Specifier – Definition</a:t>
            </a:r>
          </a:p>
          <a:p>
            <a:r>
              <a:rPr lang="en-US" b="1" dirty="0"/>
              <a:t>Access specifiers</a:t>
            </a:r>
            <a:r>
              <a:rPr lang="en-US" dirty="0"/>
              <a:t> are keywords in C++ that </a:t>
            </a:r>
            <a:r>
              <a:rPr lang="en-US" b="1" dirty="0"/>
              <a:t>control the visibility and accessibility of class members</a:t>
            </a:r>
            <a:r>
              <a:rPr lang="en-US" dirty="0"/>
              <a:t> (attributes and methods) to other parts of the program.</a:t>
            </a:r>
          </a:p>
          <a:p>
            <a:r>
              <a:rPr lang="en-US" dirty="0"/>
              <a:t>They decide </a:t>
            </a:r>
            <a:r>
              <a:rPr lang="en-US" b="1" dirty="0"/>
              <a:t>who can access what</a:t>
            </a:r>
            <a:r>
              <a:rPr lang="en-US" dirty="0"/>
              <a:t> in a class.</a:t>
            </a:r>
          </a:p>
          <a:p>
            <a:endParaRPr lang="en-US" dirty="0"/>
          </a:p>
          <a:p>
            <a:r>
              <a:rPr lang="en-US" dirty="0"/>
              <a:t>Private → only inside class </a:t>
            </a:r>
          </a:p>
          <a:p>
            <a:r>
              <a:rPr lang="en-US" dirty="0"/>
              <a:t>Protected → class + derived </a:t>
            </a:r>
          </a:p>
          <a:p>
            <a:r>
              <a:rPr lang="en-US" dirty="0"/>
              <a:t>Public → everywhere </a:t>
            </a:r>
          </a:p>
          <a:p>
            <a:r>
              <a:rPr lang="en-US" dirty="0"/>
              <a:t>👉 Real-life: Personal data vs family vs public info</a:t>
            </a:r>
          </a:p>
          <a:p>
            <a:r>
              <a:rPr lang="en-US" b="1" dirty="0"/>
              <a:t>Private = maximum security</a:t>
            </a:r>
            <a:r>
              <a:rPr lang="en-US" dirty="0"/>
              <a:t> </a:t>
            </a:r>
          </a:p>
          <a:p>
            <a:r>
              <a:rPr lang="en-US" b="1" dirty="0"/>
              <a:t>Protected = inheritance control</a:t>
            </a:r>
            <a:r>
              <a:rPr lang="en-US" dirty="0"/>
              <a:t> </a:t>
            </a:r>
          </a:p>
          <a:p>
            <a:r>
              <a:rPr lang="en-US" b="1" dirty="0"/>
              <a:t>Public = full access</a:t>
            </a:r>
            <a:r>
              <a:rPr lang="en-US" dirty="0"/>
              <a:t> </a:t>
            </a:r>
          </a:p>
          <a:p>
            <a:pPr marL="0" indent="0">
              <a:buNone/>
            </a:pPr>
            <a:endParaRPr lang="en-US" dirty="0"/>
          </a:p>
        </p:txBody>
      </p:sp>
    </p:spTree>
    <p:extLst>
      <p:ext uri="{BB962C8B-B14F-4D97-AF65-F5344CB8AC3E}">
        <p14:creationId xmlns:p14="http://schemas.microsoft.com/office/powerpoint/2010/main" val="11877767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A9BF2-42C3-F476-0E6F-D572879A73F7}"/>
              </a:ext>
            </a:extLst>
          </p:cNvPr>
          <p:cNvSpPr>
            <a:spLocks noGrp="1"/>
          </p:cNvSpPr>
          <p:nvPr>
            <p:ph type="title"/>
          </p:nvPr>
        </p:nvSpPr>
        <p:spPr/>
        <p:txBody>
          <a:bodyPr/>
          <a:lstStyle/>
          <a:p>
            <a:pPr algn="ctr"/>
            <a:r>
              <a:rPr lang="en-US" b="1" dirty="0"/>
              <a:t>1. Private</a:t>
            </a:r>
            <a:br>
              <a:rPr lang="en-US" b="1" dirty="0"/>
            </a:br>
            <a:endParaRPr lang="en-US" dirty="0"/>
          </a:p>
        </p:txBody>
      </p:sp>
      <p:sp>
        <p:nvSpPr>
          <p:cNvPr id="3" name="Content Placeholder 2">
            <a:extLst>
              <a:ext uri="{FF2B5EF4-FFF2-40B4-BE49-F238E27FC236}">
                <a16:creationId xmlns:a16="http://schemas.microsoft.com/office/drawing/2014/main" id="{37EDD9EF-8328-F8C7-AE54-534470490FC7}"/>
              </a:ext>
            </a:extLst>
          </p:cNvPr>
          <p:cNvSpPr>
            <a:spLocks noGrp="1"/>
          </p:cNvSpPr>
          <p:nvPr>
            <p:ph idx="1"/>
          </p:nvPr>
        </p:nvSpPr>
        <p:spPr/>
        <p:txBody>
          <a:bodyPr/>
          <a:lstStyle/>
          <a:p>
            <a:r>
              <a:rPr lang="en-US" dirty="0"/>
              <a:t>Members declared private can only be accessed </a:t>
            </a:r>
            <a:r>
              <a:rPr lang="en-US" b="1" dirty="0"/>
              <a:t>inside the class</a:t>
            </a:r>
            <a:r>
              <a:rPr lang="en-US" dirty="0"/>
              <a:t>. </a:t>
            </a:r>
          </a:p>
          <a:p>
            <a:r>
              <a:rPr lang="en-US" dirty="0"/>
              <a:t>Derived classes </a:t>
            </a:r>
            <a:r>
              <a:rPr lang="en-US" b="1" dirty="0"/>
              <a:t>cannot access</a:t>
            </a:r>
            <a:r>
              <a:rPr lang="en-US" dirty="0"/>
              <a:t> them. </a:t>
            </a:r>
          </a:p>
          <a:p>
            <a:r>
              <a:rPr lang="en-US" dirty="0"/>
              <a:t>Protects sensitive data from outside modification. </a:t>
            </a:r>
          </a:p>
          <a:p>
            <a:r>
              <a:rPr lang="en-US" dirty="0"/>
              <a:t>Example: Password in a bank account class. </a:t>
            </a:r>
          </a:p>
          <a:p>
            <a:pPr marL="0" indent="0">
              <a:buNone/>
            </a:pPr>
            <a:endParaRPr lang="en-US" dirty="0"/>
          </a:p>
        </p:txBody>
      </p:sp>
    </p:spTree>
    <p:extLst>
      <p:ext uri="{BB962C8B-B14F-4D97-AF65-F5344CB8AC3E}">
        <p14:creationId xmlns:p14="http://schemas.microsoft.com/office/powerpoint/2010/main" val="41549522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7CCF9-3D13-B983-7D36-48E64D788611}"/>
              </a:ext>
            </a:extLst>
          </p:cNvPr>
          <p:cNvSpPr>
            <a:spLocks noGrp="1"/>
          </p:cNvSpPr>
          <p:nvPr>
            <p:ph type="title"/>
          </p:nvPr>
        </p:nvSpPr>
        <p:spPr/>
        <p:txBody>
          <a:bodyPr/>
          <a:lstStyle/>
          <a:p>
            <a:pPr algn="ctr"/>
            <a:r>
              <a:rPr lang="en-US" b="1" dirty="0"/>
              <a:t>2. Public</a:t>
            </a:r>
            <a:br>
              <a:rPr lang="en-US" b="1" dirty="0"/>
            </a:br>
            <a:endParaRPr lang="en-US" dirty="0"/>
          </a:p>
        </p:txBody>
      </p:sp>
      <p:sp>
        <p:nvSpPr>
          <p:cNvPr id="3" name="Content Placeholder 2">
            <a:extLst>
              <a:ext uri="{FF2B5EF4-FFF2-40B4-BE49-F238E27FC236}">
                <a16:creationId xmlns:a16="http://schemas.microsoft.com/office/drawing/2014/main" id="{CA0813ED-799C-720A-895F-E19E156CF279}"/>
              </a:ext>
            </a:extLst>
          </p:cNvPr>
          <p:cNvSpPr>
            <a:spLocks noGrp="1"/>
          </p:cNvSpPr>
          <p:nvPr>
            <p:ph idx="1"/>
          </p:nvPr>
        </p:nvSpPr>
        <p:spPr/>
        <p:txBody>
          <a:bodyPr/>
          <a:lstStyle/>
          <a:p>
            <a:r>
              <a:rPr lang="en-US" dirty="0"/>
              <a:t>Members declared public can be accessed </a:t>
            </a:r>
            <a:r>
              <a:rPr lang="en-US" b="1" dirty="0"/>
              <a:t>anywhere</a:t>
            </a:r>
            <a:r>
              <a:rPr lang="en-US" dirty="0"/>
              <a:t>. </a:t>
            </a:r>
          </a:p>
          <a:p>
            <a:r>
              <a:rPr lang="en-US" dirty="0"/>
              <a:t>No restrictions for classes or objects. </a:t>
            </a:r>
          </a:p>
          <a:p>
            <a:r>
              <a:rPr lang="en-US" dirty="0"/>
              <a:t>Used for features meant to be openly available. </a:t>
            </a:r>
          </a:p>
          <a:p>
            <a:r>
              <a:rPr lang="en-US" dirty="0"/>
              <a:t>Example: Username visible to everyone in an app. </a:t>
            </a:r>
          </a:p>
          <a:p>
            <a:pPr marL="0" indent="0">
              <a:buNone/>
            </a:pPr>
            <a:endParaRPr lang="en-US" dirty="0"/>
          </a:p>
        </p:txBody>
      </p:sp>
    </p:spTree>
    <p:extLst>
      <p:ext uri="{BB962C8B-B14F-4D97-AF65-F5344CB8AC3E}">
        <p14:creationId xmlns:p14="http://schemas.microsoft.com/office/powerpoint/2010/main" val="35332726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14BDA-C19E-3D99-D1C8-605B22660CEE}"/>
              </a:ext>
            </a:extLst>
          </p:cNvPr>
          <p:cNvSpPr>
            <a:spLocks noGrp="1"/>
          </p:cNvSpPr>
          <p:nvPr>
            <p:ph type="title"/>
          </p:nvPr>
        </p:nvSpPr>
        <p:spPr/>
        <p:txBody>
          <a:bodyPr/>
          <a:lstStyle/>
          <a:p>
            <a:pPr algn="ctr"/>
            <a:r>
              <a:rPr lang="en-US" b="1" dirty="0"/>
              <a:t>3. Protected</a:t>
            </a:r>
            <a:br>
              <a:rPr lang="en-US" b="1" dirty="0"/>
            </a:br>
            <a:endParaRPr lang="en-US" dirty="0"/>
          </a:p>
        </p:txBody>
      </p:sp>
      <p:sp>
        <p:nvSpPr>
          <p:cNvPr id="3" name="Content Placeholder 2">
            <a:extLst>
              <a:ext uri="{FF2B5EF4-FFF2-40B4-BE49-F238E27FC236}">
                <a16:creationId xmlns:a16="http://schemas.microsoft.com/office/drawing/2014/main" id="{571C8C65-ED2A-BB31-2894-91A8BAAF55AF}"/>
              </a:ext>
            </a:extLst>
          </p:cNvPr>
          <p:cNvSpPr>
            <a:spLocks noGrp="1"/>
          </p:cNvSpPr>
          <p:nvPr>
            <p:ph idx="1"/>
          </p:nvPr>
        </p:nvSpPr>
        <p:spPr/>
        <p:txBody>
          <a:bodyPr/>
          <a:lstStyle/>
          <a:p>
            <a:r>
              <a:rPr lang="en-US" dirty="0"/>
              <a:t>Members declared protected can be accessed </a:t>
            </a:r>
            <a:r>
              <a:rPr lang="en-US" b="1" dirty="0"/>
              <a:t>inside class and derived classes</a:t>
            </a:r>
            <a:r>
              <a:rPr lang="en-US" dirty="0"/>
              <a:t>. </a:t>
            </a:r>
          </a:p>
          <a:p>
            <a:r>
              <a:rPr lang="en-US" dirty="0"/>
              <a:t>Cannot be accessed by outside objects directly. </a:t>
            </a:r>
          </a:p>
          <a:p>
            <a:r>
              <a:rPr lang="en-US" dirty="0"/>
              <a:t>Useful in inheritance for controlled access. </a:t>
            </a:r>
          </a:p>
          <a:p>
            <a:r>
              <a:rPr lang="en-US" dirty="0"/>
              <a:t>Example: Family details passed to children classes but hidden from outsiders. </a:t>
            </a:r>
          </a:p>
        </p:txBody>
      </p:sp>
    </p:spTree>
    <p:extLst>
      <p:ext uri="{BB962C8B-B14F-4D97-AF65-F5344CB8AC3E}">
        <p14:creationId xmlns:p14="http://schemas.microsoft.com/office/powerpoint/2010/main" val="40212154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04169-76D8-5626-7A11-35985B89477A}"/>
              </a:ext>
            </a:extLst>
          </p:cNvPr>
          <p:cNvSpPr>
            <a:spLocks noGrp="1"/>
          </p:cNvSpPr>
          <p:nvPr>
            <p:ph type="title"/>
          </p:nvPr>
        </p:nvSpPr>
        <p:spPr/>
        <p:txBody>
          <a:bodyPr/>
          <a:lstStyle/>
          <a:p>
            <a:pPr algn="ctr"/>
            <a:r>
              <a:rPr lang="en-US" dirty="0"/>
              <a:t>Differences between access specifiers</a:t>
            </a:r>
          </a:p>
        </p:txBody>
      </p:sp>
      <p:graphicFrame>
        <p:nvGraphicFramePr>
          <p:cNvPr id="9" name="Content Placeholder 8">
            <a:extLst>
              <a:ext uri="{FF2B5EF4-FFF2-40B4-BE49-F238E27FC236}">
                <a16:creationId xmlns:a16="http://schemas.microsoft.com/office/drawing/2014/main" id="{375CA1EB-0916-75C2-4A2C-E4333617EF2E}"/>
              </a:ext>
            </a:extLst>
          </p:cNvPr>
          <p:cNvGraphicFramePr>
            <a:graphicFrameLocks noGrp="1"/>
          </p:cNvGraphicFramePr>
          <p:nvPr>
            <p:ph idx="1"/>
          </p:nvPr>
        </p:nvGraphicFramePr>
        <p:xfrm>
          <a:off x="1069975" y="2592070"/>
          <a:ext cx="10058400" cy="3108960"/>
        </p:xfrm>
        <a:graphic>
          <a:graphicData uri="http://schemas.openxmlformats.org/drawingml/2006/table">
            <a:tbl>
              <a:tblPr/>
              <a:tblGrid>
                <a:gridCol w="2011680">
                  <a:extLst>
                    <a:ext uri="{9D8B030D-6E8A-4147-A177-3AD203B41FA5}">
                      <a16:colId xmlns:a16="http://schemas.microsoft.com/office/drawing/2014/main" val="839501443"/>
                    </a:ext>
                  </a:extLst>
                </a:gridCol>
                <a:gridCol w="2011680">
                  <a:extLst>
                    <a:ext uri="{9D8B030D-6E8A-4147-A177-3AD203B41FA5}">
                      <a16:colId xmlns:a16="http://schemas.microsoft.com/office/drawing/2014/main" val="1517604300"/>
                    </a:ext>
                  </a:extLst>
                </a:gridCol>
                <a:gridCol w="2011680">
                  <a:extLst>
                    <a:ext uri="{9D8B030D-6E8A-4147-A177-3AD203B41FA5}">
                      <a16:colId xmlns:a16="http://schemas.microsoft.com/office/drawing/2014/main" val="4057887725"/>
                    </a:ext>
                  </a:extLst>
                </a:gridCol>
                <a:gridCol w="2011680">
                  <a:extLst>
                    <a:ext uri="{9D8B030D-6E8A-4147-A177-3AD203B41FA5}">
                      <a16:colId xmlns:a16="http://schemas.microsoft.com/office/drawing/2014/main" val="3121518190"/>
                    </a:ext>
                  </a:extLst>
                </a:gridCol>
                <a:gridCol w="2011680">
                  <a:extLst>
                    <a:ext uri="{9D8B030D-6E8A-4147-A177-3AD203B41FA5}">
                      <a16:colId xmlns:a16="http://schemas.microsoft.com/office/drawing/2014/main" val="2606887092"/>
                    </a:ext>
                  </a:extLst>
                </a:gridCol>
              </a:tblGrid>
              <a:tr h="0">
                <a:tc>
                  <a:txBody>
                    <a:bodyPr/>
                    <a:lstStyle/>
                    <a:p>
                      <a:pPr>
                        <a:buNone/>
                      </a:pPr>
                      <a:r>
                        <a:rPr lang="en-US"/>
                        <a:t>Specifier</a:t>
                      </a:r>
                    </a:p>
                  </a:txBody>
                  <a:tcPr anchor="ctr">
                    <a:lnL>
                      <a:noFill/>
                    </a:lnL>
                    <a:lnR>
                      <a:noFill/>
                    </a:lnR>
                    <a:lnT>
                      <a:noFill/>
                    </a:lnT>
                    <a:lnB>
                      <a:noFill/>
                    </a:lnB>
                    <a:noFill/>
                  </a:tcPr>
                </a:tc>
                <a:tc>
                  <a:txBody>
                    <a:bodyPr/>
                    <a:lstStyle/>
                    <a:p>
                      <a:pPr>
                        <a:buNone/>
                      </a:pPr>
                      <a:r>
                        <a:rPr lang="en-US"/>
                        <a:t>Inside Class</a:t>
                      </a:r>
                    </a:p>
                  </a:txBody>
                  <a:tcPr anchor="ctr">
                    <a:lnL>
                      <a:noFill/>
                    </a:lnL>
                    <a:lnR>
                      <a:noFill/>
                    </a:lnR>
                    <a:lnT>
                      <a:noFill/>
                    </a:lnT>
                    <a:lnB>
                      <a:noFill/>
                    </a:lnB>
                    <a:noFill/>
                  </a:tcPr>
                </a:tc>
                <a:tc>
                  <a:txBody>
                    <a:bodyPr/>
                    <a:lstStyle/>
                    <a:p>
                      <a:pPr>
                        <a:buNone/>
                      </a:pPr>
                      <a:r>
                        <a:rPr lang="en-US"/>
                        <a:t>Derived Class</a:t>
                      </a:r>
                    </a:p>
                  </a:txBody>
                  <a:tcPr anchor="ctr">
                    <a:lnL>
                      <a:noFill/>
                    </a:lnL>
                    <a:lnR>
                      <a:noFill/>
                    </a:lnR>
                    <a:lnT>
                      <a:noFill/>
                    </a:lnT>
                    <a:lnB>
                      <a:noFill/>
                    </a:lnB>
                    <a:noFill/>
                  </a:tcPr>
                </a:tc>
                <a:tc>
                  <a:txBody>
                    <a:bodyPr/>
                    <a:lstStyle/>
                    <a:p>
                      <a:pPr>
                        <a:buNone/>
                      </a:pPr>
                      <a:r>
                        <a:rPr lang="en-US"/>
                        <a:t>Outside</a:t>
                      </a:r>
                    </a:p>
                  </a:txBody>
                  <a:tcPr anchor="ctr">
                    <a:lnL>
                      <a:noFill/>
                    </a:lnL>
                    <a:lnR>
                      <a:noFill/>
                    </a:lnR>
                    <a:lnT>
                      <a:noFill/>
                    </a:lnT>
                    <a:lnB>
                      <a:noFill/>
                    </a:lnB>
                    <a:noFill/>
                  </a:tcPr>
                </a:tc>
                <a:tc>
                  <a:txBody>
                    <a:bodyPr/>
                    <a:lstStyle/>
                    <a:p>
                      <a:pPr>
                        <a:buNone/>
                      </a:pPr>
                      <a:r>
                        <a:rPr lang="en-US"/>
                        <a:t>Real-world Example</a:t>
                      </a:r>
                    </a:p>
                  </a:txBody>
                  <a:tcPr anchor="ctr">
                    <a:lnL>
                      <a:noFill/>
                    </a:lnL>
                    <a:lnR>
                      <a:noFill/>
                    </a:lnR>
                    <a:lnT>
                      <a:noFill/>
                    </a:lnT>
                    <a:lnB>
                      <a:noFill/>
                    </a:lnB>
                    <a:noFill/>
                  </a:tcPr>
                </a:tc>
                <a:extLst>
                  <a:ext uri="{0D108BD9-81ED-4DB2-BD59-A6C34878D82A}">
                    <a16:rowId xmlns:a16="http://schemas.microsoft.com/office/drawing/2014/main" val="3640703188"/>
                  </a:ext>
                </a:extLst>
              </a:tr>
              <a:tr h="0">
                <a:tc>
                  <a:txBody>
                    <a:bodyPr/>
                    <a:lstStyle/>
                    <a:p>
                      <a:pPr>
                        <a:buNone/>
                      </a:pPr>
                      <a:r>
                        <a:rPr lang="en-US"/>
                        <a:t>Private</a:t>
                      </a:r>
                    </a:p>
                  </a:txBody>
                  <a:tcPr anchor="ctr">
                    <a:lnL>
                      <a:noFill/>
                    </a:lnL>
                    <a:lnR>
                      <a:noFill/>
                    </a:lnR>
                    <a:lnT>
                      <a:noFill/>
                    </a:lnT>
                    <a:lnB>
                      <a:noFill/>
                    </a:lnB>
                    <a:noFill/>
                  </a:tcPr>
                </a:tc>
                <a:tc>
                  <a:txBody>
                    <a:bodyPr/>
                    <a:lstStyle/>
                    <a:p>
                      <a:pPr>
                        <a:buNone/>
                      </a:pPr>
                      <a:r>
                        <a:rPr lang="en-US"/>
                        <a:t>✔</a:t>
                      </a:r>
                    </a:p>
                  </a:txBody>
                  <a:tcPr anchor="ctr">
                    <a:lnL>
                      <a:noFill/>
                    </a:lnL>
                    <a:lnR>
                      <a:noFill/>
                    </a:lnR>
                    <a:lnT>
                      <a:noFill/>
                    </a:lnT>
                    <a:lnB>
                      <a:noFill/>
                    </a:lnB>
                    <a:noFill/>
                  </a:tcPr>
                </a:tc>
                <a:tc>
                  <a:txBody>
                    <a:bodyPr/>
                    <a:lstStyle/>
                    <a:p>
                      <a:pPr>
                        <a:buNone/>
                      </a:pPr>
                      <a:r>
                        <a:rPr lang="en-US"/>
                        <a:t>❌</a:t>
                      </a:r>
                    </a:p>
                  </a:txBody>
                  <a:tcPr anchor="ctr">
                    <a:lnL>
                      <a:noFill/>
                    </a:lnL>
                    <a:lnR>
                      <a:noFill/>
                    </a:lnR>
                    <a:lnT>
                      <a:noFill/>
                    </a:lnT>
                    <a:lnB>
                      <a:noFill/>
                    </a:lnB>
                    <a:noFill/>
                  </a:tcPr>
                </a:tc>
                <a:tc>
                  <a:txBody>
                    <a:bodyPr/>
                    <a:lstStyle/>
                    <a:p>
                      <a:pPr>
                        <a:buNone/>
                      </a:pPr>
                      <a:r>
                        <a:rPr lang="en-US"/>
                        <a:t>❌</a:t>
                      </a:r>
                    </a:p>
                  </a:txBody>
                  <a:tcPr anchor="ctr">
                    <a:lnL>
                      <a:noFill/>
                    </a:lnL>
                    <a:lnR>
                      <a:noFill/>
                    </a:lnR>
                    <a:lnT>
                      <a:noFill/>
                    </a:lnT>
                    <a:lnB>
                      <a:noFill/>
                    </a:lnB>
                    <a:noFill/>
                  </a:tcPr>
                </a:tc>
                <a:tc>
                  <a:txBody>
                    <a:bodyPr/>
                    <a:lstStyle/>
                    <a:p>
                      <a:pPr>
                        <a:buNone/>
                      </a:pPr>
                      <a:r>
                        <a:rPr lang="en-US"/>
                        <a:t>ATM balance (controlled via functions)</a:t>
                      </a:r>
                    </a:p>
                  </a:txBody>
                  <a:tcPr anchor="ctr">
                    <a:lnL>
                      <a:noFill/>
                    </a:lnL>
                    <a:lnR>
                      <a:noFill/>
                    </a:lnR>
                    <a:lnT>
                      <a:noFill/>
                    </a:lnT>
                    <a:lnB>
                      <a:noFill/>
                    </a:lnB>
                    <a:noFill/>
                  </a:tcPr>
                </a:tc>
                <a:extLst>
                  <a:ext uri="{0D108BD9-81ED-4DB2-BD59-A6C34878D82A}">
                    <a16:rowId xmlns:a16="http://schemas.microsoft.com/office/drawing/2014/main" val="817081249"/>
                  </a:ext>
                </a:extLst>
              </a:tr>
              <a:tr h="0">
                <a:tc>
                  <a:txBody>
                    <a:bodyPr/>
                    <a:lstStyle/>
                    <a:p>
                      <a:pPr>
                        <a:buNone/>
                      </a:pPr>
                      <a:r>
                        <a:rPr lang="en-US"/>
                        <a:t>Protected</a:t>
                      </a:r>
                    </a:p>
                  </a:txBody>
                  <a:tcPr anchor="ctr">
                    <a:lnL>
                      <a:noFill/>
                    </a:lnL>
                    <a:lnR>
                      <a:noFill/>
                    </a:lnR>
                    <a:lnT>
                      <a:noFill/>
                    </a:lnT>
                    <a:lnB>
                      <a:noFill/>
                    </a:lnB>
                    <a:noFill/>
                  </a:tcPr>
                </a:tc>
                <a:tc>
                  <a:txBody>
                    <a:bodyPr/>
                    <a:lstStyle/>
                    <a:p>
                      <a:pPr>
                        <a:buNone/>
                      </a:pPr>
                      <a:r>
                        <a:rPr lang="en-US"/>
                        <a:t>✔</a:t>
                      </a:r>
                    </a:p>
                  </a:txBody>
                  <a:tcPr anchor="ctr">
                    <a:lnL>
                      <a:noFill/>
                    </a:lnL>
                    <a:lnR>
                      <a:noFill/>
                    </a:lnR>
                    <a:lnT>
                      <a:noFill/>
                    </a:lnT>
                    <a:lnB>
                      <a:noFill/>
                    </a:lnB>
                    <a:noFill/>
                  </a:tcPr>
                </a:tc>
                <a:tc>
                  <a:txBody>
                    <a:bodyPr/>
                    <a:lstStyle/>
                    <a:p>
                      <a:pPr>
                        <a:buNone/>
                      </a:pPr>
                      <a:r>
                        <a:rPr lang="en-US"/>
                        <a:t>✔</a:t>
                      </a:r>
                    </a:p>
                  </a:txBody>
                  <a:tcPr anchor="ctr">
                    <a:lnL>
                      <a:noFill/>
                    </a:lnL>
                    <a:lnR>
                      <a:noFill/>
                    </a:lnR>
                    <a:lnT>
                      <a:noFill/>
                    </a:lnT>
                    <a:lnB>
                      <a:noFill/>
                    </a:lnB>
                    <a:noFill/>
                  </a:tcPr>
                </a:tc>
                <a:tc>
                  <a:txBody>
                    <a:bodyPr/>
                    <a:lstStyle/>
                    <a:p>
                      <a:pPr>
                        <a:buNone/>
                      </a:pPr>
                      <a:r>
                        <a:rPr lang="en-US"/>
                        <a:t>❌</a:t>
                      </a:r>
                    </a:p>
                  </a:txBody>
                  <a:tcPr anchor="ctr">
                    <a:lnL>
                      <a:noFill/>
                    </a:lnL>
                    <a:lnR>
                      <a:noFill/>
                    </a:lnR>
                    <a:lnT>
                      <a:noFill/>
                    </a:lnT>
                    <a:lnB>
                      <a:noFill/>
                    </a:lnB>
                    <a:noFill/>
                  </a:tcPr>
                </a:tc>
                <a:tc>
                  <a:txBody>
                    <a:bodyPr/>
                    <a:lstStyle/>
                    <a:p>
                      <a:pPr>
                        <a:buNone/>
                      </a:pPr>
                      <a:r>
                        <a:rPr lang="en-US"/>
                        <a:t>Family info (used by children classes)</a:t>
                      </a:r>
                    </a:p>
                  </a:txBody>
                  <a:tcPr anchor="ctr">
                    <a:lnL>
                      <a:noFill/>
                    </a:lnL>
                    <a:lnR>
                      <a:noFill/>
                    </a:lnR>
                    <a:lnT>
                      <a:noFill/>
                    </a:lnT>
                    <a:lnB>
                      <a:noFill/>
                    </a:lnB>
                    <a:noFill/>
                  </a:tcPr>
                </a:tc>
                <a:extLst>
                  <a:ext uri="{0D108BD9-81ED-4DB2-BD59-A6C34878D82A}">
                    <a16:rowId xmlns:a16="http://schemas.microsoft.com/office/drawing/2014/main" val="3835234971"/>
                  </a:ext>
                </a:extLst>
              </a:tr>
              <a:tr h="0">
                <a:tc>
                  <a:txBody>
                    <a:bodyPr/>
                    <a:lstStyle/>
                    <a:p>
                      <a:pPr>
                        <a:buNone/>
                      </a:pPr>
                      <a:r>
                        <a:rPr lang="en-US"/>
                        <a:t>Public</a:t>
                      </a:r>
                    </a:p>
                  </a:txBody>
                  <a:tcPr anchor="ctr">
                    <a:lnL>
                      <a:noFill/>
                    </a:lnL>
                    <a:lnR>
                      <a:noFill/>
                    </a:lnR>
                    <a:lnT>
                      <a:noFill/>
                    </a:lnT>
                    <a:lnB>
                      <a:noFill/>
                    </a:lnB>
                    <a:noFill/>
                  </a:tcPr>
                </a:tc>
                <a:tc>
                  <a:txBody>
                    <a:bodyPr/>
                    <a:lstStyle/>
                    <a:p>
                      <a:pPr>
                        <a:buNone/>
                      </a:pPr>
                      <a:r>
                        <a:rPr lang="en-US"/>
                        <a:t>✔</a:t>
                      </a:r>
                    </a:p>
                  </a:txBody>
                  <a:tcPr anchor="ctr">
                    <a:lnL>
                      <a:noFill/>
                    </a:lnL>
                    <a:lnR>
                      <a:noFill/>
                    </a:lnR>
                    <a:lnT>
                      <a:noFill/>
                    </a:lnT>
                    <a:lnB>
                      <a:noFill/>
                    </a:lnB>
                    <a:noFill/>
                  </a:tcPr>
                </a:tc>
                <a:tc>
                  <a:txBody>
                    <a:bodyPr/>
                    <a:lstStyle/>
                    <a:p>
                      <a:pPr>
                        <a:buNone/>
                      </a:pPr>
                      <a:r>
                        <a:rPr lang="en-US"/>
                        <a:t>✔</a:t>
                      </a:r>
                    </a:p>
                  </a:txBody>
                  <a:tcPr anchor="ctr">
                    <a:lnL>
                      <a:noFill/>
                    </a:lnL>
                    <a:lnR>
                      <a:noFill/>
                    </a:lnR>
                    <a:lnT>
                      <a:noFill/>
                    </a:lnT>
                    <a:lnB>
                      <a:noFill/>
                    </a:lnB>
                    <a:noFill/>
                  </a:tcPr>
                </a:tc>
                <a:tc>
                  <a:txBody>
                    <a:bodyPr/>
                    <a:lstStyle/>
                    <a:p>
                      <a:pPr>
                        <a:buNone/>
                      </a:pPr>
                      <a:r>
                        <a:rPr lang="en-US"/>
                        <a:t>✔</a:t>
                      </a:r>
                    </a:p>
                  </a:txBody>
                  <a:tcPr anchor="ctr">
                    <a:lnL>
                      <a:noFill/>
                    </a:lnL>
                    <a:lnR>
                      <a:noFill/>
                    </a:lnR>
                    <a:lnT>
                      <a:noFill/>
                    </a:lnT>
                    <a:lnB>
                      <a:noFill/>
                    </a:lnB>
                    <a:noFill/>
                  </a:tcPr>
                </a:tc>
                <a:tc>
                  <a:txBody>
                    <a:bodyPr/>
                    <a:lstStyle/>
                    <a:p>
                      <a:pPr>
                        <a:buNone/>
                      </a:pPr>
                      <a:r>
                        <a:rPr lang="en-US" dirty="0"/>
                        <a:t>Username in app (visible to all)</a:t>
                      </a:r>
                    </a:p>
                  </a:txBody>
                  <a:tcPr anchor="ctr">
                    <a:lnL>
                      <a:noFill/>
                    </a:lnL>
                    <a:lnR>
                      <a:noFill/>
                    </a:lnR>
                    <a:lnT>
                      <a:noFill/>
                    </a:lnT>
                    <a:lnB>
                      <a:noFill/>
                    </a:lnB>
                    <a:noFill/>
                  </a:tcPr>
                </a:tc>
                <a:extLst>
                  <a:ext uri="{0D108BD9-81ED-4DB2-BD59-A6C34878D82A}">
                    <a16:rowId xmlns:a16="http://schemas.microsoft.com/office/drawing/2014/main" val="227301037"/>
                  </a:ext>
                </a:extLst>
              </a:tr>
            </a:tbl>
          </a:graphicData>
        </a:graphic>
      </p:graphicFrame>
    </p:spTree>
    <p:extLst>
      <p:ext uri="{BB962C8B-B14F-4D97-AF65-F5344CB8AC3E}">
        <p14:creationId xmlns:p14="http://schemas.microsoft.com/office/powerpoint/2010/main" val="14052345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61908-0F0F-2EA9-FF2F-A67477AFEAD1}"/>
              </a:ext>
            </a:extLst>
          </p:cNvPr>
          <p:cNvSpPr>
            <a:spLocks noGrp="1"/>
          </p:cNvSpPr>
          <p:nvPr>
            <p:ph type="title"/>
          </p:nvPr>
        </p:nvSpPr>
        <p:spPr>
          <a:xfrm>
            <a:off x="1069848" y="484632"/>
            <a:ext cx="10058400" cy="331797"/>
          </a:xfrm>
        </p:spPr>
        <p:txBody>
          <a:bodyPr>
            <a:normAutofit fontScale="90000"/>
          </a:bodyPr>
          <a:lstStyle/>
          <a:p>
            <a:pPr algn="ctr"/>
            <a:r>
              <a:rPr lang="en-US" dirty="0"/>
              <a:t>Access specifier</a:t>
            </a:r>
          </a:p>
        </p:txBody>
      </p:sp>
      <p:graphicFrame>
        <p:nvGraphicFramePr>
          <p:cNvPr id="4" name="Content Placeholder 3">
            <a:extLst>
              <a:ext uri="{FF2B5EF4-FFF2-40B4-BE49-F238E27FC236}">
                <a16:creationId xmlns:a16="http://schemas.microsoft.com/office/drawing/2014/main" id="{05C5CE52-EDF2-895B-054B-6B71DB3A8B07}"/>
              </a:ext>
            </a:extLst>
          </p:cNvPr>
          <p:cNvGraphicFramePr>
            <a:graphicFrameLocks noGrp="1"/>
          </p:cNvGraphicFramePr>
          <p:nvPr>
            <p:ph idx="1"/>
            <p:extLst>
              <p:ext uri="{D42A27DB-BD31-4B8C-83A1-F6EECF244321}">
                <p14:modId xmlns:p14="http://schemas.microsoft.com/office/powerpoint/2010/main" val="344621804"/>
              </p:ext>
            </p:extLst>
          </p:nvPr>
        </p:nvGraphicFramePr>
        <p:xfrm>
          <a:off x="1255229" y="914400"/>
          <a:ext cx="9687892" cy="3979408"/>
        </p:xfrm>
        <a:graphic>
          <a:graphicData uri="http://schemas.openxmlformats.org/drawingml/2006/table">
            <a:tbl>
              <a:tblPr/>
              <a:tblGrid>
                <a:gridCol w="2421973">
                  <a:extLst>
                    <a:ext uri="{9D8B030D-6E8A-4147-A177-3AD203B41FA5}">
                      <a16:colId xmlns:a16="http://schemas.microsoft.com/office/drawing/2014/main" val="180279343"/>
                    </a:ext>
                  </a:extLst>
                </a:gridCol>
                <a:gridCol w="2421973">
                  <a:extLst>
                    <a:ext uri="{9D8B030D-6E8A-4147-A177-3AD203B41FA5}">
                      <a16:colId xmlns:a16="http://schemas.microsoft.com/office/drawing/2014/main" val="3340567066"/>
                    </a:ext>
                  </a:extLst>
                </a:gridCol>
                <a:gridCol w="2421973">
                  <a:extLst>
                    <a:ext uri="{9D8B030D-6E8A-4147-A177-3AD203B41FA5}">
                      <a16:colId xmlns:a16="http://schemas.microsoft.com/office/drawing/2014/main" val="3613448878"/>
                    </a:ext>
                  </a:extLst>
                </a:gridCol>
                <a:gridCol w="2421973">
                  <a:extLst>
                    <a:ext uri="{9D8B030D-6E8A-4147-A177-3AD203B41FA5}">
                      <a16:colId xmlns:a16="http://schemas.microsoft.com/office/drawing/2014/main" val="3429182642"/>
                    </a:ext>
                  </a:extLst>
                </a:gridCol>
              </a:tblGrid>
              <a:tr h="311956">
                <a:tc>
                  <a:txBody>
                    <a:bodyPr/>
                    <a:lstStyle/>
                    <a:p>
                      <a:pPr>
                        <a:buNone/>
                      </a:pPr>
                      <a:r>
                        <a:rPr lang="en-US" sz="1700"/>
                        <a:t>Specifier</a:t>
                      </a:r>
                    </a:p>
                  </a:txBody>
                  <a:tcPr marL="88072" marR="88072" marT="44036" marB="44036" anchor="ctr">
                    <a:lnL>
                      <a:noFill/>
                    </a:lnL>
                    <a:lnR>
                      <a:noFill/>
                    </a:lnR>
                    <a:lnT>
                      <a:noFill/>
                    </a:lnT>
                    <a:lnB>
                      <a:noFill/>
                    </a:lnB>
                    <a:noFill/>
                  </a:tcPr>
                </a:tc>
                <a:tc>
                  <a:txBody>
                    <a:bodyPr/>
                    <a:lstStyle/>
                    <a:p>
                      <a:pPr>
                        <a:buNone/>
                      </a:pPr>
                      <a:r>
                        <a:rPr lang="en-US" sz="1700"/>
                        <a:t>Access</a:t>
                      </a:r>
                    </a:p>
                  </a:txBody>
                  <a:tcPr marL="88072" marR="88072" marT="44036" marB="44036" anchor="ctr">
                    <a:lnL>
                      <a:noFill/>
                    </a:lnL>
                    <a:lnR>
                      <a:noFill/>
                    </a:lnR>
                    <a:lnT>
                      <a:noFill/>
                    </a:lnT>
                    <a:lnB>
                      <a:noFill/>
                    </a:lnB>
                    <a:noFill/>
                  </a:tcPr>
                </a:tc>
                <a:tc>
                  <a:txBody>
                    <a:bodyPr/>
                    <a:lstStyle/>
                    <a:p>
                      <a:pPr>
                        <a:buNone/>
                      </a:pPr>
                      <a:r>
                        <a:rPr lang="en-US" sz="1700"/>
                        <a:t>Code</a:t>
                      </a:r>
                    </a:p>
                  </a:txBody>
                  <a:tcPr marL="88072" marR="88072" marT="44036" marB="44036" anchor="ctr">
                    <a:lnL>
                      <a:noFill/>
                    </a:lnL>
                    <a:lnR>
                      <a:noFill/>
                    </a:lnR>
                    <a:lnT>
                      <a:noFill/>
                    </a:lnT>
                    <a:lnB>
                      <a:noFill/>
                    </a:lnB>
                    <a:noFill/>
                  </a:tcPr>
                </a:tc>
                <a:tc>
                  <a:txBody>
                    <a:bodyPr/>
                    <a:lstStyle/>
                    <a:p>
                      <a:pPr>
                        <a:buNone/>
                      </a:pPr>
                      <a:r>
                        <a:rPr lang="en-US" sz="1700"/>
                        <a:t>Real-world Flow</a:t>
                      </a:r>
                    </a:p>
                  </a:txBody>
                  <a:tcPr marL="88072" marR="88072" marT="44036" marB="44036" anchor="ctr">
                    <a:lnL>
                      <a:noFill/>
                    </a:lnL>
                    <a:lnR>
                      <a:noFill/>
                    </a:lnR>
                    <a:lnT>
                      <a:noFill/>
                    </a:lnT>
                    <a:lnB>
                      <a:noFill/>
                    </a:lnB>
                    <a:noFill/>
                  </a:tcPr>
                </a:tc>
                <a:extLst>
                  <a:ext uri="{0D108BD9-81ED-4DB2-BD59-A6C34878D82A}">
                    <a16:rowId xmlns:a16="http://schemas.microsoft.com/office/drawing/2014/main" val="2750489537"/>
                  </a:ext>
                </a:extLst>
              </a:tr>
              <a:tr h="1243209">
                <a:tc>
                  <a:txBody>
                    <a:bodyPr/>
                    <a:lstStyle/>
                    <a:p>
                      <a:pPr>
                        <a:buNone/>
                      </a:pPr>
                      <a:r>
                        <a:rPr lang="en-US" sz="1700" b="1"/>
                        <a:t>Private</a:t>
                      </a:r>
                      <a:endParaRPr lang="en-US" sz="1700"/>
                    </a:p>
                  </a:txBody>
                  <a:tcPr marL="88072" marR="88072" marT="44036" marB="44036" anchor="ctr">
                    <a:lnL>
                      <a:noFill/>
                    </a:lnL>
                    <a:lnR>
                      <a:noFill/>
                    </a:lnR>
                    <a:lnT>
                      <a:noFill/>
                    </a:lnT>
                    <a:lnB>
                      <a:noFill/>
                    </a:lnB>
                    <a:noFill/>
                  </a:tcPr>
                </a:tc>
                <a:tc>
                  <a:txBody>
                    <a:bodyPr/>
                    <a:lstStyle/>
                    <a:p>
                      <a:pPr>
                        <a:buNone/>
                      </a:pPr>
                      <a:r>
                        <a:rPr lang="en-US" sz="1700"/>
                        <a:t>Inside class only</a:t>
                      </a:r>
                    </a:p>
                  </a:txBody>
                  <a:tcPr marL="88072" marR="88072" marT="44036" marB="44036" anchor="ctr">
                    <a:lnL>
                      <a:noFill/>
                    </a:lnL>
                    <a:lnR>
                      <a:noFill/>
                    </a:lnR>
                    <a:lnT>
                      <a:noFill/>
                    </a:lnT>
                    <a:lnB>
                      <a:noFill/>
                    </a:lnB>
                    <a:noFill/>
                  </a:tcPr>
                </a:tc>
                <a:tc>
                  <a:txBody>
                    <a:bodyPr/>
                    <a:lstStyle/>
                    <a:p>
                      <a:pPr>
                        <a:buNone/>
                      </a:pPr>
                      <a:r>
                        <a:rPr lang="en-US" sz="1700">
                          <a:latin typeface="Courier New" panose="02070309020205020404" pitchFamily="49" charset="0"/>
                        </a:rPr>
                        <a:t>private:int bal;</a:t>
                      </a:r>
                      <a:endParaRPr lang="en-US" sz="1700"/>
                    </a:p>
                  </a:txBody>
                  <a:tcPr marL="88072" marR="88072" marT="44036" marB="44036" anchor="ctr">
                    <a:lnL>
                      <a:noFill/>
                    </a:lnL>
                    <a:lnR>
                      <a:noFill/>
                    </a:lnR>
                    <a:lnT>
                      <a:noFill/>
                    </a:lnT>
                    <a:lnB>
                      <a:noFill/>
                    </a:lnB>
                    <a:noFill/>
                  </a:tcPr>
                </a:tc>
                <a:tc>
                  <a:txBody>
                    <a:bodyPr/>
                    <a:lstStyle/>
                    <a:p>
                      <a:pPr>
                        <a:buNone/>
                      </a:pPr>
                      <a:r>
                        <a:rPr lang="en-US" sz="1700"/>
                        <a:t>ATM balance → accessed only via deposit/withdraw methods (encapsulation).</a:t>
                      </a:r>
                    </a:p>
                  </a:txBody>
                  <a:tcPr marL="88072" marR="88072" marT="44036" marB="44036" anchor="ctr">
                    <a:lnL>
                      <a:noFill/>
                    </a:lnL>
                    <a:lnR>
                      <a:noFill/>
                    </a:lnR>
                    <a:lnT>
                      <a:noFill/>
                    </a:lnT>
                    <a:lnB>
                      <a:noFill/>
                    </a:lnB>
                    <a:noFill/>
                  </a:tcPr>
                </a:tc>
                <a:extLst>
                  <a:ext uri="{0D108BD9-81ED-4DB2-BD59-A6C34878D82A}">
                    <a16:rowId xmlns:a16="http://schemas.microsoft.com/office/drawing/2014/main" val="2531560834"/>
                  </a:ext>
                </a:extLst>
              </a:tr>
              <a:tr h="1243209">
                <a:tc>
                  <a:txBody>
                    <a:bodyPr/>
                    <a:lstStyle/>
                    <a:p>
                      <a:pPr>
                        <a:buNone/>
                      </a:pPr>
                      <a:r>
                        <a:rPr lang="en-US" sz="1700" b="1" dirty="0"/>
                        <a:t>Protected</a:t>
                      </a:r>
                      <a:endParaRPr lang="en-US" sz="1700" dirty="0"/>
                    </a:p>
                  </a:txBody>
                  <a:tcPr marL="88072" marR="88072" marT="44036" marB="44036" anchor="ctr">
                    <a:lnL>
                      <a:noFill/>
                    </a:lnL>
                    <a:lnR>
                      <a:noFill/>
                    </a:lnR>
                    <a:lnT>
                      <a:noFill/>
                    </a:lnT>
                    <a:lnB>
                      <a:noFill/>
                    </a:lnB>
                    <a:noFill/>
                  </a:tcPr>
                </a:tc>
                <a:tc>
                  <a:txBody>
                    <a:bodyPr/>
                    <a:lstStyle/>
                    <a:p>
                      <a:pPr>
                        <a:buNone/>
                      </a:pPr>
                      <a:r>
                        <a:rPr lang="en-US" sz="1700"/>
                        <a:t>Inside + derived</a:t>
                      </a:r>
                    </a:p>
                  </a:txBody>
                  <a:tcPr marL="88072" marR="88072" marT="44036" marB="44036" anchor="ctr">
                    <a:lnL>
                      <a:noFill/>
                    </a:lnL>
                    <a:lnR>
                      <a:noFill/>
                    </a:lnR>
                    <a:lnT>
                      <a:noFill/>
                    </a:lnT>
                    <a:lnB>
                      <a:noFill/>
                    </a:lnB>
                    <a:noFill/>
                  </a:tcPr>
                </a:tc>
                <a:tc>
                  <a:txBody>
                    <a:bodyPr/>
                    <a:lstStyle/>
                    <a:p>
                      <a:pPr>
                        <a:buNone/>
                      </a:pPr>
                      <a:r>
                        <a:rPr lang="en-US" sz="1700">
                          <a:latin typeface="Courier New" panose="02070309020205020404" pitchFamily="49" charset="0"/>
                        </a:rPr>
                        <a:t>protected:int maxSpeed;</a:t>
                      </a:r>
                      <a:endParaRPr lang="en-US" sz="1700"/>
                    </a:p>
                  </a:txBody>
                  <a:tcPr marL="88072" marR="88072" marT="44036" marB="44036" anchor="ctr">
                    <a:lnL>
                      <a:noFill/>
                    </a:lnL>
                    <a:lnR>
                      <a:noFill/>
                    </a:lnR>
                    <a:lnT>
                      <a:noFill/>
                    </a:lnT>
                    <a:lnB>
                      <a:noFill/>
                    </a:lnB>
                    <a:noFill/>
                  </a:tcPr>
                </a:tc>
                <a:tc>
                  <a:txBody>
                    <a:bodyPr/>
                    <a:lstStyle/>
                    <a:p>
                      <a:pPr>
                        <a:buNone/>
                      </a:pPr>
                      <a:r>
                        <a:rPr lang="en-US" sz="1700"/>
                        <a:t>Car base speed used by child class </a:t>
                      </a:r>
                      <a:r>
                        <a:rPr lang="en-US" sz="1700">
                          <a:latin typeface="Courier New" panose="02070309020205020404" pitchFamily="49" charset="0"/>
                        </a:rPr>
                        <a:t>SportsCar</a:t>
                      </a:r>
                      <a:r>
                        <a:rPr lang="en-US" sz="1700"/>
                        <a:t> internally; outsiders cannot access.</a:t>
                      </a:r>
                    </a:p>
                  </a:txBody>
                  <a:tcPr marL="88072" marR="88072" marT="44036" marB="44036" anchor="ctr">
                    <a:lnL>
                      <a:noFill/>
                    </a:lnL>
                    <a:lnR>
                      <a:noFill/>
                    </a:lnR>
                    <a:lnT>
                      <a:noFill/>
                    </a:lnT>
                    <a:lnB>
                      <a:noFill/>
                    </a:lnB>
                    <a:noFill/>
                  </a:tcPr>
                </a:tc>
                <a:extLst>
                  <a:ext uri="{0D108BD9-81ED-4DB2-BD59-A6C34878D82A}">
                    <a16:rowId xmlns:a16="http://schemas.microsoft.com/office/drawing/2014/main" val="2052759475"/>
                  </a:ext>
                </a:extLst>
              </a:tr>
              <a:tr h="777583">
                <a:tc>
                  <a:txBody>
                    <a:bodyPr/>
                    <a:lstStyle/>
                    <a:p>
                      <a:pPr>
                        <a:buNone/>
                      </a:pPr>
                      <a:r>
                        <a:rPr lang="en-US" sz="1700" b="1" dirty="0"/>
                        <a:t>Public</a:t>
                      </a:r>
                    </a:p>
                  </a:txBody>
                  <a:tcPr marL="88072" marR="88072" marT="44036" marB="44036" anchor="ctr">
                    <a:lnL>
                      <a:noFill/>
                    </a:lnL>
                    <a:lnR>
                      <a:noFill/>
                    </a:lnR>
                    <a:lnT>
                      <a:noFill/>
                    </a:lnT>
                    <a:lnB>
                      <a:noFill/>
                    </a:lnB>
                    <a:noFill/>
                  </a:tcPr>
                </a:tc>
                <a:tc>
                  <a:txBody>
                    <a:bodyPr/>
                    <a:lstStyle/>
                    <a:p>
                      <a:pPr>
                        <a:buNone/>
                      </a:pPr>
                      <a:r>
                        <a:rPr lang="en-US" sz="1700"/>
                        <a:t>Anywhere</a:t>
                      </a:r>
                    </a:p>
                  </a:txBody>
                  <a:tcPr marL="88072" marR="88072" marT="44036" marB="44036" anchor="ctr">
                    <a:lnL>
                      <a:noFill/>
                    </a:lnL>
                    <a:lnR>
                      <a:noFill/>
                    </a:lnR>
                    <a:lnT>
                      <a:noFill/>
                    </a:lnT>
                    <a:lnB>
                      <a:noFill/>
                    </a:lnB>
                    <a:noFill/>
                  </a:tcPr>
                </a:tc>
                <a:tc>
                  <a:txBody>
                    <a:bodyPr/>
                    <a:lstStyle/>
                    <a:p>
                      <a:pPr>
                        <a:buNone/>
                      </a:pPr>
                      <a:r>
                        <a:rPr lang="en-US" sz="1700" dirty="0" err="1">
                          <a:latin typeface="Courier New" panose="02070309020205020404" pitchFamily="49" charset="0"/>
                        </a:rPr>
                        <a:t>public:string</a:t>
                      </a:r>
                      <a:r>
                        <a:rPr lang="en-US" sz="1700" dirty="0">
                          <a:latin typeface="Courier New" panose="02070309020205020404" pitchFamily="49" charset="0"/>
                        </a:rPr>
                        <a:t> username;</a:t>
                      </a:r>
                      <a:endParaRPr lang="en-US" sz="1700" dirty="0"/>
                    </a:p>
                  </a:txBody>
                  <a:tcPr marL="88072" marR="88072" marT="44036" marB="44036" anchor="ctr">
                    <a:lnL>
                      <a:noFill/>
                    </a:lnL>
                    <a:lnR>
                      <a:noFill/>
                    </a:lnR>
                    <a:lnT>
                      <a:noFill/>
                    </a:lnT>
                    <a:lnB>
                      <a:noFill/>
                    </a:lnB>
                    <a:noFill/>
                  </a:tcPr>
                </a:tc>
                <a:tc>
                  <a:txBody>
                    <a:bodyPr/>
                    <a:lstStyle/>
                    <a:p>
                      <a:pPr>
                        <a:buNone/>
                      </a:pPr>
                      <a:r>
                        <a:rPr lang="en-US" sz="1700" dirty="0"/>
                        <a:t>App username visible to everyone; no restriction.</a:t>
                      </a:r>
                    </a:p>
                  </a:txBody>
                  <a:tcPr marL="88072" marR="88072" marT="44036" marB="44036" anchor="ctr">
                    <a:lnL>
                      <a:noFill/>
                    </a:lnL>
                    <a:lnR>
                      <a:noFill/>
                    </a:lnR>
                    <a:lnT>
                      <a:noFill/>
                    </a:lnT>
                    <a:lnB>
                      <a:noFill/>
                    </a:lnB>
                    <a:noFill/>
                  </a:tcPr>
                </a:tc>
                <a:extLst>
                  <a:ext uri="{0D108BD9-81ED-4DB2-BD59-A6C34878D82A}">
                    <a16:rowId xmlns:a16="http://schemas.microsoft.com/office/drawing/2014/main" val="1275101047"/>
                  </a:ext>
                </a:extLst>
              </a:tr>
            </a:tbl>
          </a:graphicData>
        </a:graphic>
      </p:graphicFrame>
      <p:sp>
        <p:nvSpPr>
          <p:cNvPr id="6" name="TextBox 5">
            <a:extLst>
              <a:ext uri="{FF2B5EF4-FFF2-40B4-BE49-F238E27FC236}">
                <a16:creationId xmlns:a16="http://schemas.microsoft.com/office/drawing/2014/main" id="{1C2A6121-E6AD-E563-6820-4965E4CF55D5}"/>
              </a:ext>
            </a:extLst>
          </p:cNvPr>
          <p:cNvSpPr txBox="1"/>
          <p:nvPr/>
        </p:nvSpPr>
        <p:spPr>
          <a:xfrm>
            <a:off x="1255229" y="4991779"/>
            <a:ext cx="6094638" cy="1200329"/>
          </a:xfrm>
          <a:prstGeom prst="rect">
            <a:avLst/>
          </a:prstGeom>
          <a:noFill/>
        </p:spPr>
        <p:txBody>
          <a:bodyPr wrap="square">
            <a:spAutoFit/>
          </a:bodyPr>
          <a:lstStyle/>
          <a:p>
            <a:pPr>
              <a:buFont typeface="Arial" panose="020B0604020202020204" pitchFamily="34" charset="0"/>
              <a:buChar char="•"/>
            </a:pPr>
            <a:r>
              <a:rPr lang="en-US" b="1" dirty="0"/>
              <a:t>Derived class + access:</a:t>
            </a:r>
            <a:r>
              <a:rPr lang="en-US" dirty="0"/>
              <a:t> Private → cannot access, Protected → can access, Public → can access anywhere. </a:t>
            </a:r>
          </a:p>
          <a:p>
            <a:pPr>
              <a:buFont typeface="Arial" panose="020B0604020202020204" pitchFamily="34" charset="0"/>
              <a:buChar char="•"/>
            </a:pPr>
            <a:r>
              <a:rPr lang="en-US" b="1" dirty="0"/>
              <a:t>Why method is public/private:</a:t>
            </a:r>
            <a:r>
              <a:rPr lang="en-US" dirty="0"/>
              <a:t> Controls data flow and security. </a:t>
            </a:r>
          </a:p>
        </p:txBody>
      </p:sp>
    </p:spTree>
    <p:extLst>
      <p:ext uri="{BB962C8B-B14F-4D97-AF65-F5344CB8AC3E}">
        <p14:creationId xmlns:p14="http://schemas.microsoft.com/office/powerpoint/2010/main" val="2209972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0963D-AF22-81C2-C58C-1EE93BD15A8C}"/>
              </a:ext>
            </a:extLst>
          </p:cNvPr>
          <p:cNvSpPr>
            <a:spLocks noGrp="1"/>
          </p:cNvSpPr>
          <p:nvPr>
            <p:ph type="ctrTitle"/>
          </p:nvPr>
        </p:nvSpPr>
        <p:spPr/>
        <p:txBody>
          <a:bodyPr/>
          <a:lstStyle/>
          <a:p>
            <a:pPr algn="ctr"/>
            <a:r>
              <a:rPr lang="en-US" dirty="0"/>
              <a:t>Introduction to objects</a:t>
            </a:r>
          </a:p>
        </p:txBody>
      </p:sp>
      <p:sp>
        <p:nvSpPr>
          <p:cNvPr id="3" name="Subtitle 2">
            <a:extLst>
              <a:ext uri="{FF2B5EF4-FFF2-40B4-BE49-F238E27FC236}">
                <a16:creationId xmlns:a16="http://schemas.microsoft.com/office/drawing/2014/main" id="{17FAFF74-0E11-CBF5-D765-4707A8B25D4B}"/>
              </a:ext>
            </a:extLst>
          </p:cNvPr>
          <p:cNvSpPr>
            <a:spLocks noGrp="1"/>
          </p:cNvSpPr>
          <p:nvPr>
            <p:ph type="subTitle" idx="1"/>
          </p:nvPr>
        </p:nvSpPr>
        <p:spPr/>
        <p:txBody>
          <a:bodyPr/>
          <a:lstStyle/>
          <a:p>
            <a:r>
              <a:rPr lang="en-US" dirty="0"/>
              <a:t>In OOP C++</a:t>
            </a:r>
          </a:p>
        </p:txBody>
      </p:sp>
    </p:spTree>
    <p:extLst>
      <p:ext uri="{BB962C8B-B14F-4D97-AF65-F5344CB8AC3E}">
        <p14:creationId xmlns:p14="http://schemas.microsoft.com/office/powerpoint/2010/main" val="4784469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E4FE5C-472E-EDB6-20A8-F0844AD8B5F3}"/>
              </a:ext>
            </a:extLst>
          </p:cNvPr>
          <p:cNvPicPr>
            <a:picLocks noChangeAspect="1"/>
          </p:cNvPicPr>
          <p:nvPr/>
        </p:nvPicPr>
        <p:blipFill>
          <a:blip r:embed="rId3"/>
          <a:stretch>
            <a:fillRect/>
          </a:stretch>
        </p:blipFill>
        <p:spPr>
          <a:xfrm>
            <a:off x="0" y="128704"/>
            <a:ext cx="12192000" cy="6600591"/>
          </a:xfrm>
          <a:prstGeom prst="rect">
            <a:avLst/>
          </a:prstGeom>
        </p:spPr>
      </p:pic>
    </p:spTree>
    <p:extLst>
      <p:ext uri="{BB962C8B-B14F-4D97-AF65-F5344CB8AC3E}">
        <p14:creationId xmlns:p14="http://schemas.microsoft.com/office/powerpoint/2010/main" val="14952664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63ACCF5-0F57-D5DD-2F5E-CA2B195D107F}"/>
              </a:ext>
            </a:extLst>
          </p:cNvPr>
          <p:cNvPicPr>
            <a:picLocks noChangeAspect="1"/>
          </p:cNvPicPr>
          <p:nvPr/>
        </p:nvPicPr>
        <p:blipFill>
          <a:blip r:embed="rId2"/>
          <a:stretch>
            <a:fillRect/>
          </a:stretch>
        </p:blipFill>
        <p:spPr>
          <a:xfrm>
            <a:off x="0" y="23587"/>
            <a:ext cx="12192000" cy="6810826"/>
          </a:xfrm>
          <a:prstGeom prst="rect">
            <a:avLst/>
          </a:prstGeom>
        </p:spPr>
      </p:pic>
    </p:spTree>
    <p:extLst>
      <p:ext uri="{BB962C8B-B14F-4D97-AF65-F5344CB8AC3E}">
        <p14:creationId xmlns:p14="http://schemas.microsoft.com/office/powerpoint/2010/main" val="25120303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A4BEF49-CA96-70DB-8142-4529B050D611}"/>
              </a:ext>
            </a:extLst>
          </p:cNvPr>
          <p:cNvPicPr>
            <a:picLocks noChangeAspect="1"/>
          </p:cNvPicPr>
          <p:nvPr/>
        </p:nvPicPr>
        <p:blipFill>
          <a:blip r:embed="rId2"/>
          <a:stretch>
            <a:fillRect/>
          </a:stretch>
        </p:blipFill>
        <p:spPr>
          <a:xfrm>
            <a:off x="0" y="190363"/>
            <a:ext cx="12192000" cy="6477274"/>
          </a:xfrm>
          <a:prstGeom prst="rect">
            <a:avLst/>
          </a:prstGeom>
        </p:spPr>
      </p:pic>
    </p:spTree>
    <p:extLst>
      <p:ext uri="{BB962C8B-B14F-4D97-AF65-F5344CB8AC3E}">
        <p14:creationId xmlns:p14="http://schemas.microsoft.com/office/powerpoint/2010/main" val="10115262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988482D-DF5B-0CB2-E47B-C242CD9090A7}"/>
              </a:ext>
            </a:extLst>
          </p:cNvPr>
          <p:cNvPicPr>
            <a:picLocks noChangeAspect="1"/>
          </p:cNvPicPr>
          <p:nvPr/>
        </p:nvPicPr>
        <p:blipFill>
          <a:blip r:embed="rId3"/>
          <a:stretch>
            <a:fillRect/>
          </a:stretch>
        </p:blipFill>
        <p:spPr>
          <a:xfrm>
            <a:off x="0" y="47411"/>
            <a:ext cx="12192000" cy="6763178"/>
          </a:xfrm>
          <a:prstGeom prst="rect">
            <a:avLst/>
          </a:prstGeom>
        </p:spPr>
      </p:pic>
    </p:spTree>
    <p:extLst>
      <p:ext uri="{BB962C8B-B14F-4D97-AF65-F5344CB8AC3E}">
        <p14:creationId xmlns:p14="http://schemas.microsoft.com/office/powerpoint/2010/main" val="14030347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52B11-2472-2D43-8AAC-4465DD024608}"/>
              </a:ext>
            </a:extLst>
          </p:cNvPr>
          <p:cNvSpPr>
            <a:spLocks noGrp="1"/>
          </p:cNvSpPr>
          <p:nvPr>
            <p:ph type="title"/>
          </p:nvPr>
        </p:nvSpPr>
        <p:spPr/>
        <p:txBody>
          <a:bodyPr/>
          <a:lstStyle/>
          <a:p>
            <a:pPr algn="ctr"/>
            <a:r>
              <a:rPr lang="en-US" dirty="0"/>
              <a:t>What is an object?</a:t>
            </a:r>
          </a:p>
        </p:txBody>
      </p:sp>
      <p:sp>
        <p:nvSpPr>
          <p:cNvPr id="3" name="Content Placeholder 2">
            <a:extLst>
              <a:ext uri="{FF2B5EF4-FFF2-40B4-BE49-F238E27FC236}">
                <a16:creationId xmlns:a16="http://schemas.microsoft.com/office/drawing/2014/main" id="{4ED734FF-0128-097E-E79E-036770994705}"/>
              </a:ext>
            </a:extLst>
          </p:cNvPr>
          <p:cNvSpPr>
            <a:spLocks noGrp="1"/>
          </p:cNvSpPr>
          <p:nvPr>
            <p:ph idx="1"/>
          </p:nvPr>
        </p:nvSpPr>
        <p:spPr/>
        <p:txBody>
          <a:bodyPr/>
          <a:lstStyle/>
          <a:p>
            <a:r>
              <a:rPr lang="en-US" sz="3600" dirty="0"/>
              <a:t>Represents </a:t>
            </a:r>
            <a:r>
              <a:rPr lang="en-US" sz="3600" dirty="0">
                <a:solidFill>
                  <a:srgbClr val="00B0F0"/>
                </a:solidFill>
              </a:rPr>
              <a:t>real world entity</a:t>
            </a:r>
          </a:p>
          <a:p>
            <a:r>
              <a:rPr lang="en-US" sz="3200" dirty="0"/>
              <a:t>Has </a:t>
            </a:r>
            <a:r>
              <a:rPr lang="en-US" sz="3200" dirty="0">
                <a:solidFill>
                  <a:srgbClr val="00B0F0"/>
                </a:solidFill>
              </a:rPr>
              <a:t>state</a:t>
            </a:r>
            <a:r>
              <a:rPr lang="en-US" sz="3200" dirty="0"/>
              <a:t>(data/attributes/properties)</a:t>
            </a:r>
          </a:p>
          <a:p>
            <a:r>
              <a:rPr lang="en-US" sz="3200" dirty="0"/>
              <a:t>Has </a:t>
            </a:r>
            <a:r>
              <a:rPr lang="en-US" sz="3200" dirty="0">
                <a:solidFill>
                  <a:srgbClr val="00B0F0"/>
                </a:solidFill>
              </a:rPr>
              <a:t>behavior</a:t>
            </a:r>
            <a:r>
              <a:rPr lang="en-US" sz="3200" dirty="0"/>
              <a:t>(methods/function)</a:t>
            </a:r>
          </a:p>
          <a:p>
            <a:r>
              <a:rPr lang="en-US" altLang="en-US" sz="3200" b="1" dirty="0">
                <a:latin typeface="Arial" panose="020B0604020202020204" pitchFamily="34" charset="0"/>
              </a:rPr>
              <a:t>Class</a:t>
            </a:r>
            <a:r>
              <a:rPr lang="en-US" altLang="en-US" sz="3200" dirty="0">
                <a:latin typeface="Arial" panose="020B0604020202020204" pitchFamily="34" charset="0"/>
              </a:rPr>
              <a:t> → blueprint or template</a:t>
            </a:r>
          </a:p>
          <a:p>
            <a:r>
              <a:rPr lang="en-US" altLang="en-US" sz="3200" b="1" dirty="0">
                <a:latin typeface="Arial" panose="020B0604020202020204" pitchFamily="34" charset="0"/>
              </a:rPr>
              <a:t>Object</a:t>
            </a:r>
            <a:r>
              <a:rPr lang="en-US" altLang="en-US" sz="3200" dirty="0">
                <a:latin typeface="Arial" panose="020B0604020202020204" pitchFamily="34" charset="0"/>
              </a:rPr>
              <a:t> → actual thing made from that blueprint</a:t>
            </a:r>
          </a:p>
          <a:p>
            <a:endParaRPr lang="en-US" dirty="0"/>
          </a:p>
        </p:txBody>
      </p:sp>
    </p:spTree>
    <p:extLst>
      <p:ext uri="{BB962C8B-B14F-4D97-AF65-F5344CB8AC3E}">
        <p14:creationId xmlns:p14="http://schemas.microsoft.com/office/powerpoint/2010/main" val="23322556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8CAEB68-2278-32AF-E5F9-EC5E4702FF05}"/>
              </a:ext>
            </a:extLst>
          </p:cNvPr>
          <p:cNvSpPr>
            <a:spLocks noGrp="1"/>
          </p:cNvSpPr>
          <p:nvPr>
            <p:ph type="title"/>
          </p:nvPr>
        </p:nvSpPr>
        <p:spPr/>
        <p:txBody>
          <a:bodyPr/>
          <a:lstStyle/>
          <a:p>
            <a:pPr algn="ctr"/>
            <a:r>
              <a:rPr lang="en-US" dirty="0"/>
              <a:t>Creating objects and the ‘dot’ operator</a:t>
            </a:r>
          </a:p>
        </p:txBody>
      </p:sp>
      <p:sp>
        <p:nvSpPr>
          <p:cNvPr id="5" name="Content Placeholder 4">
            <a:extLst>
              <a:ext uri="{FF2B5EF4-FFF2-40B4-BE49-F238E27FC236}">
                <a16:creationId xmlns:a16="http://schemas.microsoft.com/office/drawing/2014/main" id="{90120257-AF8D-9B8A-DCEB-504111DF3DED}"/>
              </a:ext>
            </a:extLst>
          </p:cNvPr>
          <p:cNvSpPr>
            <a:spLocks noGrp="1"/>
          </p:cNvSpPr>
          <p:nvPr>
            <p:ph sz="half" idx="1"/>
          </p:nvPr>
        </p:nvSpPr>
        <p:spPr/>
        <p:txBody>
          <a:bodyPr/>
          <a:lstStyle/>
          <a:p>
            <a:r>
              <a:rPr lang="en-US" b="1" dirty="0"/>
              <a:t>Instantiation</a:t>
            </a:r>
          </a:p>
          <a:p>
            <a:r>
              <a:rPr lang="en-US" dirty="0">
                <a:solidFill>
                  <a:srgbClr val="333333"/>
                </a:solidFill>
              </a:rPr>
              <a:t>This is the process of creating a real </a:t>
            </a:r>
            <a:r>
              <a:rPr lang="en-US" sz="1800" b="1" dirty="0">
                <a:solidFill>
                  <a:srgbClr val="333333"/>
                </a:solidFill>
              </a:rPr>
              <a:t>Object</a:t>
            </a:r>
            <a:r>
              <a:rPr lang="en-US" dirty="0">
                <a:solidFill>
                  <a:srgbClr val="333333"/>
                </a:solidFill>
              </a:rPr>
              <a:t> from a </a:t>
            </a:r>
            <a:r>
              <a:rPr lang="en-US" sz="1800" b="1" dirty="0">
                <a:solidFill>
                  <a:srgbClr val="333333"/>
                </a:solidFill>
              </a:rPr>
              <a:t>Class</a:t>
            </a:r>
            <a:r>
              <a:rPr lang="en-US" dirty="0">
                <a:solidFill>
                  <a:srgbClr val="333333"/>
                </a:solidFill>
              </a:rPr>
              <a:t> blueprint. It's like building the house from the map.</a:t>
            </a:r>
            <a:endParaRPr lang="en-US" dirty="0"/>
          </a:p>
          <a:p>
            <a:r>
              <a:rPr lang="en-US" sz="1800" b="1" dirty="0">
                <a:solidFill>
                  <a:srgbClr val="007BFF"/>
                </a:solidFill>
              </a:rPr>
              <a:t>Lamp</a:t>
            </a:r>
            <a:r>
              <a:rPr lang="en-US" dirty="0">
                <a:solidFill>
                  <a:srgbClr val="333333"/>
                </a:solidFill>
              </a:rPr>
              <a:t> </a:t>
            </a:r>
            <a:r>
              <a:rPr lang="en-US" dirty="0" err="1">
                <a:solidFill>
                  <a:srgbClr val="333333"/>
                </a:solidFill>
              </a:rPr>
              <a:t>myLamp</a:t>
            </a:r>
            <a:r>
              <a:rPr lang="en-US" dirty="0">
                <a:solidFill>
                  <a:srgbClr val="333333"/>
                </a:solidFill>
              </a:rPr>
              <a:t>; </a:t>
            </a:r>
            <a:r>
              <a:rPr lang="en-US" i="1" dirty="0">
                <a:solidFill>
                  <a:srgbClr val="6A737D"/>
                </a:solidFill>
              </a:rPr>
              <a:t>// Object created!</a:t>
            </a:r>
            <a:endParaRPr lang="en-US" dirty="0"/>
          </a:p>
          <a:p>
            <a:r>
              <a:rPr lang="en-US" sz="1800" b="1" dirty="0">
                <a:solidFill>
                  <a:srgbClr val="333333"/>
                </a:solidFill>
              </a:rPr>
              <a:t>Memory Allocation:</a:t>
            </a:r>
            <a:r>
              <a:rPr lang="en-US" dirty="0">
                <a:solidFill>
                  <a:srgbClr val="333333"/>
                </a:solidFill>
              </a:rPr>
              <a:t> When you instantiate, the computer sets aside space in memory to store that object's specific data.</a:t>
            </a:r>
            <a:endParaRPr lang="en-US" dirty="0"/>
          </a:p>
          <a:p>
            <a:endParaRPr lang="en-US" b="1" dirty="0"/>
          </a:p>
        </p:txBody>
      </p:sp>
      <p:sp>
        <p:nvSpPr>
          <p:cNvPr id="6" name="Content Placeholder 5">
            <a:extLst>
              <a:ext uri="{FF2B5EF4-FFF2-40B4-BE49-F238E27FC236}">
                <a16:creationId xmlns:a16="http://schemas.microsoft.com/office/drawing/2014/main" id="{60AE7BCC-700D-5CA1-E226-18C886C195BC}"/>
              </a:ext>
            </a:extLst>
          </p:cNvPr>
          <p:cNvSpPr>
            <a:spLocks noGrp="1"/>
          </p:cNvSpPr>
          <p:nvPr>
            <p:ph sz="half" idx="2"/>
          </p:nvPr>
        </p:nvSpPr>
        <p:spPr/>
        <p:txBody>
          <a:bodyPr/>
          <a:lstStyle/>
          <a:p>
            <a:pPr marL="0" indent="0">
              <a:buNone/>
            </a:pPr>
            <a:r>
              <a:rPr lang="en-US" b="1" dirty="0"/>
              <a:t>The Dot Operator</a:t>
            </a:r>
          </a:p>
          <a:p>
            <a:pPr marL="0" indent="0">
              <a:buNone/>
            </a:pPr>
            <a:r>
              <a:rPr lang="en-US" dirty="0">
                <a:solidFill>
                  <a:srgbClr val="333333"/>
                </a:solidFill>
              </a:rPr>
              <a:t>The dot operator is used to </a:t>
            </a:r>
            <a:r>
              <a:rPr lang="en-US" sz="1800" b="1" dirty="0">
                <a:solidFill>
                  <a:srgbClr val="333333"/>
                </a:solidFill>
              </a:rPr>
              <a:t>access</a:t>
            </a:r>
            <a:r>
              <a:rPr lang="en-US" dirty="0">
                <a:solidFill>
                  <a:srgbClr val="333333"/>
                </a:solidFill>
              </a:rPr>
              <a:t> the properties and behaviors of an object. Think of it as "pointing" to a feature.</a:t>
            </a:r>
            <a:endParaRPr lang="en-US" dirty="0"/>
          </a:p>
          <a:p>
            <a:pPr marL="0" indent="0">
              <a:buNone/>
            </a:pPr>
            <a:r>
              <a:rPr lang="en-US" dirty="0" err="1">
                <a:solidFill>
                  <a:srgbClr val="333333"/>
                </a:solidFill>
              </a:rPr>
              <a:t>myLamp.</a:t>
            </a:r>
            <a:r>
              <a:rPr lang="en-US" sz="1800" b="1" dirty="0" err="1">
                <a:solidFill>
                  <a:srgbClr val="007BFF"/>
                </a:solidFill>
              </a:rPr>
              <a:t>turnOn</a:t>
            </a:r>
            <a:r>
              <a:rPr lang="en-US" dirty="0">
                <a:solidFill>
                  <a:srgbClr val="333333"/>
                </a:solidFill>
              </a:rPr>
              <a:t>(); </a:t>
            </a:r>
            <a:r>
              <a:rPr lang="en-US" i="1" dirty="0">
                <a:solidFill>
                  <a:srgbClr val="6A737D"/>
                </a:solidFill>
              </a:rPr>
              <a:t>// Call behavior</a:t>
            </a:r>
            <a:r>
              <a:rPr lang="en-US" dirty="0">
                <a:solidFill>
                  <a:srgbClr val="333333"/>
                </a:solidFill>
              </a:rPr>
              <a:t>
 </a:t>
            </a:r>
            <a:r>
              <a:rPr lang="en-US" dirty="0" err="1">
                <a:solidFill>
                  <a:srgbClr val="333333"/>
                </a:solidFill>
              </a:rPr>
              <a:t>myLamp.color</a:t>
            </a:r>
            <a:r>
              <a:rPr lang="en-US" dirty="0">
                <a:solidFill>
                  <a:srgbClr val="333333"/>
                </a:solidFill>
              </a:rPr>
              <a:t> = </a:t>
            </a:r>
            <a:r>
              <a:rPr lang="en-US" sz="1800" b="1" dirty="0">
                <a:solidFill>
                  <a:srgbClr val="007BFF"/>
                </a:solidFill>
              </a:rPr>
              <a:t>"Yellow"</a:t>
            </a:r>
            <a:r>
              <a:rPr lang="en-US" dirty="0">
                <a:solidFill>
                  <a:srgbClr val="333333"/>
                </a:solidFill>
              </a:rPr>
              <a:t>; </a:t>
            </a:r>
            <a:r>
              <a:rPr lang="en-US" i="1" dirty="0">
                <a:solidFill>
                  <a:srgbClr val="6A737D"/>
                </a:solidFill>
              </a:rPr>
              <a:t>// Set property</a:t>
            </a:r>
            <a:endParaRPr lang="en-US" dirty="0"/>
          </a:p>
          <a:p>
            <a:pPr marL="0" indent="0">
              <a:buNone/>
            </a:pPr>
            <a:r>
              <a:rPr lang="en-US" sz="1800" b="1" dirty="0">
                <a:solidFill>
                  <a:srgbClr val="333333"/>
                </a:solidFill>
              </a:rPr>
              <a:t>Analogy:</a:t>
            </a:r>
            <a:r>
              <a:rPr lang="en-US" dirty="0">
                <a:solidFill>
                  <a:srgbClr val="333333"/>
                </a:solidFill>
              </a:rPr>
              <a:t> If the object is a TV, the dot operator is like pressing a specific button on the remote to change the channel.</a:t>
            </a:r>
            <a:endParaRPr lang="en-US" dirty="0"/>
          </a:p>
          <a:p>
            <a:pPr marL="0" indent="0">
              <a:buNone/>
            </a:pPr>
            <a:endParaRPr lang="en-US" b="1" dirty="0"/>
          </a:p>
        </p:txBody>
      </p:sp>
    </p:spTree>
    <p:extLst>
      <p:ext uri="{BB962C8B-B14F-4D97-AF65-F5344CB8AC3E}">
        <p14:creationId xmlns:p14="http://schemas.microsoft.com/office/powerpoint/2010/main" val="34920226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52679-23E7-D768-B789-F27585C71DEA}"/>
              </a:ext>
            </a:extLst>
          </p:cNvPr>
          <p:cNvSpPr>
            <a:spLocks noGrp="1"/>
          </p:cNvSpPr>
          <p:nvPr>
            <p:ph type="title"/>
          </p:nvPr>
        </p:nvSpPr>
        <p:spPr>
          <a:xfrm>
            <a:off x="1069848" y="906236"/>
            <a:ext cx="10058400" cy="547007"/>
          </a:xfrm>
        </p:spPr>
        <p:txBody>
          <a:bodyPr>
            <a:normAutofit fontScale="90000"/>
          </a:bodyPr>
          <a:lstStyle/>
          <a:p>
            <a:endParaRPr lang="en-US" dirty="0"/>
          </a:p>
        </p:txBody>
      </p:sp>
      <p:pic>
        <p:nvPicPr>
          <p:cNvPr id="16" name="Picture 15">
            <a:extLst>
              <a:ext uri="{FF2B5EF4-FFF2-40B4-BE49-F238E27FC236}">
                <a16:creationId xmlns:a16="http://schemas.microsoft.com/office/drawing/2014/main" id="{96BD8D6A-0A58-C0D3-BE52-B1FCF08039A1}"/>
              </a:ext>
            </a:extLst>
          </p:cNvPr>
          <p:cNvPicPr>
            <a:picLocks noChangeAspect="1"/>
          </p:cNvPicPr>
          <p:nvPr/>
        </p:nvPicPr>
        <p:blipFill>
          <a:blip r:embed="rId2"/>
          <a:stretch>
            <a:fillRect/>
          </a:stretch>
        </p:blipFill>
        <p:spPr>
          <a:xfrm>
            <a:off x="0" y="176975"/>
            <a:ext cx="12192000" cy="6504049"/>
          </a:xfrm>
          <a:prstGeom prst="rect">
            <a:avLst/>
          </a:prstGeom>
        </p:spPr>
      </p:pic>
    </p:spTree>
    <p:extLst>
      <p:ext uri="{BB962C8B-B14F-4D97-AF65-F5344CB8AC3E}">
        <p14:creationId xmlns:p14="http://schemas.microsoft.com/office/powerpoint/2010/main" val="3649932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D292E-2849-0A56-9F85-8D1C7B031D48}"/>
              </a:ext>
            </a:extLst>
          </p:cNvPr>
          <p:cNvSpPr>
            <a:spLocks noGrp="1"/>
          </p:cNvSpPr>
          <p:nvPr>
            <p:ph type="ctrTitle"/>
          </p:nvPr>
        </p:nvSpPr>
        <p:spPr/>
        <p:txBody>
          <a:bodyPr/>
          <a:lstStyle/>
          <a:p>
            <a:pPr algn="ctr"/>
            <a:r>
              <a:rPr lang="en-US" dirty="0"/>
              <a:t>Methods or member functions</a:t>
            </a:r>
          </a:p>
        </p:txBody>
      </p:sp>
      <p:sp>
        <p:nvSpPr>
          <p:cNvPr id="3" name="Subtitle 2">
            <a:extLst>
              <a:ext uri="{FF2B5EF4-FFF2-40B4-BE49-F238E27FC236}">
                <a16:creationId xmlns:a16="http://schemas.microsoft.com/office/drawing/2014/main" id="{CBDB7C78-05BA-7CEA-DA1E-803DA475D4CD}"/>
              </a:ext>
            </a:extLst>
          </p:cNvPr>
          <p:cNvSpPr>
            <a:spLocks noGrp="1"/>
          </p:cNvSpPr>
          <p:nvPr>
            <p:ph type="subTitle" idx="1"/>
          </p:nvPr>
        </p:nvSpPr>
        <p:spPr/>
        <p:txBody>
          <a:bodyPr/>
          <a:lstStyle/>
          <a:p>
            <a:r>
              <a:rPr lang="en-US" dirty="0"/>
              <a:t>In OOP C++</a:t>
            </a:r>
          </a:p>
        </p:txBody>
      </p:sp>
    </p:spTree>
    <p:extLst>
      <p:ext uri="{BB962C8B-B14F-4D97-AF65-F5344CB8AC3E}">
        <p14:creationId xmlns:p14="http://schemas.microsoft.com/office/powerpoint/2010/main" val="10759328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8BE7322-BF90-C740-07B2-176008B9EA22}"/>
              </a:ext>
            </a:extLst>
          </p:cNvPr>
          <p:cNvPicPr>
            <a:picLocks noChangeAspect="1"/>
          </p:cNvPicPr>
          <p:nvPr/>
        </p:nvPicPr>
        <p:blipFill>
          <a:blip r:embed="rId2"/>
          <a:stretch>
            <a:fillRect/>
          </a:stretch>
        </p:blipFill>
        <p:spPr>
          <a:xfrm>
            <a:off x="0" y="41844"/>
            <a:ext cx="12192000" cy="6774312"/>
          </a:xfrm>
          <a:prstGeom prst="rect">
            <a:avLst/>
          </a:prstGeom>
        </p:spPr>
      </p:pic>
    </p:spTree>
    <p:extLst>
      <p:ext uri="{BB962C8B-B14F-4D97-AF65-F5344CB8AC3E}">
        <p14:creationId xmlns:p14="http://schemas.microsoft.com/office/powerpoint/2010/main" val="15396074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713712A-CDEC-AD54-9111-44E9B243BF1E}"/>
              </a:ext>
            </a:extLst>
          </p:cNvPr>
          <p:cNvPicPr>
            <a:picLocks noChangeAspect="1"/>
          </p:cNvPicPr>
          <p:nvPr/>
        </p:nvPicPr>
        <p:blipFill>
          <a:blip r:embed="rId2"/>
          <a:stretch>
            <a:fillRect/>
          </a:stretch>
        </p:blipFill>
        <p:spPr>
          <a:xfrm>
            <a:off x="0" y="66593"/>
            <a:ext cx="12192000" cy="6724814"/>
          </a:xfrm>
          <a:prstGeom prst="rect">
            <a:avLst/>
          </a:prstGeom>
        </p:spPr>
      </p:pic>
    </p:spTree>
    <p:extLst>
      <p:ext uri="{BB962C8B-B14F-4D97-AF65-F5344CB8AC3E}">
        <p14:creationId xmlns:p14="http://schemas.microsoft.com/office/powerpoint/2010/main" val="24577672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99C68-5FDE-F675-33BF-E3930013513E}"/>
              </a:ext>
            </a:extLst>
          </p:cNvPr>
          <p:cNvSpPr>
            <a:spLocks noGrp="1"/>
          </p:cNvSpPr>
          <p:nvPr>
            <p:ph type="title"/>
          </p:nvPr>
        </p:nvSpPr>
        <p:spPr>
          <a:xfrm>
            <a:off x="1069848" y="484632"/>
            <a:ext cx="10058400" cy="845404"/>
          </a:xfrm>
        </p:spPr>
        <p:txBody>
          <a:bodyPr/>
          <a:lstStyle/>
          <a:p>
            <a:pPr algn="ctr"/>
            <a:r>
              <a:rPr lang="en-US" dirty="0"/>
              <a:t>Member functions</a:t>
            </a:r>
          </a:p>
        </p:txBody>
      </p:sp>
      <p:sp>
        <p:nvSpPr>
          <p:cNvPr id="3" name="Content Placeholder 2">
            <a:extLst>
              <a:ext uri="{FF2B5EF4-FFF2-40B4-BE49-F238E27FC236}">
                <a16:creationId xmlns:a16="http://schemas.microsoft.com/office/drawing/2014/main" id="{D2AF2B30-10A9-BAA8-57CB-50813E863F94}"/>
              </a:ext>
            </a:extLst>
          </p:cNvPr>
          <p:cNvSpPr>
            <a:spLocks noGrp="1"/>
          </p:cNvSpPr>
          <p:nvPr>
            <p:ph idx="1"/>
          </p:nvPr>
        </p:nvSpPr>
        <p:spPr>
          <a:xfrm>
            <a:off x="515389" y="1579417"/>
            <a:ext cx="10609811" cy="5170518"/>
          </a:xfrm>
        </p:spPr>
        <p:txBody>
          <a:bodyPr/>
          <a:lstStyle/>
          <a:p>
            <a:r>
              <a:rPr lang="en-US" b="1" dirty="0"/>
              <a:t>1️⃣ Defined Inside Class:</a:t>
            </a:r>
            <a:endParaRPr lang="en-US" dirty="0"/>
          </a:p>
          <a:p>
            <a:r>
              <a:rPr lang="en-US" dirty="0"/>
              <a:t>A function written </a:t>
            </a:r>
            <a:r>
              <a:rPr lang="en-US" b="1" dirty="0"/>
              <a:t>inside the class body</a:t>
            </a:r>
            <a:r>
              <a:rPr lang="en-US" dirty="0"/>
              <a:t>.</a:t>
            </a:r>
          </a:p>
          <a:p>
            <a:r>
              <a:rPr lang="en-US" dirty="0"/>
              <a:t>Can </a:t>
            </a:r>
            <a:r>
              <a:rPr lang="en-US" b="1" dirty="0"/>
              <a:t>access or modify the class’s data members</a:t>
            </a:r>
            <a:r>
              <a:rPr lang="en-US" dirty="0"/>
              <a:t>.</a:t>
            </a:r>
          </a:p>
          <a:p>
            <a:r>
              <a:rPr lang="en-US" i="1" dirty="0"/>
              <a:t>(i.e., belongs to the class and works directly on its objects’ data)</a:t>
            </a:r>
          </a:p>
          <a:p>
            <a:r>
              <a:rPr lang="en-US" b="1" dirty="0"/>
              <a:t>2️⃣ Defined Outside Class (Using Scope Resolution Operator ::) :</a:t>
            </a:r>
          </a:p>
          <a:p>
            <a:r>
              <a:rPr lang="en-US" dirty="0"/>
              <a:t>A function </a:t>
            </a:r>
            <a:r>
              <a:rPr lang="en-US" b="1" dirty="0"/>
              <a:t>declared inside a class but defined outside</a:t>
            </a:r>
            <a:r>
              <a:rPr lang="en-US" dirty="0"/>
              <a:t> the class body.</a:t>
            </a:r>
          </a:p>
          <a:p>
            <a:r>
              <a:rPr lang="en-US" dirty="0"/>
              <a:t>Uses </a:t>
            </a:r>
            <a:r>
              <a:rPr lang="en-US" dirty="0" err="1"/>
              <a:t>ClassName</a:t>
            </a:r>
            <a:r>
              <a:rPr lang="en-US" dirty="0">
                <a:solidFill>
                  <a:srgbClr val="FF0000"/>
                </a:solidFill>
              </a:rPr>
              <a:t>::</a:t>
            </a:r>
            <a:r>
              <a:rPr lang="en-US" dirty="0" err="1"/>
              <a:t>FunctionName</a:t>
            </a:r>
            <a:r>
              <a:rPr lang="en-US" dirty="0"/>
              <a:t> to </a:t>
            </a:r>
            <a:r>
              <a:rPr lang="en-US" b="1" dirty="0"/>
              <a:t>link it to the class</a:t>
            </a:r>
            <a:r>
              <a:rPr lang="en-US" dirty="0"/>
              <a:t>.</a:t>
            </a:r>
          </a:p>
          <a:p>
            <a:r>
              <a:rPr lang="en-US" altLang="en-US" dirty="0">
                <a:latin typeface="Arial" panose="020B0604020202020204" pitchFamily="34" charset="0"/>
              </a:rPr>
              <a:t>Can </a:t>
            </a:r>
            <a:r>
              <a:rPr lang="en-US" altLang="en-US" b="1" dirty="0">
                <a:latin typeface="Arial" panose="020B0604020202020204" pitchFamily="34" charset="0"/>
              </a:rPr>
              <a:t>also access or modify the class’s data members</a:t>
            </a:r>
            <a:r>
              <a:rPr lang="en-US" altLang="en-US" dirty="0">
                <a:latin typeface="Arial" panose="020B0604020202020204" pitchFamily="34" charset="0"/>
              </a:rPr>
              <a:t>.</a:t>
            </a:r>
            <a:endParaRPr lang="en-US" dirty="0"/>
          </a:p>
          <a:p>
            <a:r>
              <a:rPr lang="en-US" i="1" dirty="0"/>
              <a:t>(i.e., function belongs to the class, but definition is separate for clarity or organization)</a:t>
            </a:r>
            <a:endParaRPr lang="en-US" dirty="0"/>
          </a:p>
          <a:p>
            <a:endParaRPr lang="en-US" dirty="0"/>
          </a:p>
        </p:txBody>
      </p:sp>
    </p:spTree>
    <p:extLst>
      <p:ext uri="{BB962C8B-B14F-4D97-AF65-F5344CB8AC3E}">
        <p14:creationId xmlns:p14="http://schemas.microsoft.com/office/powerpoint/2010/main" val="17477350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2AF83-094B-011C-C495-2DA58055EDCB}"/>
              </a:ext>
            </a:extLst>
          </p:cNvPr>
          <p:cNvSpPr>
            <a:spLocks noGrp="1"/>
          </p:cNvSpPr>
          <p:nvPr>
            <p:ph type="title"/>
          </p:nvPr>
        </p:nvSpPr>
        <p:spPr>
          <a:xfrm>
            <a:off x="1069848" y="484632"/>
            <a:ext cx="10058400" cy="695775"/>
          </a:xfrm>
        </p:spPr>
        <p:txBody>
          <a:bodyPr>
            <a:normAutofit fontScale="90000"/>
          </a:bodyPr>
          <a:lstStyle/>
          <a:p>
            <a:pPr algn="ctr"/>
            <a:r>
              <a:rPr lang="en-US" dirty="0"/>
              <a:t>comparison</a:t>
            </a:r>
          </a:p>
        </p:txBody>
      </p:sp>
      <p:graphicFrame>
        <p:nvGraphicFramePr>
          <p:cNvPr id="4" name="Content Placeholder 3">
            <a:extLst>
              <a:ext uri="{FF2B5EF4-FFF2-40B4-BE49-F238E27FC236}">
                <a16:creationId xmlns:a16="http://schemas.microsoft.com/office/drawing/2014/main" id="{95CD4DE6-29BF-52D0-EF39-1C06E8FEF8E2}"/>
              </a:ext>
            </a:extLst>
          </p:cNvPr>
          <p:cNvGraphicFramePr>
            <a:graphicFrameLocks noGrp="1"/>
          </p:cNvGraphicFramePr>
          <p:nvPr>
            <p:ph idx="1"/>
            <p:extLst>
              <p:ext uri="{D42A27DB-BD31-4B8C-83A1-F6EECF244321}">
                <p14:modId xmlns:p14="http://schemas.microsoft.com/office/powerpoint/2010/main" val="2346854634"/>
              </p:ext>
            </p:extLst>
          </p:nvPr>
        </p:nvGraphicFramePr>
        <p:xfrm>
          <a:off x="606829" y="1180407"/>
          <a:ext cx="10521546" cy="4932100"/>
        </p:xfrm>
        <a:graphic>
          <a:graphicData uri="http://schemas.openxmlformats.org/drawingml/2006/table">
            <a:tbl>
              <a:tblPr/>
              <a:tblGrid>
                <a:gridCol w="3507182">
                  <a:extLst>
                    <a:ext uri="{9D8B030D-6E8A-4147-A177-3AD203B41FA5}">
                      <a16:colId xmlns:a16="http://schemas.microsoft.com/office/drawing/2014/main" val="15175146"/>
                    </a:ext>
                  </a:extLst>
                </a:gridCol>
                <a:gridCol w="3507182">
                  <a:extLst>
                    <a:ext uri="{9D8B030D-6E8A-4147-A177-3AD203B41FA5}">
                      <a16:colId xmlns:a16="http://schemas.microsoft.com/office/drawing/2014/main" val="557438759"/>
                    </a:ext>
                  </a:extLst>
                </a:gridCol>
                <a:gridCol w="3507182">
                  <a:extLst>
                    <a:ext uri="{9D8B030D-6E8A-4147-A177-3AD203B41FA5}">
                      <a16:colId xmlns:a16="http://schemas.microsoft.com/office/drawing/2014/main" val="3738442853"/>
                    </a:ext>
                  </a:extLst>
                </a:gridCol>
              </a:tblGrid>
              <a:tr h="458800">
                <a:tc>
                  <a:txBody>
                    <a:bodyPr/>
                    <a:lstStyle/>
                    <a:p>
                      <a:pPr>
                        <a:buNone/>
                      </a:pPr>
                      <a:r>
                        <a:rPr lang="en-US"/>
                        <a:t>Feature / Aspect</a:t>
                      </a:r>
                    </a:p>
                  </a:txBody>
                  <a:tcPr anchor="ctr">
                    <a:lnL>
                      <a:noFill/>
                    </a:lnL>
                    <a:lnR>
                      <a:noFill/>
                    </a:lnR>
                    <a:lnT>
                      <a:noFill/>
                    </a:lnT>
                    <a:lnB>
                      <a:noFill/>
                    </a:lnB>
                    <a:noFill/>
                  </a:tcPr>
                </a:tc>
                <a:tc>
                  <a:txBody>
                    <a:bodyPr/>
                    <a:lstStyle/>
                    <a:p>
                      <a:pPr>
                        <a:buNone/>
                      </a:pPr>
                      <a:r>
                        <a:rPr lang="en-US"/>
                        <a:t>Defined Inside Class</a:t>
                      </a:r>
                    </a:p>
                  </a:txBody>
                  <a:tcPr anchor="ctr">
                    <a:lnL>
                      <a:noFill/>
                    </a:lnL>
                    <a:lnR>
                      <a:noFill/>
                    </a:lnR>
                    <a:lnT>
                      <a:noFill/>
                    </a:lnT>
                    <a:lnB>
                      <a:noFill/>
                    </a:lnB>
                    <a:noFill/>
                  </a:tcPr>
                </a:tc>
                <a:tc>
                  <a:txBody>
                    <a:bodyPr/>
                    <a:lstStyle/>
                    <a:p>
                      <a:pPr>
                        <a:buNone/>
                      </a:pPr>
                      <a:r>
                        <a:rPr lang="en-US"/>
                        <a:t>Defined Outside Class (</a:t>
                      </a:r>
                      <a:r>
                        <a:rPr lang="en-US">
                          <a:latin typeface="Courier New" panose="02070309020205020404" pitchFamily="49" charset="0"/>
                        </a:rPr>
                        <a:t>::</a:t>
                      </a:r>
                      <a:r>
                        <a:rPr lang="en-US"/>
                        <a:t>)</a:t>
                      </a:r>
                    </a:p>
                  </a:txBody>
                  <a:tcPr anchor="ctr">
                    <a:lnL>
                      <a:noFill/>
                    </a:lnL>
                    <a:lnR>
                      <a:noFill/>
                    </a:lnR>
                    <a:lnT>
                      <a:noFill/>
                    </a:lnT>
                    <a:lnB>
                      <a:noFill/>
                    </a:lnB>
                    <a:noFill/>
                  </a:tcPr>
                </a:tc>
                <a:extLst>
                  <a:ext uri="{0D108BD9-81ED-4DB2-BD59-A6C34878D82A}">
                    <a16:rowId xmlns:a16="http://schemas.microsoft.com/office/drawing/2014/main" val="2444108678"/>
                  </a:ext>
                </a:extLst>
              </a:tr>
              <a:tr h="458800">
                <a:tc>
                  <a:txBody>
                    <a:bodyPr/>
                    <a:lstStyle/>
                    <a:p>
                      <a:pPr>
                        <a:buNone/>
                      </a:pPr>
                      <a:r>
                        <a:rPr lang="en-US" b="1"/>
                        <a:t>Definition Location</a:t>
                      </a:r>
                      <a:endParaRPr lang="en-US"/>
                    </a:p>
                  </a:txBody>
                  <a:tcPr anchor="ctr">
                    <a:lnL>
                      <a:noFill/>
                    </a:lnL>
                    <a:lnR>
                      <a:noFill/>
                    </a:lnR>
                    <a:lnT>
                      <a:noFill/>
                    </a:lnT>
                    <a:lnB>
                      <a:noFill/>
                    </a:lnB>
                    <a:noFill/>
                  </a:tcPr>
                </a:tc>
                <a:tc>
                  <a:txBody>
                    <a:bodyPr/>
                    <a:lstStyle/>
                    <a:p>
                      <a:pPr>
                        <a:buNone/>
                      </a:pPr>
                      <a:r>
                        <a:rPr lang="en-US"/>
                        <a:t>Inside the class body</a:t>
                      </a:r>
                    </a:p>
                  </a:txBody>
                  <a:tcPr anchor="ctr">
                    <a:lnL>
                      <a:noFill/>
                    </a:lnL>
                    <a:lnR>
                      <a:noFill/>
                    </a:lnR>
                    <a:lnT>
                      <a:noFill/>
                    </a:lnT>
                    <a:lnB>
                      <a:noFill/>
                    </a:lnB>
                    <a:noFill/>
                  </a:tcPr>
                </a:tc>
                <a:tc>
                  <a:txBody>
                    <a:bodyPr/>
                    <a:lstStyle/>
                    <a:p>
                      <a:pPr>
                        <a:buNone/>
                      </a:pPr>
                      <a:r>
                        <a:rPr lang="en-US"/>
                        <a:t>Outside the class body</a:t>
                      </a:r>
                    </a:p>
                  </a:txBody>
                  <a:tcPr anchor="ctr">
                    <a:lnL>
                      <a:noFill/>
                    </a:lnL>
                    <a:lnR>
                      <a:noFill/>
                    </a:lnR>
                    <a:lnT>
                      <a:noFill/>
                    </a:lnT>
                    <a:lnB>
                      <a:noFill/>
                    </a:lnB>
                    <a:noFill/>
                  </a:tcPr>
                </a:tc>
                <a:extLst>
                  <a:ext uri="{0D108BD9-81ED-4DB2-BD59-A6C34878D82A}">
                    <a16:rowId xmlns:a16="http://schemas.microsoft.com/office/drawing/2014/main" val="1238998801"/>
                  </a:ext>
                </a:extLst>
              </a:tr>
              <a:tr h="802900">
                <a:tc>
                  <a:txBody>
                    <a:bodyPr/>
                    <a:lstStyle/>
                    <a:p>
                      <a:pPr>
                        <a:buNone/>
                      </a:pPr>
                      <a:r>
                        <a:rPr lang="en-US" b="1" dirty="0"/>
                        <a:t>Declaration Needed</a:t>
                      </a:r>
                      <a:endParaRPr lang="en-US" dirty="0"/>
                    </a:p>
                  </a:txBody>
                  <a:tcPr anchor="ctr">
                    <a:lnL>
                      <a:noFill/>
                    </a:lnL>
                    <a:lnR>
                      <a:noFill/>
                    </a:lnR>
                    <a:lnT>
                      <a:noFill/>
                    </a:lnT>
                    <a:lnB>
                      <a:noFill/>
                    </a:lnB>
                    <a:noFill/>
                  </a:tcPr>
                </a:tc>
                <a:tc>
                  <a:txBody>
                    <a:bodyPr/>
                    <a:lstStyle/>
                    <a:p>
                      <a:pPr>
                        <a:buNone/>
                      </a:pPr>
                      <a:r>
                        <a:rPr lang="en-US"/>
                        <a:t>No separate declaration required</a:t>
                      </a:r>
                    </a:p>
                  </a:txBody>
                  <a:tcPr anchor="ctr">
                    <a:lnL>
                      <a:noFill/>
                    </a:lnL>
                    <a:lnR>
                      <a:noFill/>
                    </a:lnR>
                    <a:lnT>
                      <a:noFill/>
                    </a:lnT>
                    <a:lnB>
                      <a:noFill/>
                    </a:lnB>
                    <a:noFill/>
                  </a:tcPr>
                </a:tc>
                <a:tc>
                  <a:txBody>
                    <a:bodyPr/>
                    <a:lstStyle/>
                    <a:p>
                      <a:pPr>
                        <a:buNone/>
                      </a:pPr>
                      <a:r>
                        <a:rPr lang="en-US"/>
                        <a:t>Must be declared inside the class first</a:t>
                      </a:r>
                    </a:p>
                  </a:txBody>
                  <a:tcPr anchor="ctr">
                    <a:lnL>
                      <a:noFill/>
                    </a:lnL>
                    <a:lnR>
                      <a:noFill/>
                    </a:lnR>
                    <a:lnT>
                      <a:noFill/>
                    </a:lnT>
                    <a:lnB>
                      <a:noFill/>
                    </a:lnB>
                    <a:noFill/>
                  </a:tcPr>
                </a:tc>
                <a:extLst>
                  <a:ext uri="{0D108BD9-81ED-4DB2-BD59-A6C34878D82A}">
                    <a16:rowId xmlns:a16="http://schemas.microsoft.com/office/drawing/2014/main" val="3088090835"/>
                  </a:ext>
                </a:extLst>
              </a:tr>
              <a:tr h="802900">
                <a:tc>
                  <a:txBody>
                    <a:bodyPr/>
                    <a:lstStyle/>
                    <a:p>
                      <a:pPr>
                        <a:buNone/>
                      </a:pPr>
                      <a:r>
                        <a:rPr lang="en-US" b="1"/>
                        <a:t>Access to Data Members</a:t>
                      </a:r>
                      <a:endParaRPr lang="en-US"/>
                    </a:p>
                  </a:txBody>
                  <a:tcPr anchor="ctr">
                    <a:lnL>
                      <a:noFill/>
                    </a:lnL>
                    <a:lnR>
                      <a:noFill/>
                    </a:lnR>
                    <a:lnT>
                      <a:noFill/>
                    </a:lnT>
                    <a:lnB>
                      <a:noFill/>
                    </a:lnB>
                    <a:noFill/>
                  </a:tcPr>
                </a:tc>
                <a:tc>
                  <a:txBody>
                    <a:bodyPr/>
                    <a:lstStyle/>
                    <a:p>
                      <a:pPr>
                        <a:buNone/>
                      </a:pPr>
                      <a:r>
                        <a:rPr lang="en-US"/>
                        <a:t>Can access and modify directly</a:t>
                      </a:r>
                    </a:p>
                  </a:txBody>
                  <a:tcPr anchor="ctr">
                    <a:lnL>
                      <a:noFill/>
                    </a:lnL>
                    <a:lnR>
                      <a:noFill/>
                    </a:lnR>
                    <a:lnT>
                      <a:noFill/>
                    </a:lnT>
                    <a:lnB>
                      <a:noFill/>
                    </a:lnB>
                    <a:noFill/>
                  </a:tcPr>
                </a:tc>
                <a:tc>
                  <a:txBody>
                    <a:bodyPr/>
                    <a:lstStyle/>
                    <a:p>
                      <a:pPr>
                        <a:buNone/>
                      </a:pPr>
                      <a:r>
                        <a:rPr lang="en-US"/>
                        <a:t>Can access and modify directly</a:t>
                      </a:r>
                    </a:p>
                  </a:txBody>
                  <a:tcPr anchor="ctr">
                    <a:lnL>
                      <a:noFill/>
                    </a:lnL>
                    <a:lnR>
                      <a:noFill/>
                    </a:lnR>
                    <a:lnT>
                      <a:noFill/>
                    </a:lnT>
                    <a:lnB>
                      <a:noFill/>
                    </a:lnB>
                    <a:noFill/>
                  </a:tcPr>
                </a:tc>
                <a:extLst>
                  <a:ext uri="{0D108BD9-81ED-4DB2-BD59-A6C34878D82A}">
                    <a16:rowId xmlns:a16="http://schemas.microsoft.com/office/drawing/2014/main" val="3543391016"/>
                  </a:ext>
                </a:extLst>
              </a:tr>
              <a:tr h="802900">
                <a:tc>
                  <a:txBody>
                    <a:bodyPr/>
                    <a:lstStyle/>
                    <a:p>
                      <a:pPr>
                        <a:buNone/>
                      </a:pPr>
                      <a:r>
                        <a:rPr lang="en-US" b="1"/>
                        <a:t>Use of Scope Resolution </a:t>
                      </a:r>
                      <a:r>
                        <a:rPr lang="en-US" b="1">
                          <a:latin typeface="Courier New" panose="02070309020205020404" pitchFamily="49" charset="0"/>
                        </a:rPr>
                        <a:t>::</a:t>
                      </a:r>
                      <a:endParaRPr lang="en-US"/>
                    </a:p>
                  </a:txBody>
                  <a:tcPr anchor="ctr">
                    <a:lnL>
                      <a:noFill/>
                    </a:lnL>
                    <a:lnR>
                      <a:noFill/>
                    </a:lnR>
                    <a:lnT>
                      <a:noFill/>
                    </a:lnT>
                    <a:lnB>
                      <a:noFill/>
                    </a:lnB>
                    <a:noFill/>
                  </a:tcPr>
                </a:tc>
                <a:tc>
                  <a:txBody>
                    <a:bodyPr/>
                    <a:lstStyle/>
                    <a:p>
                      <a:pPr>
                        <a:buNone/>
                      </a:pPr>
                      <a:r>
                        <a:rPr lang="en-US"/>
                        <a:t>Not needed</a:t>
                      </a:r>
                    </a:p>
                  </a:txBody>
                  <a:tcPr anchor="ctr">
                    <a:lnL>
                      <a:noFill/>
                    </a:lnL>
                    <a:lnR>
                      <a:noFill/>
                    </a:lnR>
                    <a:lnT>
                      <a:noFill/>
                    </a:lnT>
                    <a:lnB>
                      <a:noFill/>
                    </a:lnB>
                    <a:noFill/>
                  </a:tcPr>
                </a:tc>
                <a:tc>
                  <a:txBody>
                    <a:bodyPr/>
                    <a:lstStyle/>
                    <a:p>
                      <a:pPr>
                        <a:buNone/>
                      </a:pPr>
                      <a:r>
                        <a:rPr lang="en-US"/>
                        <a:t>Required to link the function to the class</a:t>
                      </a:r>
                    </a:p>
                  </a:txBody>
                  <a:tcPr anchor="ctr">
                    <a:lnL>
                      <a:noFill/>
                    </a:lnL>
                    <a:lnR>
                      <a:noFill/>
                    </a:lnR>
                    <a:lnT>
                      <a:noFill/>
                    </a:lnT>
                    <a:lnB>
                      <a:noFill/>
                    </a:lnB>
                    <a:noFill/>
                  </a:tcPr>
                </a:tc>
                <a:extLst>
                  <a:ext uri="{0D108BD9-81ED-4DB2-BD59-A6C34878D82A}">
                    <a16:rowId xmlns:a16="http://schemas.microsoft.com/office/drawing/2014/main" val="1928889611"/>
                  </a:ext>
                </a:extLst>
              </a:tr>
              <a:tr h="802900">
                <a:tc>
                  <a:txBody>
                    <a:bodyPr/>
                    <a:lstStyle/>
                    <a:p>
                      <a:pPr>
                        <a:buNone/>
                      </a:pPr>
                      <a:r>
                        <a:rPr lang="en-US" b="1"/>
                        <a:t>Readability / Organization</a:t>
                      </a:r>
                      <a:endParaRPr lang="en-US"/>
                    </a:p>
                  </a:txBody>
                  <a:tcPr anchor="ctr">
                    <a:lnL>
                      <a:noFill/>
                    </a:lnL>
                    <a:lnR>
                      <a:noFill/>
                    </a:lnR>
                    <a:lnT>
                      <a:noFill/>
                    </a:lnT>
                    <a:lnB>
                      <a:noFill/>
                    </a:lnB>
                    <a:noFill/>
                  </a:tcPr>
                </a:tc>
                <a:tc>
                  <a:txBody>
                    <a:bodyPr/>
                    <a:lstStyle/>
                    <a:p>
                      <a:pPr>
                        <a:buNone/>
                      </a:pPr>
                      <a:r>
                        <a:rPr lang="en-US"/>
                        <a:t>Simple, good for small functions</a:t>
                      </a:r>
                    </a:p>
                  </a:txBody>
                  <a:tcPr anchor="ctr">
                    <a:lnL>
                      <a:noFill/>
                    </a:lnL>
                    <a:lnR>
                      <a:noFill/>
                    </a:lnR>
                    <a:lnT>
                      <a:noFill/>
                    </a:lnT>
                    <a:lnB>
                      <a:noFill/>
                    </a:lnB>
                    <a:noFill/>
                  </a:tcPr>
                </a:tc>
                <a:tc>
                  <a:txBody>
                    <a:bodyPr/>
                    <a:lstStyle/>
                    <a:p>
                      <a:pPr>
                        <a:buNone/>
                      </a:pPr>
                      <a:r>
                        <a:rPr lang="en-US"/>
                        <a:t>Helps organize larger codebases</a:t>
                      </a:r>
                    </a:p>
                  </a:txBody>
                  <a:tcPr anchor="ctr">
                    <a:lnL>
                      <a:noFill/>
                    </a:lnL>
                    <a:lnR>
                      <a:noFill/>
                    </a:lnR>
                    <a:lnT>
                      <a:noFill/>
                    </a:lnT>
                    <a:lnB>
                      <a:noFill/>
                    </a:lnB>
                    <a:noFill/>
                  </a:tcPr>
                </a:tc>
                <a:extLst>
                  <a:ext uri="{0D108BD9-81ED-4DB2-BD59-A6C34878D82A}">
                    <a16:rowId xmlns:a16="http://schemas.microsoft.com/office/drawing/2014/main" val="3418539029"/>
                  </a:ext>
                </a:extLst>
              </a:tr>
              <a:tr h="802900">
                <a:tc>
                  <a:txBody>
                    <a:bodyPr/>
                    <a:lstStyle/>
                    <a:p>
                      <a:pPr>
                        <a:buNone/>
                      </a:pPr>
                      <a:r>
                        <a:rPr lang="en-US" b="1"/>
                        <a:t>Example</a:t>
                      </a:r>
                      <a:endParaRPr lang="en-US"/>
                    </a:p>
                  </a:txBody>
                  <a:tcPr anchor="ctr">
                    <a:lnL>
                      <a:noFill/>
                    </a:lnL>
                    <a:lnR>
                      <a:noFill/>
                    </a:lnR>
                    <a:lnT>
                      <a:noFill/>
                    </a:lnT>
                    <a:lnB>
                      <a:noFill/>
                    </a:lnB>
                    <a:noFill/>
                  </a:tcPr>
                </a:tc>
                <a:tc>
                  <a:txBody>
                    <a:bodyPr/>
                    <a:lstStyle/>
                    <a:p>
                      <a:pPr>
                        <a:buNone/>
                      </a:pPr>
                      <a:r>
                        <a:rPr lang="en-US" dirty="0">
                          <a:latin typeface="Courier New" panose="02070309020205020404" pitchFamily="49" charset="0"/>
                        </a:rPr>
                        <a:t>void display() { </a:t>
                      </a:r>
                      <a:r>
                        <a:rPr lang="en-US" dirty="0" err="1">
                          <a:latin typeface="Courier New" panose="02070309020205020404" pitchFamily="49" charset="0"/>
                        </a:rPr>
                        <a:t>cout</a:t>
                      </a:r>
                      <a:r>
                        <a:rPr lang="en-US" dirty="0">
                          <a:latin typeface="Courier New" panose="02070309020205020404" pitchFamily="49" charset="0"/>
                        </a:rPr>
                        <a:t> &lt;&lt; marks; }</a:t>
                      </a:r>
                      <a:endParaRPr lang="en-US" dirty="0"/>
                    </a:p>
                  </a:txBody>
                  <a:tcPr anchor="ctr">
                    <a:lnL>
                      <a:noFill/>
                    </a:lnL>
                    <a:lnR>
                      <a:noFill/>
                    </a:lnR>
                    <a:lnT>
                      <a:noFill/>
                    </a:lnT>
                    <a:lnB>
                      <a:noFill/>
                    </a:lnB>
                    <a:noFill/>
                  </a:tcPr>
                </a:tc>
                <a:tc>
                  <a:txBody>
                    <a:bodyPr/>
                    <a:lstStyle/>
                    <a:p>
                      <a:pPr>
                        <a:buNone/>
                      </a:pPr>
                      <a:r>
                        <a:rPr lang="en-US" dirty="0">
                          <a:latin typeface="Courier New" panose="02070309020205020404" pitchFamily="49" charset="0"/>
                        </a:rPr>
                        <a:t>void Student::display() { </a:t>
                      </a:r>
                      <a:r>
                        <a:rPr lang="en-US" dirty="0" err="1">
                          <a:latin typeface="Courier New" panose="02070309020205020404" pitchFamily="49" charset="0"/>
                        </a:rPr>
                        <a:t>cout</a:t>
                      </a:r>
                      <a:r>
                        <a:rPr lang="en-US" dirty="0">
                          <a:latin typeface="Courier New" panose="02070309020205020404" pitchFamily="49" charset="0"/>
                        </a:rPr>
                        <a:t> &lt;&lt; marks; }</a:t>
                      </a:r>
                      <a:endParaRPr lang="en-US" dirty="0"/>
                    </a:p>
                  </a:txBody>
                  <a:tcPr anchor="ctr">
                    <a:lnL>
                      <a:noFill/>
                    </a:lnL>
                    <a:lnR>
                      <a:noFill/>
                    </a:lnR>
                    <a:lnT>
                      <a:noFill/>
                    </a:lnT>
                    <a:lnB>
                      <a:noFill/>
                    </a:lnB>
                    <a:noFill/>
                  </a:tcPr>
                </a:tc>
                <a:extLst>
                  <a:ext uri="{0D108BD9-81ED-4DB2-BD59-A6C34878D82A}">
                    <a16:rowId xmlns:a16="http://schemas.microsoft.com/office/drawing/2014/main" val="3936274075"/>
                  </a:ext>
                </a:extLst>
              </a:tr>
            </a:tbl>
          </a:graphicData>
        </a:graphic>
      </p:graphicFrame>
    </p:spTree>
    <p:extLst>
      <p:ext uri="{BB962C8B-B14F-4D97-AF65-F5344CB8AC3E}">
        <p14:creationId xmlns:p14="http://schemas.microsoft.com/office/powerpoint/2010/main" val="21537962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3EAC0-5790-3071-8DE8-01397C0DE76B}"/>
              </a:ext>
            </a:extLst>
          </p:cNvPr>
          <p:cNvSpPr>
            <a:spLocks noGrp="1"/>
          </p:cNvSpPr>
          <p:nvPr>
            <p:ph type="title"/>
          </p:nvPr>
        </p:nvSpPr>
        <p:spPr>
          <a:xfrm>
            <a:off x="1069848" y="484632"/>
            <a:ext cx="10058400" cy="554459"/>
          </a:xfrm>
        </p:spPr>
        <p:txBody>
          <a:bodyPr>
            <a:normAutofit fontScale="90000"/>
          </a:bodyPr>
          <a:lstStyle/>
          <a:p>
            <a:pPr algn="ctr"/>
            <a:r>
              <a:rPr lang="en-US" dirty="0"/>
              <a:t>Scope resolution operator(1)</a:t>
            </a:r>
          </a:p>
        </p:txBody>
      </p:sp>
      <p:sp>
        <p:nvSpPr>
          <p:cNvPr id="3" name="Content Placeholder 2">
            <a:extLst>
              <a:ext uri="{FF2B5EF4-FFF2-40B4-BE49-F238E27FC236}">
                <a16:creationId xmlns:a16="http://schemas.microsoft.com/office/drawing/2014/main" id="{6E8B6086-8543-802B-974D-23BAFF6940B4}"/>
              </a:ext>
            </a:extLst>
          </p:cNvPr>
          <p:cNvSpPr>
            <a:spLocks noGrp="1"/>
          </p:cNvSpPr>
          <p:nvPr>
            <p:ph idx="1"/>
          </p:nvPr>
        </p:nvSpPr>
        <p:spPr>
          <a:xfrm>
            <a:off x="939338" y="1039091"/>
            <a:ext cx="10188910" cy="5133109"/>
          </a:xfrm>
        </p:spPr>
        <p:txBody>
          <a:bodyPr>
            <a:normAutofit fontScale="77500" lnSpcReduction="20000"/>
          </a:bodyPr>
          <a:lstStyle/>
          <a:p>
            <a:r>
              <a:rPr lang="en-US" dirty="0"/>
              <a:t>Definition:</a:t>
            </a:r>
          </a:p>
          <a:p>
            <a:r>
              <a:rPr lang="en-US" dirty="0"/>
              <a:t>The scope resolution operator is used to explicitly specify the ownership of a variable or function by connecting it to its defined scope.</a:t>
            </a:r>
          </a:p>
          <a:p>
            <a:r>
              <a:rPr lang="en-US" dirty="0"/>
              <a:t>Scope can be:</a:t>
            </a:r>
          </a:p>
          <a:p>
            <a:r>
              <a:rPr lang="en-US" b="1" dirty="0"/>
              <a:t>Local scope</a:t>
            </a:r>
            <a:r>
              <a:rPr lang="en-US" dirty="0">
                <a:sym typeface="Wingdings" panose="05000000000000000000" pitchFamily="2" charset="2"/>
              </a:rPr>
              <a:t></a:t>
            </a:r>
            <a:r>
              <a:rPr lang="en-US" dirty="0"/>
              <a:t> Inside a function or block; variable is accessible only there.</a:t>
            </a:r>
          </a:p>
          <a:p>
            <a:r>
              <a:rPr lang="en-US" b="1" dirty="0"/>
              <a:t>Global scope</a:t>
            </a:r>
            <a:r>
              <a:rPr lang="en-US" dirty="0">
                <a:sym typeface="Wingdings" panose="05000000000000000000" pitchFamily="2" charset="2"/>
              </a:rPr>
              <a:t></a:t>
            </a:r>
            <a:r>
              <a:rPr lang="en-US" dirty="0"/>
              <a:t> Outside all functions; accessible everywhere, but can be hidden by local variables.</a:t>
            </a:r>
          </a:p>
          <a:p>
            <a:r>
              <a:rPr lang="en-US" b="1" dirty="0"/>
              <a:t>Class scope</a:t>
            </a:r>
            <a:r>
              <a:rPr lang="en-US" dirty="0">
                <a:sym typeface="Wingdings" panose="05000000000000000000" pitchFamily="2" charset="2"/>
              </a:rPr>
              <a:t></a:t>
            </a:r>
            <a:r>
              <a:rPr lang="en-US" dirty="0"/>
              <a:t> Belongs to a class; functions or static members may need </a:t>
            </a:r>
            <a:r>
              <a:rPr lang="en-US" dirty="0" err="1"/>
              <a:t>ClassName</a:t>
            </a:r>
            <a:r>
              <a:rPr lang="en-US" dirty="0"/>
              <a:t>:: to access.</a:t>
            </a:r>
          </a:p>
          <a:p>
            <a:pPr marL="0" indent="0">
              <a:buNone/>
            </a:pPr>
            <a:r>
              <a:rPr lang="en-US" b="1" dirty="0"/>
              <a:t>Use of ::</a:t>
            </a:r>
            <a:r>
              <a:rPr lang="en-US" dirty="0"/>
              <a:t> – To specify which scope a variable or function belongs to when there is ambiguity(same name) or when accessing class/namespace members.</a:t>
            </a:r>
          </a:p>
          <a:p>
            <a:r>
              <a:rPr lang="en-US" dirty="0"/>
              <a:t>Intuitive Example — Folder System</a:t>
            </a:r>
            <a:br>
              <a:rPr lang="en-US" dirty="0"/>
            </a:br>
            <a:r>
              <a:rPr lang="en-US" dirty="0"/>
              <a:t>Imagine your computer:</a:t>
            </a:r>
            <a:br>
              <a:rPr lang="en-US" dirty="0"/>
            </a:br>
            <a:r>
              <a:rPr lang="en-US" dirty="0"/>
              <a:t>You have:</a:t>
            </a:r>
            <a:br>
              <a:rPr lang="en-US" dirty="0"/>
            </a:br>
            <a:r>
              <a:rPr lang="en-US" dirty="0"/>
              <a:t>Documents → report.txt</a:t>
            </a:r>
            <a:br>
              <a:rPr lang="en-US" dirty="0"/>
            </a:br>
            <a:r>
              <a:rPr lang="en-US" dirty="0"/>
              <a:t>Downloads → report.txt</a:t>
            </a:r>
            <a:br>
              <a:rPr lang="en-US" dirty="0"/>
            </a:br>
            <a:r>
              <a:rPr lang="en-US" dirty="0"/>
              <a:t>If you say:</a:t>
            </a:r>
            <a:br>
              <a:rPr lang="en-US" dirty="0"/>
            </a:br>
            <a:r>
              <a:rPr lang="en-US" dirty="0"/>
              <a:t>Open report.txt</a:t>
            </a:r>
            <a:br>
              <a:rPr lang="en-US" dirty="0"/>
            </a:br>
            <a:r>
              <a:rPr lang="en-US" dirty="0"/>
              <a:t>System gets confused.</a:t>
            </a:r>
          </a:p>
          <a:p>
            <a:r>
              <a:rPr lang="en-US" dirty="0"/>
              <a:t>So you specify:</a:t>
            </a:r>
            <a:br>
              <a:rPr lang="en-US" dirty="0"/>
            </a:br>
            <a:r>
              <a:rPr lang="en-US" dirty="0"/>
              <a:t>Documents::report.txt</a:t>
            </a:r>
            <a:br>
              <a:rPr lang="en-US" dirty="0"/>
            </a:br>
            <a:r>
              <a:rPr lang="en-US" dirty="0"/>
              <a:t>Downloads::report.txt</a:t>
            </a:r>
            <a:br>
              <a:rPr lang="en-US" dirty="0"/>
            </a:br>
            <a:r>
              <a:rPr lang="en-US" dirty="0"/>
              <a:t>Now there is no confusion.</a:t>
            </a:r>
          </a:p>
          <a:p>
            <a:pPr marL="0" indent="0">
              <a:buNone/>
            </a:pPr>
            <a:endParaRPr lang="en-US" dirty="0"/>
          </a:p>
        </p:txBody>
      </p:sp>
    </p:spTree>
    <p:extLst>
      <p:ext uri="{BB962C8B-B14F-4D97-AF65-F5344CB8AC3E}">
        <p14:creationId xmlns:p14="http://schemas.microsoft.com/office/powerpoint/2010/main" val="417557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20AF35B-9840-8465-D058-197342E404F9}"/>
              </a:ext>
            </a:extLst>
          </p:cNvPr>
          <p:cNvPicPr>
            <a:picLocks noChangeAspect="1"/>
          </p:cNvPicPr>
          <p:nvPr/>
        </p:nvPicPr>
        <p:blipFill>
          <a:blip r:embed="rId2"/>
          <a:stretch>
            <a:fillRect/>
          </a:stretch>
        </p:blipFill>
        <p:spPr>
          <a:xfrm>
            <a:off x="51288" y="0"/>
            <a:ext cx="12089423" cy="6858000"/>
          </a:xfrm>
          <a:prstGeom prst="rect">
            <a:avLst/>
          </a:prstGeom>
        </p:spPr>
      </p:pic>
    </p:spTree>
    <p:extLst>
      <p:ext uri="{BB962C8B-B14F-4D97-AF65-F5344CB8AC3E}">
        <p14:creationId xmlns:p14="http://schemas.microsoft.com/office/powerpoint/2010/main" val="14242147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CAB12CC-00CF-2534-244D-21F57BA0F943}"/>
              </a:ext>
            </a:extLst>
          </p:cNvPr>
          <p:cNvPicPr>
            <a:picLocks noChangeAspect="1"/>
          </p:cNvPicPr>
          <p:nvPr/>
        </p:nvPicPr>
        <p:blipFill>
          <a:blip r:embed="rId2"/>
          <a:stretch>
            <a:fillRect/>
          </a:stretch>
        </p:blipFill>
        <p:spPr>
          <a:xfrm>
            <a:off x="8314" y="0"/>
            <a:ext cx="12175371" cy="6858000"/>
          </a:xfrm>
          <a:prstGeom prst="rect">
            <a:avLst/>
          </a:prstGeom>
        </p:spPr>
      </p:pic>
    </p:spTree>
    <p:extLst>
      <p:ext uri="{BB962C8B-B14F-4D97-AF65-F5344CB8AC3E}">
        <p14:creationId xmlns:p14="http://schemas.microsoft.com/office/powerpoint/2010/main" val="35857039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27EC74-D76E-D846-6835-83E343C0FDCE}"/>
              </a:ext>
            </a:extLst>
          </p:cNvPr>
          <p:cNvPicPr>
            <a:picLocks noChangeAspect="1"/>
          </p:cNvPicPr>
          <p:nvPr/>
        </p:nvPicPr>
        <p:blipFill>
          <a:blip r:embed="rId2"/>
          <a:stretch>
            <a:fillRect/>
          </a:stretch>
        </p:blipFill>
        <p:spPr>
          <a:xfrm>
            <a:off x="52723" y="0"/>
            <a:ext cx="12086554" cy="6858000"/>
          </a:xfrm>
          <a:prstGeom prst="rect">
            <a:avLst/>
          </a:prstGeom>
        </p:spPr>
      </p:pic>
    </p:spTree>
    <p:extLst>
      <p:ext uri="{BB962C8B-B14F-4D97-AF65-F5344CB8AC3E}">
        <p14:creationId xmlns:p14="http://schemas.microsoft.com/office/powerpoint/2010/main" val="40492981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82CBF-BD2B-3030-8E0D-5D2D03E464DB}"/>
              </a:ext>
            </a:extLst>
          </p:cNvPr>
          <p:cNvSpPr>
            <a:spLocks noGrp="1"/>
          </p:cNvSpPr>
          <p:nvPr>
            <p:ph type="title"/>
          </p:nvPr>
        </p:nvSpPr>
        <p:spPr>
          <a:xfrm>
            <a:off x="1216478" y="484632"/>
            <a:ext cx="9911769" cy="560397"/>
          </a:xfrm>
        </p:spPr>
        <p:txBody>
          <a:bodyPr>
            <a:normAutofit fontScale="90000"/>
          </a:bodyPr>
          <a:lstStyle/>
          <a:p>
            <a:pPr algn="ctr"/>
            <a:r>
              <a:rPr lang="en-US" dirty="0"/>
              <a:t>constructor</a:t>
            </a:r>
          </a:p>
        </p:txBody>
      </p:sp>
      <p:sp>
        <p:nvSpPr>
          <p:cNvPr id="3" name="Content Placeholder 2">
            <a:extLst>
              <a:ext uri="{FF2B5EF4-FFF2-40B4-BE49-F238E27FC236}">
                <a16:creationId xmlns:a16="http://schemas.microsoft.com/office/drawing/2014/main" id="{9B0EA985-BE4C-E7D0-069A-75852850006F}"/>
              </a:ext>
            </a:extLst>
          </p:cNvPr>
          <p:cNvSpPr>
            <a:spLocks noGrp="1"/>
          </p:cNvSpPr>
          <p:nvPr>
            <p:ph idx="1"/>
          </p:nvPr>
        </p:nvSpPr>
        <p:spPr>
          <a:xfrm>
            <a:off x="963386" y="1045029"/>
            <a:ext cx="10164862" cy="5127171"/>
          </a:xfrm>
        </p:spPr>
        <p:txBody>
          <a:bodyPr/>
          <a:lstStyle/>
          <a:p>
            <a:r>
              <a:rPr lang="en-US" dirty="0"/>
              <a:t>What is a Constructor?</a:t>
            </a:r>
            <a:br>
              <a:rPr lang="en-US" dirty="0"/>
            </a:br>
            <a:r>
              <a:rPr lang="en-US" dirty="0"/>
              <a:t>A constructor is a special member function of a class that:</a:t>
            </a:r>
          </a:p>
          <a:p>
            <a:pPr>
              <a:buFontTx/>
              <a:buChar char="-"/>
            </a:pPr>
            <a:r>
              <a:rPr lang="en-US" dirty="0"/>
              <a:t>Always declared public</a:t>
            </a:r>
            <a:br>
              <a:rPr lang="en-US" dirty="0"/>
            </a:br>
            <a:r>
              <a:rPr lang="en-US" dirty="0"/>
              <a:t>– Has the same name as the class</a:t>
            </a:r>
            <a:br>
              <a:rPr lang="en-US" dirty="0"/>
            </a:br>
            <a:r>
              <a:rPr lang="en-US" dirty="0"/>
              <a:t>– Has no return type (not even void)</a:t>
            </a:r>
            <a:br>
              <a:rPr lang="en-US" dirty="0"/>
            </a:br>
            <a:r>
              <a:rPr lang="en-US" dirty="0"/>
              <a:t>– Is automatically executed when an object is created</a:t>
            </a:r>
            <a:br>
              <a:rPr lang="en-US" dirty="0"/>
            </a:br>
            <a:r>
              <a:rPr lang="en-US" dirty="0"/>
              <a:t>– Is used to initialize data members</a:t>
            </a:r>
          </a:p>
          <a:p>
            <a:pPr>
              <a:buFontTx/>
              <a:buChar char="-"/>
            </a:pPr>
            <a:r>
              <a:rPr lang="en-US" dirty="0"/>
              <a:t>IMPORTANCE:</a:t>
            </a:r>
          </a:p>
          <a:p>
            <a:pPr>
              <a:buFontTx/>
              <a:buChar char="-"/>
            </a:pPr>
            <a:r>
              <a:rPr lang="en-US" dirty="0"/>
              <a:t>Prevents garbage value</a:t>
            </a:r>
          </a:p>
          <a:p>
            <a:pPr>
              <a:buFontTx/>
              <a:buChar char="-"/>
            </a:pPr>
            <a:r>
              <a:rPr lang="en-US" dirty="0"/>
              <a:t>Syntax:</a:t>
            </a:r>
          </a:p>
          <a:p>
            <a:pPr>
              <a:buFontTx/>
              <a:buChar char="-"/>
            </a:pPr>
            <a:r>
              <a:rPr lang="en-US" dirty="0"/>
              <a:t>Class name(){</a:t>
            </a:r>
          </a:p>
          <a:p>
            <a:pPr marL="0" indent="0">
              <a:buNone/>
            </a:pPr>
            <a:r>
              <a:rPr lang="en-US" dirty="0"/>
              <a:t>}</a:t>
            </a:r>
          </a:p>
          <a:p>
            <a:pPr marL="0" indent="0">
              <a:buNone/>
            </a:pPr>
            <a:r>
              <a:rPr lang="en-US" dirty="0"/>
              <a:t>No semi colon after the curly braces of the constructor</a:t>
            </a:r>
          </a:p>
        </p:txBody>
      </p:sp>
    </p:spTree>
    <p:extLst>
      <p:ext uri="{BB962C8B-B14F-4D97-AF65-F5344CB8AC3E}">
        <p14:creationId xmlns:p14="http://schemas.microsoft.com/office/powerpoint/2010/main" val="10854619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40226-A98B-7787-3C6C-29AB6D410F80}"/>
              </a:ext>
            </a:extLst>
          </p:cNvPr>
          <p:cNvSpPr>
            <a:spLocks noGrp="1"/>
          </p:cNvSpPr>
          <p:nvPr>
            <p:ph type="title"/>
          </p:nvPr>
        </p:nvSpPr>
        <p:spPr/>
        <p:txBody>
          <a:bodyPr/>
          <a:lstStyle/>
          <a:p>
            <a:r>
              <a:rPr lang="en-US" dirty="0"/>
              <a:t>Constructor overloading</a:t>
            </a:r>
          </a:p>
        </p:txBody>
      </p:sp>
      <p:sp>
        <p:nvSpPr>
          <p:cNvPr id="3" name="Content Placeholder 2">
            <a:extLst>
              <a:ext uri="{FF2B5EF4-FFF2-40B4-BE49-F238E27FC236}">
                <a16:creationId xmlns:a16="http://schemas.microsoft.com/office/drawing/2014/main" id="{E73E6EE4-084A-E5F3-C147-1EA4198D913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6741811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8BD53-EF83-8482-CB25-1A07618D1D85}"/>
              </a:ext>
            </a:extLst>
          </p:cNvPr>
          <p:cNvSpPr>
            <a:spLocks noGrp="1"/>
          </p:cNvSpPr>
          <p:nvPr>
            <p:ph type="title"/>
          </p:nvPr>
        </p:nvSpPr>
        <p:spPr>
          <a:xfrm>
            <a:off x="906236" y="484632"/>
            <a:ext cx="10222012" cy="633875"/>
          </a:xfrm>
        </p:spPr>
        <p:txBody>
          <a:bodyPr>
            <a:normAutofit fontScale="90000"/>
          </a:bodyPr>
          <a:lstStyle/>
          <a:p>
            <a:pPr algn="ctr"/>
            <a:r>
              <a:rPr lang="en-US" dirty="0"/>
              <a:t>Types of constructors</a:t>
            </a:r>
          </a:p>
        </p:txBody>
      </p:sp>
      <p:sp>
        <p:nvSpPr>
          <p:cNvPr id="3" name="Content Placeholder 2">
            <a:extLst>
              <a:ext uri="{FF2B5EF4-FFF2-40B4-BE49-F238E27FC236}">
                <a16:creationId xmlns:a16="http://schemas.microsoft.com/office/drawing/2014/main" id="{ABED0571-52AB-CBDE-9B6D-26D59A3629B5}"/>
              </a:ext>
            </a:extLst>
          </p:cNvPr>
          <p:cNvSpPr>
            <a:spLocks noGrp="1"/>
          </p:cNvSpPr>
          <p:nvPr>
            <p:ph idx="1"/>
          </p:nvPr>
        </p:nvSpPr>
        <p:spPr>
          <a:xfrm>
            <a:off x="163286" y="1118507"/>
            <a:ext cx="11830050" cy="5053693"/>
          </a:xfrm>
        </p:spPr>
        <p:txBody>
          <a:bodyPr/>
          <a:lstStyle/>
          <a:p>
            <a:r>
              <a:rPr lang="en-US" dirty="0"/>
              <a:t>Typically, we deal with these three types: </a:t>
            </a:r>
          </a:p>
        </p:txBody>
      </p:sp>
      <p:cxnSp>
        <p:nvCxnSpPr>
          <p:cNvPr id="5" name="Straight Arrow Connector 4">
            <a:extLst>
              <a:ext uri="{FF2B5EF4-FFF2-40B4-BE49-F238E27FC236}">
                <a16:creationId xmlns:a16="http://schemas.microsoft.com/office/drawing/2014/main" id="{DF8E2F28-00C4-06FD-BC72-628D6C762619}"/>
              </a:ext>
            </a:extLst>
          </p:cNvPr>
          <p:cNvCxnSpPr>
            <a:cxnSpLocks/>
          </p:cNvCxnSpPr>
          <p:nvPr/>
        </p:nvCxnSpPr>
        <p:spPr>
          <a:xfrm>
            <a:off x="6743700" y="1322614"/>
            <a:ext cx="1363436" cy="12817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AF2A7B20-79C9-E7BD-4F72-B6EF30984A4E}"/>
              </a:ext>
            </a:extLst>
          </p:cNvPr>
          <p:cNvCxnSpPr>
            <a:cxnSpLocks/>
          </p:cNvCxnSpPr>
          <p:nvPr/>
        </p:nvCxnSpPr>
        <p:spPr>
          <a:xfrm flipH="1">
            <a:off x="3371850" y="1322614"/>
            <a:ext cx="1779814" cy="12817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5DFA80E-64A5-8C2D-E034-35EB22F42661}"/>
              </a:ext>
            </a:extLst>
          </p:cNvPr>
          <p:cNvCxnSpPr>
            <a:cxnSpLocks/>
          </p:cNvCxnSpPr>
          <p:nvPr/>
        </p:nvCxnSpPr>
        <p:spPr>
          <a:xfrm>
            <a:off x="5853793" y="1322614"/>
            <a:ext cx="0" cy="1485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515F2D10-581E-A728-C102-FC6D3A5DC25C}"/>
              </a:ext>
            </a:extLst>
          </p:cNvPr>
          <p:cNvSpPr/>
          <p:nvPr/>
        </p:nvSpPr>
        <p:spPr>
          <a:xfrm rot="10035562" flipV="1">
            <a:off x="5092638" y="2590806"/>
            <a:ext cx="2132293" cy="16487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Parametrized </a:t>
            </a:r>
          </a:p>
          <a:p>
            <a:pPr algn="ctr"/>
            <a:r>
              <a:rPr lang="en-US" dirty="0"/>
              <a:t>constructor</a:t>
            </a:r>
          </a:p>
        </p:txBody>
      </p:sp>
      <p:sp>
        <p:nvSpPr>
          <p:cNvPr id="29" name="Rectangle 28">
            <a:extLst>
              <a:ext uri="{FF2B5EF4-FFF2-40B4-BE49-F238E27FC236}">
                <a16:creationId xmlns:a16="http://schemas.microsoft.com/office/drawing/2014/main" id="{5B95835A-5EE6-587A-DED4-1FBF38340CB4}"/>
              </a:ext>
            </a:extLst>
          </p:cNvPr>
          <p:cNvSpPr/>
          <p:nvPr/>
        </p:nvSpPr>
        <p:spPr>
          <a:xfrm>
            <a:off x="8172450" y="2514600"/>
            <a:ext cx="2367643" cy="17145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Copy constructor</a:t>
            </a:r>
          </a:p>
        </p:txBody>
      </p:sp>
      <p:sp>
        <p:nvSpPr>
          <p:cNvPr id="30" name="Rectangle 29">
            <a:extLst>
              <a:ext uri="{FF2B5EF4-FFF2-40B4-BE49-F238E27FC236}">
                <a16:creationId xmlns:a16="http://schemas.microsoft.com/office/drawing/2014/main" id="{34412D37-383D-01A3-2D44-38222F6FCFD9}"/>
              </a:ext>
            </a:extLst>
          </p:cNvPr>
          <p:cNvSpPr/>
          <p:nvPr/>
        </p:nvSpPr>
        <p:spPr>
          <a:xfrm>
            <a:off x="1281793" y="2625623"/>
            <a:ext cx="2182789" cy="1828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Default </a:t>
            </a:r>
          </a:p>
          <a:p>
            <a:pPr algn="ctr"/>
            <a:r>
              <a:rPr lang="en-US" dirty="0"/>
              <a:t>constructor</a:t>
            </a:r>
          </a:p>
        </p:txBody>
      </p:sp>
    </p:spTree>
    <p:extLst>
      <p:ext uri="{BB962C8B-B14F-4D97-AF65-F5344CB8AC3E}">
        <p14:creationId xmlns:p14="http://schemas.microsoft.com/office/powerpoint/2010/main" val="38480422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5AE66-1DFB-B1D5-D0D4-6F5A01D6659C}"/>
              </a:ext>
            </a:extLst>
          </p:cNvPr>
          <p:cNvSpPr>
            <a:spLocks noGrp="1"/>
          </p:cNvSpPr>
          <p:nvPr>
            <p:ph type="title"/>
          </p:nvPr>
        </p:nvSpPr>
        <p:spPr>
          <a:xfrm>
            <a:off x="1175656" y="484632"/>
            <a:ext cx="9952591" cy="633875"/>
          </a:xfrm>
        </p:spPr>
        <p:txBody>
          <a:bodyPr>
            <a:normAutofit fontScale="90000"/>
          </a:bodyPr>
          <a:lstStyle/>
          <a:p>
            <a:pPr algn="ctr"/>
            <a:r>
              <a:rPr lang="en-US" dirty="0"/>
              <a:t>Copy constructor</a:t>
            </a:r>
          </a:p>
        </p:txBody>
      </p:sp>
      <p:sp>
        <p:nvSpPr>
          <p:cNvPr id="3" name="Content Placeholder 2">
            <a:extLst>
              <a:ext uri="{FF2B5EF4-FFF2-40B4-BE49-F238E27FC236}">
                <a16:creationId xmlns:a16="http://schemas.microsoft.com/office/drawing/2014/main" id="{53EF5030-9D8A-1187-D6E0-63AA7738E3B2}"/>
              </a:ext>
            </a:extLst>
          </p:cNvPr>
          <p:cNvSpPr>
            <a:spLocks noGrp="1"/>
          </p:cNvSpPr>
          <p:nvPr>
            <p:ph idx="1"/>
          </p:nvPr>
        </p:nvSpPr>
        <p:spPr>
          <a:xfrm>
            <a:off x="228599" y="1118507"/>
            <a:ext cx="11748407" cy="5053693"/>
          </a:xfrm>
        </p:spPr>
        <p:txBody>
          <a:bodyPr/>
          <a:lstStyle/>
          <a:p>
            <a:pPr marL="0" indent="0">
              <a:buNone/>
            </a:pPr>
            <a:r>
              <a:rPr lang="en-US" dirty="0"/>
              <a:t>Definition: A constructor that initializes an object using </a:t>
            </a:r>
            <a:r>
              <a:rPr lang="en-US" b="1" dirty="0"/>
              <a:t>another object of the same class</a:t>
            </a:r>
            <a:r>
              <a:rPr lang="en-US" dirty="0"/>
              <a:t>.</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0477555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DBFD109-9AF5-51DC-9F58-9251E092C29C}"/>
              </a:ext>
            </a:extLst>
          </p:cNvPr>
          <p:cNvPicPr>
            <a:picLocks noChangeAspect="1"/>
          </p:cNvPicPr>
          <p:nvPr/>
        </p:nvPicPr>
        <p:blipFill>
          <a:blip r:embed="rId2"/>
          <a:stretch>
            <a:fillRect/>
          </a:stretch>
        </p:blipFill>
        <p:spPr>
          <a:xfrm>
            <a:off x="0" y="142461"/>
            <a:ext cx="12192000" cy="6573078"/>
          </a:xfrm>
          <a:prstGeom prst="rect">
            <a:avLst/>
          </a:prstGeom>
        </p:spPr>
      </p:pic>
    </p:spTree>
    <p:extLst>
      <p:ext uri="{BB962C8B-B14F-4D97-AF65-F5344CB8AC3E}">
        <p14:creationId xmlns:p14="http://schemas.microsoft.com/office/powerpoint/2010/main" val="124011799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0491C07-04CE-56DC-C6AE-B2B0D89CC705}"/>
              </a:ext>
            </a:extLst>
          </p:cNvPr>
          <p:cNvPicPr>
            <a:picLocks noChangeAspect="1"/>
          </p:cNvPicPr>
          <p:nvPr/>
        </p:nvPicPr>
        <p:blipFill>
          <a:blip r:embed="rId2"/>
          <a:stretch>
            <a:fillRect/>
          </a:stretch>
        </p:blipFill>
        <p:spPr>
          <a:xfrm>
            <a:off x="0" y="140774"/>
            <a:ext cx="12192000" cy="6576451"/>
          </a:xfrm>
          <a:prstGeom prst="rect">
            <a:avLst/>
          </a:prstGeom>
        </p:spPr>
      </p:pic>
    </p:spTree>
    <p:extLst>
      <p:ext uri="{BB962C8B-B14F-4D97-AF65-F5344CB8AC3E}">
        <p14:creationId xmlns:p14="http://schemas.microsoft.com/office/powerpoint/2010/main" val="176920716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58301-5F32-1334-9B77-F0942FCB02CB}"/>
              </a:ext>
            </a:extLst>
          </p:cNvPr>
          <p:cNvSpPr>
            <a:spLocks noGrp="1"/>
          </p:cNvSpPr>
          <p:nvPr>
            <p:ph type="title"/>
          </p:nvPr>
        </p:nvSpPr>
        <p:spPr/>
        <p:txBody>
          <a:bodyPr/>
          <a:lstStyle/>
          <a:p>
            <a:pPr algn="ctr"/>
            <a:r>
              <a:rPr lang="en-US" dirty="0"/>
              <a:t>Default constructor</a:t>
            </a:r>
          </a:p>
        </p:txBody>
      </p:sp>
      <p:sp>
        <p:nvSpPr>
          <p:cNvPr id="3" name="Content Placeholder 2">
            <a:extLst>
              <a:ext uri="{FF2B5EF4-FFF2-40B4-BE49-F238E27FC236}">
                <a16:creationId xmlns:a16="http://schemas.microsoft.com/office/drawing/2014/main" id="{8FCD107D-3DC8-F120-9EA4-F5D93FE074C3}"/>
              </a:ext>
            </a:extLst>
          </p:cNvPr>
          <p:cNvSpPr>
            <a:spLocks noGrp="1"/>
          </p:cNvSpPr>
          <p:nvPr>
            <p:ph idx="1"/>
          </p:nvPr>
        </p:nvSpPr>
        <p:spPr/>
        <p:txBody>
          <a:bodyPr>
            <a:normAutofit fontScale="40000" lnSpcReduction="20000"/>
          </a:bodyPr>
          <a:lstStyle/>
          <a:p>
            <a:r>
              <a:rPr lang="en-US" dirty="0"/>
              <a:t>Constructor with no parameters</a:t>
            </a:r>
          </a:p>
          <a:p>
            <a:r>
              <a:rPr lang="en-US" dirty="0"/>
              <a:t>What is it?</a:t>
            </a:r>
            <a:br>
              <a:rPr lang="en-US" dirty="0"/>
            </a:br>
            <a:r>
              <a:rPr lang="en-US" dirty="0"/>
              <a:t>A constructor that takes no arguments. It is called when you</a:t>
            </a:r>
            <a:br>
              <a:rPr lang="en-US" dirty="0"/>
            </a:br>
            <a:r>
              <a:rPr lang="en-US" dirty="0"/>
              <a:t>create an object without passing any values.</a:t>
            </a:r>
          </a:p>
          <a:p>
            <a:br>
              <a:rPr lang="en-US" dirty="0"/>
            </a:br>
            <a:r>
              <a:rPr lang="en-US" dirty="0"/>
              <a:t>The "Hidden" Constructor</a:t>
            </a:r>
            <a:br>
              <a:rPr lang="en-US" dirty="0"/>
            </a:br>
            <a:r>
              <a:rPr lang="en-US" dirty="0"/>
              <a:t>If you don't write any constructor, the compiler provides a</a:t>
            </a:r>
            <a:br>
              <a:rPr lang="en-US" dirty="0"/>
            </a:br>
            <a:r>
              <a:rPr lang="en-US" dirty="0"/>
              <a:t>default one automatically to allocate memory.</a:t>
            </a:r>
            <a:br>
              <a:rPr lang="en-US" dirty="0"/>
            </a:br>
            <a:endParaRPr lang="en-US" dirty="0"/>
          </a:p>
          <a:p>
            <a:pPr lvl="1" indent="0">
              <a:buNone/>
            </a:pPr>
            <a:r>
              <a:rPr lang="en-US" dirty="0"/>
              <a:t>class Employee {</a:t>
            </a:r>
          </a:p>
          <a:p>
            <a:pPr lvl="1" indent="0">
              <a:buNone/>
            </a:pPr>
            <a:r>
              <a:rPr lang="en-US" dirty="0"/>
              <a:t>	public:</a:t>
            </a:r>
          </a:p>
          <a:p>
            <a:pPr lvl="1" indent="0">
              <a:buNone/>
            </a:pPr>
            <a:r>
              <a:rPr lang="en-US" dirty="0"/>
              <a:t>Double salary; // When there is </a:t>
            </a:r>
            <a:r>
              <a:rPr lang="en-US" b="1" dirty="0"/>
              <a:t>no constructor defined</a:t>
            </a:r>
            <a:r>
              <a:rPr lang="en-US" dirty="0"/>
              <a:t>, the object’s data members (like int age) are </a:t>
            </a:r>
            <a:r>
              <a:rPr lang="en-US" b="1" dirty="0"/>
              <a:t>not initialized</a:t>
            </a:r>
            <a:r>
              <a:rPr lang="en-US" dirty="0"/>
              <a:t> and may contain </a:t>
            </a:r>
            <a:r>
              <a:rPr lang="en-US" b="1" dirty="0"/>
              <a:t>garbage values</a:t>
            </a:r>
            <a:r>
              <a:rPr lang="en-US" dirty="0"/>
              <a:t>.</a:t>
            </a:r>
          </a:p>
          <a:p>
            <a:pPr lvl="1" indent="0">
              <a:buNone/>
            </a:pPr>
            <a:r>
              <a:rPr lang="en-US" dirty="0"/>
              <a:t>};</a:t>
            </a:r>
          </a:p>
          <a:p>
            <a:pPr lvl="1" indent="0">
              <a:buNone/>
            </a:pPr>
            <a:endParaRPr lang="en-US" dirty="0"/>
          </a:p>
          <a:p>
            <a:pPr lvl="1" indent="0">
              <a:buNone/>
            </a:pPr>
            <a:r>
              <a:rPr lang="en-US" dirty="0"/>
              <a:t>class Student {</a:t>
            </a:r>
          </a:p>
          <a:p>
            <a:pPr lvl="1" indent="0">
              <a:buNone/>
            </a:pPr>
            <a:r>
              <a:rPr lang="en-US" dirty="0"/>
              <a:t>public:</a:t>
            </a:r>
          </a:p>
          <a:p>
            <a:pPr lvl="1" indent="0">
              <a:buNone/>
            </a:pPr>
            <a:r>
              <a:rPr lang="en-US" dirty="0"/>
              <a:t>    int age;</a:t>
            </a:r>
          </a:p>
          <a:p>
            <a:pPr lvl="1" indent="0">
              <a:buNone/>
            </a:pPr>
            <a:r>
              <a:rPr lang="en-US" dirty="0"/>
              <a:t>    </a:t>
            </a:r>
          </a:p>
          <a:p>
            <a:pPr lvl="1" indent="0">
              <a:buNone/>
            </a:pPr>
            <a:r>
              <a:rPr lang="en-US" dirty="0"/>
              <a:t>    Student() {</a:t>
            </a:r>
          </a:p>
          <a:p>
            <a:pPr lvl="1" indent="0">
              <a:buNone/>
            </a:pPr>
            <a:r>
              <a:rPr lang="en-US" dirty="0"/>
              <a:t>        age = 18; // user defined value</a:t>
            </a:r>
          </a:p>
          <a:p>
            <a:pPr lvl="1" indent="0">
              <a:buNone/>
            </a:pPr>
            <a:r>
              <a:rPr lang="en-US" dirty="0"/>
              <a:t>    }</a:t>
            </a:r>
          </a:p>
          <a:p>
            <a:pPr lvl="1" indent="0">
              <a:buNone/>
            </a:pPr>
            <a:r>
              <a:rPr lang="en-US" dirty="0"/>
              <a:t>};</a:t>
            </a:r>
          </a:p>
          <a:p>
            <a:pPr lvl="1" indent="0">
              <a:buNone/>
            </a:pPr>
            <a:endParaRPr lang="en-US" dirty="0"/>
          </a:p>
          <a:p>
            <a:pPr lvl="1" indent="0">
              <a:buNone/>
            </a:pPr>
            <a:r>
              <a:rPr lang="en-US" dirty="0"/>
              <a:t>Student s1; // default constructor called</a:t>
            </a:r>
          </a:p>
          <a:p>
            <a:pPr marL="742950" lvl="1" indent="-285750"/>
            <a:r>
              <a:rPr lang="en-US" dirty="0"/>
              <a:t>Auto- called (by compiler when we have not explicitly written any constructor in our code)</a:t>
            </a:r>
          </a:p>
          <a:p>
            <a:pPr marL="742950" lvl="1" indent="-285750"/>
            <a:r>
              <a:rPr lang="en-US" dirty="0"/>
              <a:t>Initializes objects</a:t>
            </a:r>
          </a:p>
          <a:p>
            <a:pPr marL="742950" lvl="1" indent="-285750"/>
            <a:r>
              <a:rPr lang="en-US" dirty="0"/>
              <a:t>A default constructor initializes objects with default values, either system-defined (like 0, null) or user-defined values if explicitly coded.</a:t>
            </a:r>
          </a:p>
          <a:p>
            <a:pPr marL="742950" lvl="1" indent="-285750"/>
            <a:r>
              <a:rPr lang="en-US" dirty="0"/>
              <a:t>If no constructor is defined, the data members of an object are not initialized and may contain garbage values, except for static or global objects which are initialized to zero.</a:t>
            </a:r>
          </a:p>
          <a:p>
            <a:pPr lvl="1" indent="0">
              <a:buNone/>
            </a:pPr>
            <a:endParaRPr lang="en-US" dirty="0"/>
          </a:p>
          <a:p>
            <a:pPr marL="0" indent="0">
              <a:buNone/>
            </a:pPr>
            <a:endParaRPr lang="en-US" dirty="0"/>
          </a:p>
        </p:txBody>
      </p:sp>
    </p:spTree>
    <p:extLst>
      <p:ext uri="{BB962C8B-B14F-4D97-AF65-F5344CB8AC3E}">
        <p14:creationId xmlns:p14="http://schemas.microsoft.com/office/powerpoint/2010/main" val="39393115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ADDB4D-5828-113E-9459-47ABB21B97A9}"/>
              </a:ext>
            </a:extLst>
          </p:cNvPr>
          <p:cNvPicPr>
            <a:picLocks noChangeAspect="1"/>
          </p:cNvPicPr>
          <p:nvPr/>
        </p:nvPicPr>
        <p:blipFill>
          <a:blip r:embed="rId3"/>
          <a:stretch>
            <a:fillRect/>
          </a:stretch>
        </p:blipFill>
        <p:spPr>
          <a:xfrm>
            <a:off x="0" y="19918"/>
            <a:ext cx="12192000" cy="6834492"/>
          </a:xfrm>
          <a:prstGeom prst="rect">
            <a:avLst/>
          </a:prstGeom>
        </p:spPr>
      </p:pic>
    </p:spTree>
    <p:extLst>
      <p:ext uri="{BB962C8B-B14F-4D97-AF65-F5344CB8AC3E}">
        <p14:creationId xmlns:p14="http://schemas.microsoft.com/office/powerpoint/2010/main" val="39891251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9CC83EE-FC2D-62D4-6C88-AB330D7CE84F}"/>
              </a:ext>
            </a:extLst>
          </p:cNvPr>
          <p:cNvPicPr>
            <a:picLocks noChangeAspect="1"/>
          </p:cNvPicPr>
          <p:nvPr/>
        </p:nvPicPr>
        <p:blipFill>
          <a:blip r:embed="rId2"/>
          <a:stretch>
            <a:fillRect/>
          </a:stretch>
        </p:blipFill>
        <p:spPr>
          <a:xfrm>
            <a:off x="4005" y="0"/>
            <a:ext cx="12183989" cy="6858000"/>
          </a:xfrm>
          <a:prstGeom prst="rect">
            <a:avLst/>
          </a:prstGeom>
        </p:spPr>
      </p:pic>
    </p:spTree>
    <p:extLst>
      <p:ext uri="{BB962C8B-B14F-4D97-AF65-F5344CB8AC3E}">
        <p14:creationId xmlns:p14="http://schemas.microsoft.com/office/powerpoint/2010/main" val="149730229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BF53213-9175-E394-EFD0-6867B7D7E665}"/>
              </a:ext>
            </a:extLst>
          </p:cNvPr>
          <p:cNvPicPr>
            <a:picLocks noChangeAspect="1"/>
          </p:cNvPicPr>
          <p:nvPr/>
        </p:nvPicPr>
        <p:blipFill>
          <a:blip r:embed="rId2"/>
          <a:stretch>
            <a:fillRect/>
          </a:stretch>
        </p:blipFill>
        <p:spPr>
          <a:xfrm>
            <a:off x="0" y="396653"/>
            <a:ext cx="12192000" cy="6064693"/>
          </a:xfrm>
          <a:prstGeom prst="rect">
            <a:avLst/>
          </a:prstGeom>
        </p:spPr>
      </p:pic>
    </p:spTree>
    <p:extLst>
      <p:ext uri="{BB962C8B-B14F-4D97-AF65-F5344CB8AC3E}">
        <p14:creationId xmlns:p14="http://schemas.microsoft.com/office/powerpoint/2010/main" val="247351032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BC003-2316-21F9-CA64-650B01922E60}"/>
              </a:ext>
            </a:extLst>
          </p:cNvPr>
          <p:cNvSpPr>
            <a:spLocks noGrp="1"/>
          </p:cNvSpPr>
          <p:nvPr>
            <p:ph type="title"/>
          </p:nvPr>
        </p:nvSpPr>
        <p:spPr>
          <a:xfrm>
            <a:off x="1069848" y="484632"/>
            <a:ext cx="10058400" cy="378397"/>
          </a:xfrm>
        </p:spPr>
        <p:txBody>
          <a:bodyPr>
            <a:normAutofit fontScale="90000"/>
          </a:bodyPr>
          <a:lstStyle/>
          <a:p>
            <a:pPr algn="ctr"/>
            <a:r>
              <a:rPr lang="en-US" dirty="0"/>
              <a:t>destructor</a:t>
            </a:r>
          </a:p>
        </p:txBody>
      </p:sp>
      <p:sp>
        <p:nvSpPr>
          <p:cNvPr id="5" name="Content Placeholder 4">
            <a:extLst>
              <a:ext uri="{FF2B5EF4-FFF2-40B4-BE49-F238E27FC236}">
                <a16:creationId xmlns:a16="http://schemas.microsoft.com/office/drawing/2014/main" id="{142B2C4D-755D-3014-86CF-5809B901524F}"/>
              </a:ext>
            </a:extLst>
          </p:cNvPr>
          <p:cNvSpPr>
            <a:spLocks noGrp="1"/>
          </p:cNvSpPr>
          <p:nvPr>
            <p:ph idx="1"/>
          </p:nvPr>
        </p:nvSpPr>
        <p:spPr>
          <a:xfrm>
            <a:off x="1069848" y="1006867"/>
            <a:ext cx="10058400" cy="5165333"/>
          </a:xfrm>
        </p:spPr>
        <p:txBody>
          <a:bodyPr>
            <a:normAutofit/>
          </a:bodyPr>
          <a:lstStyle/>
          <a:p>
            <a:r>
              <a:rPr lang="en-US" b="1" dirty="0"/>
              <a:t>Why is a Destructor Needed?</a:t>
            </a:r>
          </a:p>
          <a:p>
            <a:r>
              <a:rPr lang="en-US" b="1" dirty="0"/>
              <a:t>To free allocated memory</a:t>
            </a:r>
            <a:r>
              <a:rPr lang="en-US" dirty="0"/>
              <a:t> </a:t>
            </a:r>
          </a:p>
          <a:p>
            <a:pPr lvl="1"/>
            <a:r>
              <a:rPr lang="en-US" dirty="0"/>
              <a:t>Releases memory created using new </a:t>
            </a:r>
          </a:p>
          <a:p>
            <a:r>
              <a:rPr lang="en-US" b="1" dirty="0"/>
              <a:t>To prevent memory leaks</a:t>
            </a:r>
            <a:r>
              <a:rPr lang="en-US" dirty="0"/>
              <a:t> </a:t>
            </a:r>
          </a:p>
          <a:p>
            <a:pPr lvl="1"/>
            <a:r>
              <a:rPr lang="en-US" dirty="0"/>
              <a:t>Avoids wastage of memory after object is destroyed </a:t>
            </a:r>
          </a:p>
          <a:p>
            <a:r>
              <a:rPr lang="en-US" b="1" dirty="0"/>
              <a:t>To close resources</a:t>
            </a:r>
            <a:r>
              <a:rPr lang="en-US" dirty="0"/>
              <a:t> </a:t>
            </a:r>
          </a:p>
          <a:p>
            <a:pPr lvl="1"/>
            <a:r>
              <a:rPr lang="en-US" dirty="0"/>
              <a:t>Closes files, database connections, etc. </a:t>
            </a:r>
          </a:p>
          <a:p>
            <a:r>
              <a:rPr lang="en-US" b="1" dirty="0"/>
              <a:t>For automatic cleanup</a:t>
            </a:r>
            <a:r>
              <a:rPr lang="en-US" dirty="0"/>
              <a:t> </a:t>
            </a:r>
          </a:p>
          <a:p>
            <a:pPr lvl="1"/>
            <a:r>
              <a:rPr lang="en-US" dirty="0"/>
              <a:t>Called automatically when object goes out of scope </a:t>
            </a:r>
          </a:p>
          <a:p>
            <a:r>
              <a:rPr lang="en-US" b="1" dirty="0"/>
              <a:t>To improve program efficiency</a:t>
            </a:r>
            <a:r>
              <a:rPr lang="en-US" dirty="0"/>
              <a:t> </a:t>
            </a:r>
          </a:p>
          <a:p>
            <a:pPr lvl="1"/>
            <a:r>
              <a:rPr lang="en-US" dirty="0"/>
              <a:t>Keeps system fast and stable </a:t>
            </a:r>
          </a:p>
          <a:p>
            <a:r>
              <a:rPr lang="en-US" b="1" dirty="0"/>
              <a:t>To manage object lifecycle properly</a:t>
            </a:r>
            <a:r>
              <a:rPr lang="en-US" dirty="0"/>
              <a:t> </a:t>
            </a:r>
          </a:p>
          <a:p>
            <a:pPr lvl="1"/>
            <a:r>
              <a:rPr lang="en-US" dirty="0"/>
              <a:t>Ensures clean ending of an object</a:t>
            </a:r>
          </a:p>
          <a:p>
            <a:pPr marL="0" indent="0">
              <a:buNone/>
            </a:pPr>
            <a:endParaRPr lang="en-US" dirty="0"/>
          </a:p>
        </p:txBody>
      </p:sp>
    </p:spTree>
    <p:extLst>
      <p:ext uri="{BB962C8B-B14F-4D97-AF65-F5344CB8AC3E}">
        <p14:creationId xmlns:p14="http://schemas.microsoft.com/office/powerpoint/2010/main" val="316769409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9DBFC-D6C7-7D5A-226F-10EEA756F3E5}"/>
              </a:ext>
            </a:extLst>
          </p:cNvPr>
          <p:cNvSpPr>
            <a:spLocks noGrp="1"/>
          </p:cNvSpPr>
          <p:nvPr>
            <p:ph type="title"/>
          </p:nvPr>
        </p:nvSpPr>
        <p:spPr>
          <a:xfrm>
            <a:off x="1069848" y="484632"/>
            <a:ext cx="10058400" cy="584889"/>
          </a:xfrm>
        </p:spPr>
        <p:txBody>
          <a:bodyPr>
            <a:normAutofit fontScale="90000"/>
          </a:bodyPr>
          <a:lstStyle/>
          <a:p>
            <a:r>
              <a:rPr lang="en-US" dirty="0"/>
              <a:t>Number of destructors…</a:t>
            </a:r>
          </a:p>
        </p:txBody>
      </p:sp>
      <p:sp>
        <p:nvSpPr>
          <p:cNvPr id="3" name="Content Placeholder 2">
            <a:extLst>
              <a:ext uri="{FF2B5EF4-FFF2-40B4-BE49-F238E27FC236}">
                <a16:creationId xmlns:a16="http://schemas.microsoft.com/office/drawing/2014/main" id="{63FD1FD7-3E22-8B4A-6E7C-06A93C2EB4B5}"/>
              </a:ext>
            </a:extLst>
          </p:cNvPr>
          <p:cNvSpPr>
            <a:spLocks noGrp="1"/>
          </p:cNvSpPr>
          <p:nvPr>
            <p:ph idx="1"/>
          </p:nvPr>
        </p:nvSpPr>
        <p:spPr>
          <a:xfrm>
            <a:off x="1069848" y="1069521"/>
            <a:ext cx="10058400" cy="5788479"/>
          </a:xfrm>
        </p:spPr>
        <p:txBody>
          <a:bodyPr>
            <a:normAutofit fontScale="25000" lnSpcReduction="20000"/>
          </a:bodyPr>
          <a:lstStyle/>
          <a:p>
            <a:r>
              <a:rPr lang="en-US" dirty="0"/>
              <a:t>Class can have only one destructor </a:t>
            </a:r>
          </a:p>
          <a:p>
            <a:r>
              <a:rPr lang="en-US" b="1" dirty="0"/>
              <a:t>Why Only One?</a:t>
            </a:r>
          </a:p>
          <a:p>
            <a:r>
              <a:rPr lang="en-US" dirty="0"/>
              <a:t>Destructor:</a:t>
            </a:r>
          </a:p>
          <a:p>
            <a:r>
              <a:rPr lang="en-US" dirty="0"/>
              <a:t>has fixed name → ~</a:t>
            </a:r>
            <a:r>
              <a:rPr lang="en-US" dirty="0" err="1"/>
              <a:t>ClassName</a:t>
            </a:r>
            <a:r>
              <a:rPr lang="en-US" dirty="0"/>
              <a:t>() </a:t>
            </a:r>
          </a:p>
          <a:p>
            <a:r>
              <a:rPr lang="en-US" dirty="0"/>
              <a:t>has no return type </a:t>
            </a:r>
          </a:p>
          <a:p>
            <a:r>
              <a:rPr lang="en-US" dirty="0"/>
              <a:t>takes no parameters </a:t>
            </a:r>
          </a:p>
          <a:p>
            <a:r>
              <a:rPr lang="en-US" dirty="0"/>
              <a:t>Because its name and signature are fixed, C++ cannot overload destructors.</a:t>
            </a:r>
          </a:p>
          <a:p>
            <a:r>
              <a:rPr lang="en-US" b="1" dirty="0"/>
              <a:t>Important Concept</a:t>
            </a:r>
          </a:p>
          <a:p>
            <a:r>
              <a:rPr lang="en-US" dirty="0"/>
              <a:t>A class may have:</a:t>
            </a:r>
          </a:p>
          <a:p>
            <a:r>
              <a:rPr lang="en-US" dirty="0"/>
              <a:t>many constructors (constructor overloading) </a:t>
            </a:r>
          </a:p>
          <a:p>
            <a:r>
              <a:rPr lang="en-US" dirty="0"/>
              <a:t>but only ONE destructor</a:t>
            </a:r>
          </a:p>
          <a:p>
            <a:r>
              <a:rPr lang="en-US" b="1" dirty="0"/>
              <a:t>Why Constructor Overloading Works?</a:t>
            </a:r>
          </a:p>
          <a:p>
            <a:r>
              <a:rPr lang="en-US" dirty="0"/>
              <a:t>Constructors can have different parameters:</a:t>
            </a:r>
          </a:p>
          <a:p>
            <a:r>
              <a:rPr lang="en-US" dirty="0"/>
              <a:t>Test()</a:t>
            </a:r>
            <a:br>
              <a:rPr lang="en-US" dirty="0"/>
            </a:br>
            <a:r>
              <a:rPr lang="en-US" dirty="0"/>
              <a:t>Test(int x)</a:t>
            </a:r>
            <a:br>
              <a:rPr lang="en-US" dirty="0"/>
            </a:br>
            <a:r>
              <a:rPr lang="en-US" dirty="0"/>
              <a:t>Test(int x, int y)</a:t>
            </a:r>
          </a:p>
          <a:p>
            <a:r>
              <a:rPr lang="en-US" dirty="0"/>
              <a:t>So compiler can distinguish them.</a:t>
            </a:r>
          </a:p>
          <a:p>
            <a:r>
              <a:rPr lang="en-US" b="1" dirty="0"/>
              <a:t>But Destructor?</a:t>
            </a:r>
          </a:p>
          <a:p>
            <a:r>
              <a:rPr lang="en-US" dirty="0"/>
              <a:t>Destructor always looks like:</a:t>
            </a:r>
          </a:p>
          <a:p>
            <a:r>
              <a:rPr lang="en-US" dirty="0"/>
              <a:t>~Test()</a:t>
            </a:r>
          </a:p>
          <a:p>
            <a:r>
              <a:rPr lang="en-US" dirty="0"/>
              <a:t>No parameters allowed.</a:t>
            </a:r>
          </a:p>
          <a:p>
            <a:r>
              <a:rPr lang="en-US" dirty="0"/>
              <a:t>So only one version can exist.</a:t>
            </a:r>
          </a:p>
          <a:p>
            <a:r>
              <a:rPr lang="en-US" b="1" dirty="0"/>
              <a:t>Real Purpose of Destructor</a:t>
            </a:r>
          </a:p>
          <a:p>
            <a:r>
              <a:rPr lang="en-US" dirty="0"/>
              <a:t>Destructor is automatically called when object is destroyed.</a:t>
            </a:r>
          </a:p>
          <a:p>
            <a:r>
              <a:rPr lang="en-US" dirty="0"/>
              <a:t>Used for:</a:t>
            </a:r>
          </a:p>
          <a:p>
            <a:r>
              <a:rPr lang="en-US" dirty="0"/>
              <a:t>releasing memory </a:t>
            </a:r>
          </a:p>
          <a:p>
            <a:r>
              <a:rPr lang="en-US" dirty="0"/>
              <a:t>closing files </a:t>
            </a:r>
          </a:p>
          <a:p>
            <a:r>
              <a:rPr lang="en-US" dirty="0"/>
              <a:t>freeing resources</a:t>
            </a:r>
          </a:p>
          <a:p>
            <a:endParaRPr lang="en-US" dirty="0"/>
          </a:p>
        </p:txBody>
      </p:sp>
    </p:spTree>
    <p:extLst>
      <p:ext uri="{BB962C8B-B14F-4D97-AF65-F5344CB8AC3E}">
        <p14:creationId xmlns:p14="http://schemas.microsoft.com/office/powerpoint/2010/main" val="131053862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74CDC-BBA1-831A-95BF-2189107AFE14}"/>
              </a:ext>
            </a:extLst>
          </p:cNvPr>
          <p:cNvSpPr>
            <a:spLocks noGrp="1"/>
          </p:cNvSpPr>
          <p:nvPr>
            <p:ph type="title"/>
          </p:nvPr>
        </p:nvSpPr>
        <p:spPr>
          <a:xfrm>
            <a:off x="1069848" y="484632"/>
            <a:ext cx="10058400" cy="398946"/>
          </a:xfrm>
        </p:spPr>
        <p:txBody>
          <a:bodyPr>
            <a:normAutofit fontScale="90000"/>
          </a:bodyPr>
          <a:lstStyle/>
          <a:p>
            <a:r>
              <a:rPr lang="en-US" dirty="0"/>
              <a:t>Predict output…</a:t>
            </a:r>
          </a:p>
        </p:txBody>
      </p:sp>
      <p:sp>
        <p:nvSpPr>
          <p:cNvPr id="3" name="Content Placeholder 2">
            <a:extLst>
              <a:ext uri="{FF2B5EF4-FFF2-40B4-BE49-F238E27FC236}">
                <a16:creationId xmlns:a16="http://schemas.microsoft.com/office/drawing/2014/main" id="{1561498D-3109-5DCF-0A9F-EC762E3DDF50}"/>
              </a:ext>
            </a:extLst>
          </p:cNvPr>
          <p:cNvSpPr>
            <a:spLocks noGrp="1"/>
          </p:cNvSpPr>
          <p:nvPr>
            <p:ph idx="1"/>
          </p:nvPr>
        </p:nvSpPr>
        <p:spPr>
          <a:xfrm>
            <a:off x="1069848" y="965771"/>
            <a:ext cx="10058400" cy="5892229"/>
          </a:xfrm>
        </p:spPr>
        <p:txBody>
          <a:bodyPr>
            <a:normAutofit fontScale="25000" lnSpcReduction="20000"/>
          </a:bodyPr>
          <a:lstStyle/>
          <a:p>
            <a:r>
              <a:rPr lang="en-US" dirty="0"/>
              <a:t>Predict output order and explain: class Test { public: Test() { </a:t>
            </a:r>
            <a:r>
              <a:rPr lang="en-US" dirty="0" err="1"/>
              <a:t>cout</a:t>
            </a:r>
            <a:r>
              <a:rPr lang="en-US" dirty="0"/>
              <a:t> &lt;&lt; "Construct\n"; } ~Test() { </a:t>
            </a:r>
            <a:r>
              <a:rPr lang="en-US" dirty="0" err="1"/>
              <a:t>cout</a:t>
            </a:r>
            <a:r>
              <a:rPr lang="en-US" dirty="0"/>
              <a:t> &lt;&lt; "Destruct\n"; } }; int main() { Test a; { Test b; } Test c; }</a:t>
            </a:r>
          </a:p>
          <a:p>
            <a:r>
              <a:rPr lang="en-US" b="1" dirty="0"/>
              <a:t>🔹 Output Order</a:t>
            </a:r>
          </a:p>
          <a:p>
            <a:r>
              <a:rPr lang="en-US" dirty="0"/>
              <a:t>Construct</a:t>
            </a:r>
            <a:br>
              <a:rPr lang="en-US" dirty="0"/>
            </a:br>
            <a:r>
              <a:rPr lang="en-US" dirty="0" err="1"/>
              <a:t>Construct</a:t>
            </a:r>
            <a:br>
              <a:rPr lang="en-US" dirty="0"/>
            </a:br>
            <a:r>
              <a:rPr lang="en-US" dirty="0"/>
              <a:t>Destruct</a:t>
            </a:r>
            <a:br>
              <a:rPr lang="en-US" dirty="0"/>
            </a:br>
            <a:r>
              <a:rPr lang="en-US" dirty="0"/>
              <a:t>Construct</a:t>
            </a:r>
            <a:br>
              <a:rPr lang="en-US" dirty="0"/>
            </a:br>
            <a:r>
              <a:rPr lang="en-US" dirty="0"/>
              <a:t>Destruct</a:t>
            </a:r>
            <a:br>
              <a:rPr lang="en-US" dirty="0"/>
            </a:br>
            <a:r>
              <a:rPr lang="en-US" dirty="0" err="1"/>
              <a:t>Destruct</a:t>
            </a:r>
            <a:endParaRPr lang="en-US" dirty="0"/>
          </a:p>
          <a:p>
            <a:br>
              <a:rPr lang="en-US" dirty="0"/>
            </a:br>
            <a:endParaRPr lang="en-US" dirty="0"/>
          </a:p>
          <a:p>
            <a:r>
              <a:rPr lang="en-US" b="1" dirty="0"/>
              <a:t>🔹 Step-by-Step Explanation</a:t>
            </a:r>
          </a:p>
          <a:p>
            <a:r>
              <a:rPr lang="en-US" b="1" dirty="0"/>
              <a:t>Test a;</a:t>
            </a:r>
            <a:r>
              <a:rPr lang="en-US" dirty="0"/>
              <a:t> </a:t>
            </a:r>
          </a:p>
          <a:p>
            <a:pPr lvl="1"/>
            <a:r>
              <a:rPr lang="en-US" dirty="0"/>
              <a:t>Object </a:t>
            </a:r>
            <a:r>
              <a:rPr lang="en-US" b="1" dirty="0"/>
              <a:t>a</a:t>
            </a:r>
            <a:r>
              <a:rPr lang="en-US" dirty="0"/>
              <a:t> is created </a:t>
            </a:r>
          </a:p>
          <a:p>
            <a:pPr lvl="1"/>
            <a:r>
              <a:rPr lang="en-US" dirty="0"/>
              <a:t>Constructor runs → Construct </a:t>
            </a:r>
          </a:p>
          <a:p>
            <a:r>
              <a:rPr lang="en-US" b="1" dirty="0"/>
              <a:t>Inner block { Test b; }</a:t>
            </a:r>
            <a:r>
              <a:rPr lang="en-US" dirty="0"/>
              <a:t> </a:t>
            </a:r>
          </a:p>
          <a:p>
            <a:pPr lvl="1"/>
            <a:r>
              <a:rPr lang="en-US" dirty="0"/>
              <a:t>Object </a:t>
            </a:r>
            <a:r>
              <a:rPr lang="en-US" b="1" dirty="0"/>
              <a:t>b</a:t>
            </a:r>
            <a:r>
              <a:rPr lang="en-US" dirty="0"/>
              <a:t> is created </a:t>
            </a:r>
          </a:p>
          <a:p>
            <a:pPr lvl="1"/>
            <a:r>
              <a:rPr lang="en-US" dirty="0"/>
              <a:t>Constructor runs → Construct </a:t>
            </a:r>
          </a:p>
          <a:p>
            <a:r>
              <a:rPr lang="en-US" b="1" dirty="0"/>
              <a:t>End of inner block</a:t>
            </a:r>
            <a:r>
              <a:rPr lang="en-US" dirty="0"/>
              <a:t> </a:t>
            </a:r>
          </a:p>
          <a:p>
            <a:pPr lvl="1"/>
            <a:r>
              <a:rPr lang="en-US" dirty="0"/>
              <a:t>Object </a:t>
            </a:r>
            <a:r>
              <a:rPr lang="en-US" b="1" dirty="0"/>
              <a:t>b</a:t>
            </a:r>
            <a:r>
              <a:rPr lang="en-US" dirty="0"/>
              <a:t> goes out of scope </a:t>
            </a:r>
          </a:p>
          <a:p>
            <a:pPr lvl="1"/>
            <a:r>
              <a:rPr lang="en-US" dirty="0"/>
              <a:t>Destructor runs → Destruct </a:t>
            </a:r>
          </a:p>
          <a:p>
            <a:r>
              <a:rPr lang="en-US" b="1" dirty="0"/>
              <a:t>Test c;</a:t>
            </a:r>
            <a:r>
              <a:rPr lang="en-US" dirty="0"/>
              <a:t> </a:t>
            </a:r>
          </a:p>
          <a:p>
            <a:pPr lvl="1"/>
            <a:r>
              <a:rPr lang="en-US" dirty="0"/>
              <a:t>Object </a:t>
            </a:r>
            <a:r>
              <a:rPr lang="en-US" b="1" dirty="0"/>
              <a:t>c</a:t>
            </a:r>
            <a:r>
              <a:rPr lang="en-US" dirty="0"/>
              <a:t> is created </a:t>
            </a:r>
          </a:p>
          <a:p>
            <a:pPr lvl="1"/>
            <a:r>
              <a:rPr lang="en-US" dirty="0"/>
              <a:t>Constructor runs → Construct </a:t>
            </a:r>
          </a:p>
          <a:p>
            <a:r>
              <a:rPr lang="en-US" b="1" dirty="0"/>
              <a:t>End of main()</a:t>
            </a:r>
            <a:r>
              <a:rPr lang="en-US" dirty="0"/>
              <a:t> </a:t>
            </a:r>
          </a:p>
          <a:p>
            <a:pPr lvl="1"/>
            <a:r>
              <a:rPr lang="en-US" dirty="0"/>
              <a:t>Objects are destroyed in </a:t>
            </a:r>
            <a:r>
              <a:rPr lang="en-US" b="1" dirty="0"/>
              <a:t>reverse order of creation (LIFO)</a:t>
            </a:r>
            <a:r>
              <a:rPr lang="en-US" dirty="0"/>
              <a:t> </a:t>
            </a:r>
          </a:p>
          <a:p>
            <a:pPr lvl="1"/>
            <a:r>
              <a:rPr lang="en-US" dirty="0"/>
              <a:t>First </a:t>
            </a:r>
            <a:r>
              <a:rPr lang="en-US" b="1" dirty="0"/>
              <a:t>c</a:t>
            </a:r>
            <a:r>
              <a:rPr lang="en-US" dirty="0"/>
              <a:t> destroyed → Destruct </a:t>
            </a:r>
          </a:p>
          <a:p>
            <a:pPr lvl="1"/>
            <a:r>
              <a:rPr lang="en-US" dirty="0"/>
              <a:t>Then </a:t>
            </a:r>
            <a:r>
              <a:rPr lang="en-US" b="1" dirty="0"/>
              <a:t>a</a:t>
            </a:r>
            <a:r>
              <a:rPr lang="en-US" dirty="0"/>
              <a:t> destroyed → Destruct </a:t>
            </a:r>
          </a:p>
          <a:p>
            <a:br>
              <a:rPr lang="en-US" dirty="0"/>
            </a:br>
            <a:endParaRPr lang="en-US" dirty="0"/>
          </a:p>
          <a:p>
            <a:r>
              <a:rPr lang="en-US" b="1" dirty="0"/>
              <a:t>🔹 Key Concept (Important)</a:t>
            </a:r>
          </a:p>
          <a:p>
            <a:r>
              <a:rPr lang="en-US" dirty="0"/>
              <a:t>👉 </a:t>
            </a:r>
            <a:r>
              <a:rPr lang="en-US" b="1" dirty="0"/>
              <a:t>Destructors are called in reverse order of object creation (Last In, First Out).</a:t>
            </a:r>
            <a:endParaRPr lang="en-US" dirty="0"/>
          </a:p>
          <a:p>
            <a:r>
              <a:rPr lang="en-US" b="1" dirty="0"/>
              <a:t>Q9: Why constructor of base class is called first?</a:t>
            </a:r>
          </a:p>
          <a:p>
            <a:r>
              <a:rPr lang="en-US" dirty="0"/>
              <a:t>👉 Because derived class depends on base class, so base must initialize first.</a:t>
            </a:r>
          </a:p>
          <a:p>
            <a:br>
              <a:rPr lang="en-US" dirty="0"/>
            </a:br>
            <a:endParaRPr lang="en-US" dirty="0"/>
          </a:p>
          <a:p>
            <a:r>
              <a:rPr lang="en-US" b="1" dirty="0"/>
              <a:t>❓ Q10: Why destructor of derived class is called first?</a:t>
            </a:r>
          </a:p>
          <a:p>
            <a:r>
              <a:rPr lang="en-US" dirty="0"/>
              <a:t>👉 Because object is destroyed in reverse order (LIFO).</a:t>
            </a:r>
          </a:p>
          <a:p>
            <a:endParaRPr lang="en-US" dirty="0"/>
          </a:p>
        </p:txBody>
      </p:sp>
    </p:spTree>
    <p:extLst>
      <p:ext uri="{BB962C8B-B14F-4D97-AF65-F5344CB8AC3E}">
        <p14:creationId xmlns:p14="http://schemas.microsoft.com/office/powerpoint/2010/main" val="230573889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6BF7B-DF6B-6EE3-6678-0656695D74A7}"/>
              </a:ext>
            </a:extLst>
          </p:cNvPr>
          <p:cNvSpPr>
            <a:spLocks noGrp="1"/>
          </p:cNvSpPr>
          <p:nvPr>
            <p:ph type="title"/>
          </p:nvPr>
        </p:nvSpPr>
        <p:spPr/>
        <p:txBody>
          <a:bodyPr/>
          <a:lstStyle/>
          <a:p>
            <a:pPr algn="ctr"/>
            <a:r>
              <a:rPr lang="en-US" dirty="0"/>
              <a:t>Main pillars of </a:t>
            </a:r>
            <a:r>
              <a:rPr lang="en-US" dirty="0" err="1"/>
              <a:t>oop</a:t>
            </a:r>
            <a:endParaRPr lang="en-US" dirty="0"/>
          </a:p>
        </p:txBody>
      </p:sp>
      <p:sp>
        <p:nvSpPr>
          <p:cNvPr id="3" name="Content Placeholder 2">
            <a:extLst>
              <a:ext uri="{FF2B5EF4-FFF2-40B4-BE49-F238E27FC236}">
                <a16:creationId xmlns:a16="http://schemas.microsoft.com/office/drawing/2014/main" id="{7E19131A-CDDD-0FE5-4910-79B80F91F2B2}"/>
              </a:ext>
            </a:extLst>
          </p:cNvPr>
          <p:cNvSpPr>
            <a:spLocks noGrp="1"/>
          </p:cNvSpPr>
          <p:nvPr>
            <p:ph idx="1"/>
          </p:nvPr>
        </p:nvSpPr>
        <p:spPr/>
        <p:txBody>
          <a:bodyPr/>
          <a:lstStyle/>
          <a:p>
            <a:r>
              <a:rPr lang="en-US" dirty="0"/>
              <a:t>Encapsulation</a:t>
            </a:r>
          </a:p>
          <a:p>
            <a:r>
              <a:rPr lang="en-US" dirty="0"/>
              <a:t>Abstraction</a:t>
            </a:r>
          </a:p>
          <a:p>
            <a:r>
              <a:rPr lang="en-US" dirty="0"/>
              <a:t>Inheritance</a:t>
            </a:r>
          </a:p>
          <a:p>
            <a:r>
              <a:rPr lang="en-US" dirty="0"/>
              <a:t>Polymorphism</a:t>
            </a:r>
          </a:p>
          <a:p>
            <a:endParaRPr lang="en-US" dirty="0"/>
          </a:p>
        </p:txBody>
      </p:sp>
    </p:spTree>
    <p:extLst>
      <p:ext uri="{BB962C8B-B14F-4D97-AF65-F5344CB8AC3E}">
        <p14:creationId xmlns:p14="http://schemas.microsoft.com/office/powerpoint/2010/main" val="89706266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DD59A8E-0EE5-0501-BA0D-C5BEF080E5BC}"/>
              </a:ext>
            </a:extLst>
          </p:cNvPr>
          <p:cNvSpPr>
            <a:spLocks noGrp="1"/>
          </p:cNvSpPr>
          <p:nvPr>
            <p:ph type="title"/>
          </p:nvPr>
        </p:nvSpPr>
        <p:spPr>
          <a:xfrm>
            <a:off x="1069848" y="484632"/>
            <a:ext cx="10058400" cy="111361"/>
          </a:xfrm>
        </p:spPr>
        <p:txBody>
          <a:bodyPr>
            <a:normAutofit fontScale="90000"/>
          </a:bodyPr>
          <a:lstStyle/>
          <a:p>
            <a:pPr algn="ctr"/>
            <a:r>
              <a:rPr lang="en-US" dirty="0"/>
              <a:t>encapsulation</a:t>
            </a:r>
          </a:p>
        </p:txBody>
      </p:sp>
      <p:sp>
        <p:nvSpPr>
          <p:cNvPr id="9" name="Content Placeholder 8">
            <a:extLst>
              <a:ext uri="{FF2B5EF4-FFF2-40B4-BE49-F238E27FC236}">
                <a16:creationId xmlns:a16="http://schemas.microsoft.com/office/drawing/2014/main" id="{0F256C00-325E-D612-218D-AD2DC8904F20}"/>
              </a:ext>
            </a:extLst>
          </p:cNvPr>
          <p:cNvSpPr>
            <a:spLocks noGrp="1"/>
          </p:cNvSpPr>
          <p:nvPr>
            <p:ph idx="1"/>
          </p:nvPr>
        </p:nvSpPr>
        <p:spPr>
          <a:xfrm>
            <a:off x="988205" y="595993"/>
            <a:ext cx="10058400" cy="6098721"/>
          </a:xfrm>
        </p:spPr>
        <p:txBody>
          <a:bodyPr>
            <a:normAutofit/>
          </a:bodyPr>
          <a:lstStyle/>
          <a:p>
            <a:r>
              <a:rPr lang="en-US" b="1" dirty="0">
                <a:latin typeface="Times New Roman" panose="02020603050405020304" pitchFamily="18" charset="0"/>
                <a:cs typeface="Times New Roman" panose="02020603050405020304" pitchFamily="18" charset="0"/>
              </a:rPr>
              <a:t>Encapsulation</a:t>
            </a:r>
            <a:r>
              <a:rPr lang="en-US" dirty="0">
                <a:latin typeface="Times New Roman" panose="02020603050405020304" pitchFamily="18" charset="0"/>
                <a:cs typeface="Times New Roman" panose="02020603050405020304" pitchFamily="18" charset="0"/>
              </a:rPr>
              <a:t> means:</a:t>
            </a:r>
          </a:p>
          <a:p>
            <a:pPr lvl="1"/>
            <a:r>
              <a:rPr lang="en-US" sz="2000" dirty="0">
                <a:latin typeface="Times New Roman" panose="02020603050405020304" pitchFamily="18" charset="0"/>
                <a:cs typeface="Times New Roman" panose="02020603050405020304" pitchFamily="18" charset="0"/>
              </a:rPr>
              <a:t>Binding </a:t>
            </a:r>
            <a:r>
              <a:rPr lang="en-US" sz="2000" b="1" dirty="0">
                <a:latin typeface="Times New Roman" panose="02020603050405020304" pitchFamily="18" charset="0"/>
                <a:cs typeface="Times New Roman" panose="02020603050405020304" pitchFamily="18" charset="0"/>
              </a:rPr>
              <a:t>data (state)</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methods (behavior)</a:t>
            </a:r>
            <a:r>
              <a:rPr lang="en-US" sz="2000" dirty="0">
                <a:latin typeface="Times New Roman" panose="02020603050405020304" pitchFamily="18" charset="0"/>
                <a:cs typeface="Times New Roman" panose="02020603050405020304" pitchFamily="18" charset="0"/>
              </a:rPr>
              <a:t> together in a class</a:t>
            </a:r>
          </a:p>
          <a:p>
            <a:pPr lvl="1"/>
            <a:r>
              <a:rPr lang="en-US" sz="2000" b="1" dirty="0">
                <a:latin typeface="Times New Roman" panose="02020603050405020304" pitchFamily="18" charset="0"/>
                <a:cs typeface="Times New Roman" panose="02020603050405020304" pitchFamily="18" charset="0"/>
              </a:rPr>
              <a:t>Restricting direct access</a:t>
            </a:r>
            <a:r>
              <a:rPr lang="en-US" sz="2000" dirty="0">
                <a:latin typeface="Times New Roman" panose="02020603050405020304" pitchFamily="18" charset="0"/>
                <a:cs typeface="Times New Roman" panose="02020603050405020304" pitchFamily="18" charset="0"/>
              </a:rPr>
              <a:t> to internal data</a:t>
            </a:r>
          </a:p>
          <a:p>
            <a:pPr lvl="1"/>
            <a:r>
              <a:rPr lang="en-US" sz="2000" dirty="0">
                <a:latin typeface="Times New Roman" panose="02020603050405020304" pitchFamily="18" charset="0"/>
                <a:cs typeface="Times New Roman" panose="02020603050405020304" pitchFamily="18" charset="0"/>
              </a:rPr>
              <a:t>Enforcing </a:t>
            </a:r>
            <a:r>
              <a:rPr lang="en-US" sz="2000" b="1" dirty="0">
                <a:latin typeface="Times New Roman" panose="02020603050405020304" pitchFamily="18" charset="0"/>
                <a:cs typeface="Times New Roman" panose="02020603050405020304" pitchFamily="18" charset="0"/>
              </a:rPr>
              <a:t>controlled interaction</a:t>
            </a:r>
            <a:r>
              <a:rPr lang="en-US" sz="2000" dirty="0">
                <a:latin typeface="Times New Roman" panose="02020603050405020304" pitchFamily="18" charset="0"/>
                <a:cs typeface="Times New Roman" panose="02020603050405020304" pitchFamily="18" charset="0"/>
              </a:rPr>
              <a:t> through public interfaces</a:t>
            </a:r>
          </a:p>
          <a:p>
            <a:r>
              <a:rPr lang="en-US" dirty="0">
                <a:latin typeface="Times New Roman" panose="02020603050405020304" pitchFamily="18" charset="0"/>
                <a:cs typeface="Times New Roman" panose="02020603050405020304" pitchFamily="18" charset="0"/>
              </a:rPr>
              <a:t>Achieved using </a:t>
            </a:r>
            <a:r>
              <a:rPr lang="en-US" b="1" dirty="0">
                <a:latin typeface="Times New Roman" panose="02020603050405020304" pitchFamily="18" charset="0"/>
                <a:cs typeface="Times New Roman" panose="02020603050405020304" pitchFamily="18" charset="0"/>
              </a:rPr>
              <a:t>access specifiers</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private, protected, public</a:t>
            </a:r>
          </a:p>
          <a:p>
            <a:pPr marL="0" indent="0">
              <a:buNone/>
            </a:pPr>
            <a:r>
              <a:rPr lang="en-US" b="1" dirty="0">
                <a:solidFill>
                  <a:srgbClr val="FF0000"/>
                </a:solidFill>
              </a:rPr>
              <a:t>Without Encapsulation (Problematic)</a:t>
            </a:r>
          </a:p>
          <a:p>
            <a:pPr marL="0" indent="0">
              <a:buNone/>
            </a:pPr>
            <a:r>
              <a:rPr lang="en-US" dirty="0">
                <a:latin typeface="Times New Roman" panose="02020603050405020304" pitchFamily="18" charset="0"/>
                <a:cs typeface="Times New Roman" panose="02020603050405020304" pitchFamily="18" charset="0"/>
              </a:rPr>
              <a:t>class </a:t>
            </a:r>
            <a:r>
              <a:rPr lang="en-US" dirty="0" err="1">
                <a:latin typeface="Times New Roman" panose="02020603050405020304" pitchFamily="18" charset="0"/>
                <a:cs typeface="Times New Roman" panose="02020603050405020304" pitchFamily="18" charset="0"/>
              </a:rPr>
              <a:t>BankAccount</a:t>
            </a: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public:</a:t>
            </a:r>
          </a:p>
          <a:p>
            <a:pPr marL="0" indent="0">
              <a:buNone/>
            </a:pPr>
            <a:r>
              <a:rPr lang="en-US" dirty="0">
                <a:latin typeface="Times New Roman" panose="02020603050405020304" pitchFamily="18" charset="0"/>
                <a:cs typeface="Times New Roman" panose="02020603050405020304" pitchFamily="18" charset="0"/>
              </a:rPr>
              <a:t>   double balance;</a:t>
            </a:r>
          </a:p>
          <a:p>
            <a:pPr marL="0" indent="0">
              <a:buNone/>
            </a:pPr>
            <a:r>
              <a:rPr lang="en-US" dirty="0">
                <a:latin typeface="Times New Roman" panose="02020603050405020304" pitchFamily="18" charset="0"/>
                <a:cs typeface="Times New Roman" panose="02020603050405020304" pitchFamily="18" charset="0"/>
              </a:rPr>
              <a:t>};</a:t>
            </a:r>
          </a:p>
          <a:p>
            <a:pPr marL="0" indent="0">
              <a:buNone/>
            </a:pPr>
            <a:r>
              <a:rPr lang="en-US" dirty="0" err="1">
                <a:latin typeface="Times New Roman" panose="02020603050405020304" pitchFamily="18" charset="0"/>
                <a:cs typeface="Times New Roman" panose="02020603050405020304" pitchFamily="18" charset="0"/>
              </a:rPr>
              <a:t>BankAccount</a:t>
            </a:r>
            <a:r>
              <a:rPr lang="en-US" dirty="0">
                <a:latin typeface="Times New Roman" panose="02020603050405020304" pitchFamily="18" charset="0"/>
                <a:cs typeface="Times New Roman" panose="02020603050405020304" pitchFamily="18" charset="0"/>
              </a:rPr>
              <a:t> acc;</a:t>
            </a:r>
          </a:p>
          <a:p>
            <a:pPr marL="0" indent="0">
              <a:buNone/>
            </a:pPr>
            <a:r>
              <a:rPr lang="en-US" dirty="0">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acc.balance</a:t>
            </a:r>
            <a:r>
              <a:rPr lang="en-US" dirty="0">
                <a:solidFill>
                  <a:srgbClr val="FF0000"/>
                </a:solidFill>
                <a:latin typeface="Times New Roman" panose="02020603050405020304" pitchFamily="18" charset="0"/>
                <a:cs typeface="Times New Roman" panose="02020603050405020304" pitchFamily="18" charset="0"/>
              </a:rPr>
              <a:t> = -5000;   // Invalid state allowed</a:t>
            </a:r>
          </a:p>
          <a:p>
            <a:pPr>
              <a:buFont typeface="Wingdings" pitchFamily="2" charset="2"/>
              <a:buChar char="Ø"/>
            </a:pPr>
            <a:r>
              <a:rPr lang="en-US" b="1" dirty="0">
                <a:solidFill>
                  <a:srgbClr val="C00000"/>
                </a:solidFill>
              </a:rPr>
              <a:t>No control, no validation, unsafe design</a:t>
            </a:r>
          </a:p>
          <a:p>
            <a:pPr marL="0" indent="0">
              <a:buNone/>
            </a:pPr>
            <a:endParaRPr lang="en-US" b="1" dirty="0">
              <a:solidFill>
                <a:srgbClr val="C00000"/>
              </a:solidFill>
            </a:endParaRPr>
          </a:p>
          <a:p>
            <a:endParaRPr lang="en-US" dirty="0"/>
          </a:p>
        </p:txBody>
      </p:sp>
      <p:pic>
        <p:nvPicPr>
          <p:cNvPr id="10" name="Picture 9">
            <a:extLst>
              <a:ext uri="{FF2B5EF4-FFF2-40B4-BE49-F238E27FC236}">
                <a16:creationId xmlns:a16="http://schemas.microsoft.com/office/drawing/2014/main" id="{F6B449E7-8635-E5E9-8AAF-C10160288A1F}"/>
              </a:ext>
            </a:extLst>
          </p:cNvPr>
          <p:cNvPicPr>
            <a:picLocks noChangeAspect="1"/>
          </p:cNvPicPr>
          <p:nvPr/>
        </p:nvPicPr>
        <p:blipFill>
          <a:blip r:embed="rId3"/>
          <a:stretch>
            <a:fillRect/>
          </a:stretch>
        </p:blipFill>
        <p:spPr>
          <a:xfrm>
            <a:off x="6096000" y="2530928"/>
            <a:ext cx="6096000" cy="2015671"/>
          </a:xfrm>
          <a:prstGeom prst="rect">
            <a:avLst/>
          </a:prstGeom>
        </p:spPr>
      </p:pic>
    </p:spTree>
    <p:extLst>
      <p:ext uri="{BB962C8B-B14F-4D97-AF65-F5344CB8AC3E}">
        <p14:creationId xmlns:p14="http://schemas.microsoft.com/office/powerpoint/2010/main" val="337965106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CE437-F6A4-4C2F-A098-FE03F5CE7519}"/>
              </a:ext>
            </a:extLst>
          </p:cNvPr>
          <p:cNvSpPr>
            <a:spLocks noGrp="1"/>
          </p:cNvSpPr>
          <p:nvPr>
            <p:ph type="title"/>
          </p:nvPr>
        </p:nvSpPr>
        <p:spPr>
          <a:xfrm>
            <a:off x="1069848" y="484632"/>
            <a:ext cx="10058400" cy="527739"/>
          </a:xfrm>
        </p:spPr>
        <p:txBody>
          <a:bodyPr>
            <a:normAutofit fontScale="90000"/>
          </a:bodyPr>
          <a:lstStyle/>
          <a:p>
            <a:pPr algn="ctr"/>
            <a:r>
              <a:rPr lang="en-US" dirty="0"/>
              <a:t>Encapsulation continuation…</a:t>
            </a:r>
          </a:p>
        </p:txBody>
      </p:sp>
      <p:sp>
        <p:nvSpPr>
          <p:cNvPr id="3" name="Content Placeholder 2">
            <a:extLst>
              <a:ext uri="{FF2B5EF4-FFF2-40B4-BE49-F238E27FC236}">
                <a16:creationId xmlns:a16="http://schemas.microsoft.com/office/drawing/2014/main" id="{E047E351-53F6-0EBC-1556-1D7DF5657418}"/>
              </a:ext>
            </a:extLst>
          </p:cNvPr>
          <p:cNvSpPr>
            <a:spLocks noGrp="1"/>
          </p:cNvSpPr>
          <p:nvPr>
            <p:ph idx="1"/>
          </p:nvPr>
        </p:nvSpPr>
        <p:spPr>
          <a:xfrm>
            <a:off x="1069848" y="1012371"/>
            <a:ext cx="10058400" cy="5159829"/>
          </a:xfrm>
        </p:spPr>
        <p:txBody>
          <a:bodyPr>
            <a:normAutofit fontScale="32500" lnSpcReduction="20000"/>
          </a:bodyPr>
          <a:lstStyle/>
          <a:p>
            <a:pPr marL="0" indent="0">
              <a:buNone/>
            </a:pPr>
            <a:r>
              <a:rPr lang="en-US" b="1" dirty="0">
                <a:solidFill>
                  <a:srgbClr val="00B050"/>
                </a:solidFill>
              </a:rPr>
              <a:t>With Encapsulation</a:t>
            </a:r>
          </a:p>
          <a:p>
            <a:pPr marL="0" indent="0">
              <a:buNone/>
            </a:pPr>
            <a:r>
              <a:rPr lang="en-US" b="1" dirty="0">
                <a:latin typeface="Times New Roman" panose="02020603050405020304" pitchFamily="18" charset="0"/>
                <a:cs typeface="Times New Roman" panose="02020603050405020304" pitchFamily="18" charset="0"/>
              </a:rPr>
              <a:t>class </a:t>
            </a:r>
            <a:r>
              <a:rPr lang="en-US" b="1" dirty="0" err="1">
                <a:latin typeface="Times New Roman" panose="02020603050405020304" pitchFamily="18" charset="0"/>
                <a:cs typeface="Times New Roman" panose="02020603050405020304" pitchFamily="18" charset="0"/>
              </a:rPr>
              <a:t>BankAccount</a:t>
            </a:r>
            <a:r>
              <a:rPr lang="en-US" b="1" dirty="0">
                <a:latin typeface="Times New Roman" panose="02020603050405020304" pitchFamily="18" charset="0"/>
                <a:cs typeface="Times New Roman" panose="02020603050405020304" pitchFamily="18" charset="0"/>
              </a:rPr>
              <a:t> {</a:t>
            </a:r>
          </a:p>
          <a:p>
            <a:pPr marL="0" indent="0">
              <a:buNone/>
            </a:pPr>
            <a:r>
              <a:rPr lang="en-US" b="1" dirty="0">
                <a:latin typeface="Times New Roman" panose="02020603050405020304" pitchFamily="18" charset="0"/>
                <a:cs typeface="Times New Roman" panose="02020603050405020304" pitchFamily="18" charset="0"/>
              </a:rPr>
              <a:t>private:</a:t>
            </a:r>
          </a:p>
          <a:p>
            <a:pPr marL="0" indent="0">
              <a:buNone/>
            </a:pPr>
            <a:r>
              <a:rPr lang="en-US" b="1" dirty="0">
                <a:latin typeface="Times New Roman" panose="02020603050405020304" pitchFamily="18" charset="0"/>
                <a:cs typeface="Times New Roman" panose="02020603050405020304" pitchFamily="18" charset="0"/>
              </a:rPr>
              <a:t>    double balance;   // hidden state</a:t>
            </a: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public:</a:t>
            </a:r>
          </a:p>
          <a:p>
            <a:pPr marL="0" indent="0">
              <a:buNone/>
            </a:pP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BankAccount</a:t>
            </a:r>
            <a:r>
              <a:rPr lang="en-US" b="1" dirty="0">
                <a:latin typeface="Times New Roman" panose="02020603050405020304" pitchFamily="18" charset="0"/>
                <a:cs typeface="Times New Roman" panose="02020603050405020304" pitchFamily="18" charset="0"/>
              </a:rPr>
              <a:t>() : balance(0.0) {}</a:t>
            </a: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    void deposit(double amount) {</a:t>
            </a:r>
          </a:p>
          <a:p>
            <a:pPr marL="0" indent="0">
              <a:buNone/>
            </a:pPr>
            <a:r>
              <a:rPr lang="en-US" b="1" dirty="0">
                <a:latin typeface="Times New Roman" panose="02020603050405020304" pitchFamily="18" charset="0"/>
                <a:cs typeface="Times New Roman" panose="02020603050405020304" pitchFamily="18" charset="0"/>
              </a:rPr>
              <a:t>        if (amount &gt; 0)</a:t>
            </a:r>
          </a:p>
          <a:p>
            <a:pPr marL="0" indent="0">
              <a:buNone/>
            </a:pPr>
            <a:r>
              <a:rPr lang="en-US" b="1" dirty="0">
                <a:latin typeface="Times New Roman" panose="02020603050405020304" pitchFamily="18" charset="0"/>
                <a:cs typeface="Times New Roman" panose="02020603050405020304" pitchFamily="18" charset="0"/>
              </a:rPr>
              <a:t>            balance += amount;</a:t>
            </a:r>
          </a:p>
          <a:p>
            <a:pPr marL="0" indent="0">
              <a:buNone/>
            </a:pPr>
            <a:r>
              <a:rPr lang="en-US" b="1" dirty="0">
                <a:latin typeface="Times New Roman" panose="02020603050405020304" pitchFamily="18" charset="0"/>
                <a:cs typeface="Times New Roman" panose="02020603050405020304" pitchFamily="18" charset="0"/>
              </a:rPr>
              <a:t>    }</a:t>
            </a: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    double </a:t>
            </a:r>
            <a:r>
              <a:rPr lang="en-US" b="1" dirty="0" err="1">
                <a:latin typeface="Times New Roman" panose="02020603050405020304" pitchFamily="18" charset="0"/>
                <a:cs typeface="Times New Roman" panose="02020603050405020304" pitchFamily="18" charset="0"/>
              </a:rPr>
              <a:t>getBalance</a:t>
            </a:r>
            <a:r>
              <a:rPr lang="en-US" b="1" dirty="0">
                <a:latin typeface="Times New Roman" panose="02020603050405020304" pitchFamily="18" charset="0"/>
                <a:cs typeface="Times New Roman" panose="02020603050405020304" pitchFamily="18" charset="0"/>
              </a:rPr>
              <a:t>() const {</a:t>
            </a:r>
          </a:p>
          <a:p>
            <a:pPr marL="0" indent="0">
              <a:buNone/>
            </a:pPr>
            <a:r>
              <a:rPr lang="en-US" b="1" dirty="0">
                <a:latin typeface="Times New Roman" panose="02020603050405020304" pitchFamily="18" charset="0"/>
                <a:cs typeface="Times New Roman" panose="02020603050405020304" pitchFamily="18" charset="0"/>
              </a:rPr>
              <a:t>        return balance;</a:t>
            </a:r>
          </a:p>
          <a:p>
            <a:pPr marL="0" indent="0">
              <a:buNone/>
            </a:pPr>
            <a:r>
              <a:rPr lang="en-US" b="1" dirty="0">
                <a:latin typeface="Times New Roman" panose="02020603050405020304" pitchFamily="18" charset="0"/>
                <a:cs typeface="Times New Roman" panose="02020603050405020304" pitchFamily="18" charset="0"/>
              </a:rPr>
              <a:t>    }</a:t>
            </a:r>
          </a:p>
          <a:p>
            <a:pPr marL="0" indent="0">
              <a:buNone/>
            </a:pPr>
            <a:r>
              <a:rPr lang="en-US" b="1" dirty="0">
                <a:latin typeface="Times New Roman" panose="02020603050405020304" pitchFamily="18" charset="0"/>
                <a:cs typeface="Times New Roman" panose="02020603050405020304" pitchFamily="18" charset="0"/>
              </a:rPr>
              <a:t>};</a:t>
            </a:r>
          </a:p>
          <a:p>
            <a:pPr marL="0" indent="0">
              <a:buNone/>
            </a:pPr>
            <a:r>
              <a:rPr lang="en-US" b="1" dirty="0" err="1">
                <a:solidFill>
                  <a:srgbClr val="00B050"/>
                </a:solidFill>
                <a:latin typeface="Times New Roman" panose="02020603050405020304" pitchFamily="18" charset="0"/>
                <a:cs typeface="Times New Roman" panose="02020603050405020304" pitchFamily="18" charset="0"/>
              </a:rPr>
              <a:t>BankAccount</a:t>
            </a:r>
            <a:r>
              <a:rPr lang="en-US" b="1" dirty="0">
                <a:solidFill>
                  <a:srgbClr val="00B050"/>
                </a:solidFill>
                <a:latin typeface="Times New Roman" panose="02020603050405020304" pitchFamily="18" charset="0"/>
                <a:cs typeface="Times New Roman" panose="02020603050405020304" pitchFamily="18" charset="0"/>
              </a:rPr>
              <a:t> acc;</a:t>
            </a:r>
          </a:p>
          <a:p>
            <a:pPr marL="0" indent="0">
              <a:buNone/>
            </a:pPr>
            <a:r>
              <a:rPr lang="en-US" b="1" dirty="0" err="1">
                <a:solidFill>
                  <a:srgbClr val="00B050"/>
                </a:solidFill>
                <a:latin typeface="Times New Roman" panose="02020603050405020304" pitchFamily="18" charset="0"/>
                <a:cs typeface="Times New Roman" panose="02020603050405020304" pitchFamily="18" charset="0"/>
              </a:rPr>
              <a:t>acc.deposit</a:t>
            </a:r>
            <a:r>
              <a:rPr lang="en-US" b="1" dirty="0">
                <a:solidFill>
                  <a:srgbClr val="00B050"/>
                </a:solidFill>
                <a:latin typeface="Times New Roman" panose="02020603050405020304" pitchFamily="18" charset="0"/>
                <a:cs typeface="Times New Roman" panose="02020603050405020304" pitchFamily="18" charset="0"/>
              </a:rPr>
              <a:t>(1000);</a:t>
            </a:r>
          </a:p>
          <a:p>
            <a:pPr marL="0" indent="0">
              <a:buNone/>
            </a:pPr>
            <a:r>
              <a:rPr lang="en-US" b="1" dirty="0" err="1">
                <a:solidFill>
                  <a:srgbClr val="00B050"/>
                </a:solidFill>
                <a:latin typeface="Times New Roman" panose="02020603050405020304" pitchFamily="18" charset="0"/>
                <a:cs typeface="Times New Roman" panose="02020603050405020304" pitchFamily="18" charset="0"/>
              </a:rPr>
              <a:t>cout</a:t>
            </a:r>
            <a:r>
              <a:rPr lang="en-US" b="1" dirty="0">
                <a:solidFill>
                  <a:srgbClr val="00B050"/>
                </a:solidFill>
                <a:latin typeface="Times New Roman" panose="02020603050405020304" pitchFamily="18" charset="0"/>
                <a:cs typeface="Times New Roman" panose="02020603050405020304" pitchFamily="18" charset="0"/>
              </a:rPr>
              <a:t> &lt;&lt; </a:t>
            </a:r>
            <a:r>
              <a:rPr lang="en-US" b="1" dirty="0" err="1">
                <a:solidFill>
                  <a:srgbClr val="00B050"/>
                </a:solidFill>
                <a:latin typeface="Times New Roman" panose="02020603050405020304" pitchFamily="18" charset="0"/>
                <a:cs typeface="Times New Roman" panose="02020603050405020304" pitchFamily="18" charset="0"/>
              </a:rPr>
              <a:t>acc.getBalance</a:t>
            </a:r>
            <a:r>
              <a:rPr lang="en-US" b="1" dirty="0">
                <a:solidFill>
                  <a:srgbClr val="00B050"/>
                </a:solidFill>
                <a:latin typeface="Times New Roman" panose="02020603050405020304" pitchFamily="18" charset="0"/>
                <a:cs typeface="Times New Roman" panose="02020603050405020304" pitchFamily="18" charset="0"/>
              </a:rPr>
              <a:t>();</a:t>
            </a:r>
          </a:p>
          <a:p>
            <a:pPr marL="0" indent="0">
              <a:buNone/>
            </a:pPr>
            <a:endParaRPr lang="en-US" b="1" dirty="0">
              <a:solidFill>
                <a:srgbClr val="00B050"/>
              </a:solidFill>
              <a:latin typeface="Times New Roman" panose="02020603050405020304" pitchFamily="18" charset="0"/>
              <a:cs typeface="Times New Roman" panose="02020603050405020304" pitchFamily="18" charset="0"/>
            </a:endParaRPr>
          </a:p>
          <a:p>
            <a:pPr marL="0" indent="0">
              <a:buNone/>
            </a:pPr>
            <a:r>
              <a:rPr lang="en-US" dirty="0"/>
              <a:t>✔ State can only change through </a:t>
            </a:r>
            <a:r>
              <a:rPr lang="en-US" b="1" dirty="0"/>
              <a:t>validated methods</a:t>
            </a:r>
            <a:endParaRPr lang="en-US" b="1" dirty="0">
              <a:solidFill>
                <a:srgbClr val="00B050"/>
              </a:solidFill>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4839292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37C1FB-D518-BBAA-C1EA-AB6AF0A5BA3D}"/>
              </a:ext>
            </a:extLst>
          </p:cNvPr>
          <p:cNvPicPr>
            <a:picLocks noChangeAspect="1"/>
          </p:cNvPicPr>
          <p:nvPr/>
        </p:nvPicPr>
        <p:blipFill>
          <a:blip r:embed="rId2"/>
          <a:stretch>
            <a:fillRect/>
          </a:stretch>
        </p:blipFill>
        <p:spPr>
          <a:xfrm>
            <a:off x="0" y="219891"/>
            <a:ext cx="12192000" cy="6418217"/>
          </a:xfrm>
          <a:prstGeom prst="rect">
            <a:avLst/>
          </a:prstGeom>
        </p:spPr>
      </p:pic>
    </p:spTree>
    <p:extLst>
      <p:ext uri="{BB962C8B-B14F-4D97-AF65-F5344CB8AC3E}">
        <p14:creationId xmlns:p14="http://schemas.microsoft.com/office/powerpoint/2010/main" val="113131785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5CDEA72-56B6-CCAF-33A7-9AD8A5C3B6BB}"/>
              </a:ext>
            </a:extLst>
          </p:cNvPr>
          <p:cNvPicPr>
            <a:picLocks noChangeAspect="1"/>
          </p:cNvPicPr>
          <p:nvPr/>
        </p:nvPicPr>
        <p:blipFill>
          <a:blip r:embed="rId2"/>
          <a:stretch>
            <a:fillRect/>
          </a:stretch>
        </p:blipFill>
        <p:spPr>
          <a:xfrm>
            <a:off x="51887" y="0"/>
            <a:ext cx="12088226" cy="6858000"/>
          </a:xfrm>
          <a:prstGeom prst="rect">
            <a:avLst/>
          </a:prstGeom>
        </p:spPr>
      </p:pic>
    </p:spTree>
    <p:extLst>
      <p:ext uri="{BB962C8B-B14F-4D97-AF65-F5344CB8AC3E}">
        <p14:creationId xmlns:p14="http://schemas.microsoft.com/office/powerpoint/2010/main" val="114483643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D501E38-62CD-618F-B846-9E055A2CD264}"/>
              </a:ext>
            </a:extLst>
          </p:cNvPr>
          <p:cNvPicPr>
            <a:picLocks noChangeAspect="1"/>
          </p:cNvPicPr>
          <p:nvPr/>
        </p:nvPicPr>
        <p:blipFill>
          <a:blip r:embed="rId3"/>
          <a:stretch>
            <a:fillRect/>
          </a:stretch>
        </p:blipFill>
        <p:spPr>
          <a:xfrm>
            <a:off x="0" y="109396"/>
            <a:ext cx="12192000" cy="6639208"/>
          </a:xfrm>
          <a:prstGeom prst="rect">
            <a:avLst/>
          </a:prstGeom>
        </p:spPr>
      </p:pic>
    </p:spTree>
    <p:extLst>
      <p:ext uri="{BB962C8B-B14F-4D97-AF65-F5344CB8AC3E}">
        <p14:creationId xmlns:p14="http://schemas.microsoft.com/office/powerpoint/2010/main" val="362576764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8477A-0B6E-ABDE-1C49-20309E6C0230}"/>
              </a:ext>
            </a:extLst>
          </p:cNvPr>
          <p:cNvSpPr>
            <a:spLocks noGrp="1"/>
          </p:cNvSpPr>
          <p:nvPr>
            <p:ph type="title"/>
          </p:nvPr>
        </p:nvSpPr>
        <p:spPr>
          <a:xfrm>
            <a:off x="1069848" y="484632"/>
            <a:ext cx="10058400" cy="576725"/>
          </a:xfrm>
        </p:spPr>
        <p:txBody>
          <a:bodyPr>
            <a:normAutofit fontScale="90000"/>
          </a:bodyPr>
          <a:lstStyle/>
          <a:p>
            <a:r>
              <a:rPr lang="en-US" dirty="0"/>
              <a:t>Constructor v/s setters</a:t>
            </a:r>
          </a:p>
        </p:txBody>
      </p:sp>
      <p:sp>
        <p:nvSpPr>
          <p:cNvPr id="3" name="Content Placeholder 2">
            <a:extLst>
              <a:ext uri="{FF2B5EF4-FFF2-40B4-BE49-F238E27FC236}">
                <a16:creationId xmlns:a16="http://schemas.microsoft.com/office/drawing/2014/main" id="{8AB45906-6231-803D-9DA9-A822BA2668B8}"/>
              </a:ext>
            </a:extLst>
          </p:cNvPr>
          <p:cNvSpPr>
            <a:spLocks noGrp="1"/>
          </p:cNvSpPr>
          <p:nvPr>
            <p:ph idx="1"/>
          </p:nvPr>
        </p:nvSpPr>
        <p:spPr>
          <a:xfrm>
            <a:off x="1069848" y="930729"/>
            <a:ext cx="10058400" cy="5861957"/>
          </a:xfrm>
        </p:spPr>
        <p:txBody>
          <a:bodyPr>
            <a:normAutofit fontScale="70000" lnSpcReduction="20000"/>
          </a:bodyPr>
          <a:lstStyle/>
          <a:p>
            <a:r>
              <a:rPr lang="en-US" dirty="0"/>
              <a:t>Yes, constructors can be used like setters, but there is an important difference.</a:t>
            </a:r>
          </a:p>
          <a:p>
            <a:r>
              <a:rPr lang="en-US" b="1" dirty="0"/>
              <a:t>First Understand Setter</a:t>
            </a:r>
          </a:p>
          <a:p>
            <a:r>
              <a:rPr lang="en-US" dirty="0"/>
              <a:t>A setter assigns value after object creation.</a:t>
            </a:r>
          </a:p>
          <a:p>
            <a:r>
              <a:rPr lang="en-US" dirty="0"/>
              <a:t>class Student {</a:t>
            </a:r>
            <a:br>
              <a:rPr lang="en-US" dirty="0"/>
            </a:br>
            <a:r>
              <a:rPr lang="en-US" dirty="0"/>
              <a:t>    int age;</a:t>
            </a:r>
            <a:br>
              <a:rPr lang="en-US" dirty="0"/>
            </a:br>
            <a:br>
              <a:rPr lang="en-US" dirty="0"/>
            </a:br>
            <a:r>
              <a:rPr lang="en-US" dirty="0"/>
              <a:t>public:</a:t>
            </a:r>
            <a:br>
              <a:rPr lang="en-US" dirty="0"/>
            </a:br>
            <a:r>
              <a:rPr lang="en-US" dirty="0"/>
              <a:t>    void </a:t>
            </a:r>
            <a:r>
              <a:rPr lang="en-US" dirty="0" err="1"/>
              <a:t>setAge</a:t>
            </a:r>
            <a:r>
              <a:rPr lang="en-US" dirty="0"/>
              <a:t>(int a) {</a:t>
            </a:r>
            <a:br>
              <a:rPr lang="en-US" dirty="0"/>
            </a:br>
            <a:r>
              <a:rPr lang="en-US" dirty="0"/>
              <a:t>        age = a;</a:t>
            </a:r>
            <a:br>
              <a:rPr lang="en-US" dirty="0"/>
            </a:br>
            <a:r>
              <a:rPr lang="en-US" dirty="0"/>
              <a:t>    }</a:t>
            </a:r>
            <a:br>
              <a:rPr lang="en-US" dirty="0"/>
            </a:br>
            <a:r>
              <a:rPr lang="en-US" dirty="0"/>
              <a:t>};</a:t>
            </a:r>
          </a:p>
          <a:p>
            <a:r>
              <a:rPr lang="en-US" dirty="0"/>
              <a:t>Usage:</a:t>
            </a:r>
          </a:p>
          <a:p>
            <a:r>
              <a:rPr lang="en-US" dirty="0"/>
              <a:t>Student s;</a:t>
            </a:r>
            <a:br>
              <a:rPr lang="en-US" dirty="0"/>
            </a:br>
            <a:r>
              <a:rPr lang="en-US" dirty="0" err="1"/>
              <a:t>s.setAge</a:t>
            </a:r>
            <a:r>
              <a:rPr lang="en-US" dirty="0"/>
              <a:t>(20);</a:t>
            </a:r>
          </a:p>
          <a:p>
            <a:r>
              <a:rPr lang="en-US" b="1" dirty="0"/>
              <a:t>Constructor Also Assigns Values</a:t>
            </a:r>
          </a:p>
          <a:p>
            <a:r>
              <a:rPr lang="en-US" dirty="0"/>
              <a:t>class Student {</a:t>
            </a:r>
            <a:br>
              <a:rPr lang="en-US" dirty="0"/>
            </a:br>
            <a:r>
              <a:rPr lang="en-US" dirty="0"/>
              <a:t>    int age;</a:t>
            </a:r>
            <a:br>
              <a:rPr lang="en-US" dirty="0"/>
            </a:br>
            <a:br>
              <a:rPr lang="en-US" dirty="0"/>
            </a:br>
            <a:r>
              <a:rPr lang="en-US" dirty="0"/>
              <a:t>public:</a:t>
            </a:r>
            <a:br>
              <a:rPr lang="en-US" dirty="0"/>
            </a:br>
            <a:r>
              <a:rPr lang="en-US" dirty="0"/>
              <a:t>    Student(int a) {</a:t>
            </a:r>
            <a:br>
              <a:rPr lang="en-US" dirty="0"/>
            </a:br>
            <a:r>
              <a:rPr lang="en-US" dirty="0"/>
              <a:t>        age = a;</a:t>
            </a:r>
            <a:br>
              <a:rPr lang="en-US" dirty="0"/>
            </a:br>
            <a:r>
              <a:rPr lang="en-US" dirty="0"/>
              <a:t>    }</a:t>
            </a:r>
            <a:br>
              <a:rPr lang="en-US" dirty="0"/>
            </a:br>
            <a:r>
              <a:rPr lang="en-US" dirty="0"/>
              <a:t>};</a:t>
            </a:r>
          </a:p>
          <a:p>
            <a:r>
              <a:rPr lang="en-US" dirty="0"/>
              <a:t>Usage:</a:t>
            </a:r>
          </a:p>
          <a:p>
            <a:r>
              <a:rPr lang="en-US" dirty="0"/>
              <a:t>Student s(20);</a:t>
            </a:r>
          </a:p>
          <a:p>
            <a:r>
              <a:rPr lang="en-US" dirty="0"/>
              <a:t>Here constructor initializes the object directly.</a:t>
            </a:r>
          </a:p>
          <a:p>
            <a:endParaRPr lang="en-US" dirty="0"/>
          </a:p>
        </p:txBody>
      </p:sp>
    </p:spTree>
    <p:extLst>
      <p:ext uri="{BB962C8B-B14F-4D97-AF65-F5344CB8AC3E}">
        <p14:creationId xmlns:p14="http://schemas.microsoft.com/office/powerpoint/2010/main" val="177176079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FD88C86-0421-5AD0-4362-5C775D4827D1}"/>
              </a:ext>
            </a:extLst>
          </p:cNvPr>
          <p:cNvSpPr>
            <a:spLocks noGrp="1"/>
          </p:cNvSpPr>
          <p:nvPr>
            <p:ph type="title"/>
          </p:nvPr>
        </p:nvSpPr>
        <p:spPr/>
        <p:txBody>
          <a:bodyPr/>
          <a:lstStyle/>
          <a:p>
            <a:endParaRPr lang="en-US"/>
          </a:p>
        </p:txBody>
      </p:sp>
      <p:sp>
        <p:nvSpPr>
          <p:cNvPr id="5" name="Text Placeholder 4">
            <a:extLst>
              <a:ext uri="{FF2B5EF4-FFF2-40B4-BE49-F238E27FC236}">
                <a16:creationId xmlns:a16="http://schemas.microsoft.com/office/drawing/2014/main" id="{D60118CE-8EDE-F720-B58B-4406FAB5AC8E}"/>
              </a:ext>
            </a:extLst>
          </p:cNvPr>
          <p:cNvSpPr>
            <a:spLocks noGrp="1"/>
          </p:cNvSpPr>
          <p:nvPr>
            <p:ph type="body" idx="1"/>
          </p:nvPr>
        </p:nvSpPr>
        <p:spPr/>
        <p:txBody>
          <a:bodyPr/>
          <a:lstStyle/>
          <a:p>
            <a:r>
              <a:rPr lang="en-US" dirty="0"/>
              <a:t>Constructor</a:t>
            </a:r>
          </a:p>
        </p:txBody>
      </p:sp>
      <p:sp>
        <p:nvSpPr>
          <p:cNvPr id="6" name="Content Placeholder 5">
            <a:extLst>
              <a:ext uri="{FF2B5EF4-FFF2-40B4-BE49-F238E27FC236}">
                <a16:creationId xmlns:a16="http://schemas.microsoft.com/office/drawing/2014/main" id="{C40CA250-AC95-6D9E-17D5-308F2597FE35}"/>
              </a:ext>
            </a:extLst>
          </p:cNvPr>
          <p:cNvSpPr>
            <a:spLocks noGrp="1"/>
          </p:cNvSpPr>
          <p:nvPr>
            <p:ph sz="half" idx="2"/>
          </p:nvPr>
        </p:nvSpPr>
        <p:spPr/>
        <p:txBody>
          <a:bodyPr/>
          <a:lstStyle/>
          <a:p>
            <a:r>
              <a:rPr lang="en-US" dirty="0"/>
              <a:t>Runs automatically</a:t>
            </a:r>
          </a:p>
          <a:p>
            <a:r>
              <a:rPr lang="en-US" dirty="0"/>
              <a:t>Used during object creation</a:t>
            </a:r>
          </a:p>
          <a:p>
            <a:r>
              <a:rPr lang="en-US" dirty="0"/>
              <a:t>Usually for initial values</a:t>
            </a:r>
          </a:p>
          <a:p>
            <a:r>
              <a:rPr lang="en-US" dirty="0"/>
              <a:t>Called once at creation</a:t>
            </a:r>
          </a:p>
        </p:txBody>
      </p:sp>
      <p:sp>
        <p:nvSpPr>
          <p:cNvPr id="7" name="Text Placeholder 6">
            <a:extLst>
              <a:ext uri="{FF2B5EF4-FFF2-40B4-BE49-F238E27FC236}">
                <a16:creationId xmlns:a16="http://schemas.microsoft.com/office/drawing/2014/main" id="{A36384BB-2B11-5B26-96FB-E766F17DE8A0}"/>
              </a:ext>
            </a:extLst>
          </p:cNvPr>
          <p:cNvSpPr>
            <a:spLocks noGrp="1"/>
          </p:cNvSpPr>
          <p:nvPr>
            <p:ph type="body" sz="quarter" idx="3"/>
          </p:nvPr>
        </p:nvSpPr>
        <p:spPr/>
        <p:txBody>
          <a:bodyPr/>
          <a:lstStyle/>
          <a:p>
            <a:r>
              <a:rPr lang="en-US" dirty="0"/>
              <a:t>Setter</a:t>
            </a:r>
          </a:p>
        </p:txBody>
      </p:sp>
      <p:sp>
        <p:nvSpPr>
          <p:cNvPr id="8" name="Content Placeholder 7">
            <a:extLst>
              <a:ext uri="{FF2B5EF4-FFF2-40B4-BE49-F238E27FC236}">
                <a16:creationId xmlns:a16="http://schemas.microsoft.com/office/drawing/2014/main" id="{B9F5E362-9995-84EE-FDE9-6139A2F29D05}"/>
              </a:ext>
            </a:extLst>
          </p:cNvPr>
          <p:cNvSpPr>
            <a:spLocks noGrp="1"/>
          </p:cNvSpPr>
          <p:nvPr>
            <p:ph sz="quarter" idx="4"/>
          </p:nvPr>
        </p:nvSpPr>
        <p:spPr/>
        <p:txBody>
          <a:bodyPr/>
          <a:lstStyle/>
          <a:p>
            <a:r>
              <a:rPr lang="en-US" dirty="0"/>
              <a:t>Called manually</a:t>
            </a:r>
          </a:p>
          <a:p>
            <a:r>
              <a:rPr lang="en-US" dirty="0"/>
              <a:t>Used after object creation</a:t>
            </a:r>
          </a:p>
          <a:p>
            <a:r>
              <a:rPr lang="en-US" dirty="0"/>
              <a:t>Usually for changing values later</a:t>
            </a:r>
          </a:p>
          <a:p>
            <a:r>
              <a:rPr lang="en-US" dirty="0"/>
              <a:t>Can be called many times</a:t>
            </a:r>
          </a:p>
        </p:txBody>
      </p:sp>
    </p:spTree>
    <p:extLst>
      <p:ext uri="{BB962C8B-B14F-4D97-AF65-F5344CB8AC3E}">
        <p14:creationId xmlns:p14="http://schemas.microsoft.com/office/powerpoint/2010/main" val="45136515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EAA5A-003C-6F2A-9B83-C5F1D60EE3D2}"/>
              </a:ext>
            </a:extLst>
          </p:cNvPr>
          <p:cNvSpPr>
            <a:spLocks noGrp="1"/>
          </p:cNvSpPr>
          <p:nvPr>
            <p:ph type="title"/>
          </p:nvPr>
        </p:nvSpPr>
        <p:spPr>
          <a:xfrm>
            <a:off x="1069848" y="484632"/>
            <a:ext cx="10058400" cy="511411"/>
          </a:xfrm>
        </p:spPr>
        <p:txBody>
          <a:bodyPr>
            <a:normAutofit fontScale="90000"/>
          </a:bodyPr>
          <a:lstStyle/>
          <a:p>
            <a:r>
              <a:rPr lang="en-US" dirty="0"/>
              <a:t>Setter v/s constructor</a:t>
            </a:r>
          </a:p>
        </p:txBody>
      </p:sp>
      <p:sp>
        <p:nvSpPr>
          <p:cNvPr id="3" name="Content Placeholder 2">
            <a:extLst>
              <a:ext uri="{FF2B5EF4-FFF2-40B4-BE49-F238E27FC236}">
                <a16:creationId xmlns:a16="http://schemas.microsoft.com/office/drawing/2014/main" id="{1782CAD6-30DD-C0AD-4B49-D36DA8C69F44}"/>
              </a:ext>
            </a:extLst>
          </p:cNvPr>
          <p:cNvSpPr>
            <a:spLocks noGrp="1"/>
          </p:cNvSpPr>
          <p:nvPr>
            <p:ph idx="1"/>
          </p:nvPr>
        </p:nvSpPr>
        <p:spPr>
          <a:xfrm>
            <a:off x="1069848" y="996043"/>
            <a:ext cx="10058400" cy="5861957"/>
          </a:xfrm>
        </p:spPr>
        <p:txBody>
          <a:bodyPr>
            <a:normAutofit fontScale="32500" lnSpcReduction="20000"/>
          </a:bodyPr>
          <a:lstStyle/>
          <a:p>
            <a:r>
              <a:rPr lang="en-US" b="1" dirty="0"/>
              <a:t>Example Comparing Both</a:t>
            </a:r>
          </a:p>
          <a:p>
            <a:r>
              <a:rPr lang="en-US" dirty="0"/>
              <a:t>class Student {</a:t>
            </a:r>
            <a:br>
              <a:rPr lang="en-US" dirty="0"/>
            </a:br>
            <a:r>
              <a:rPr lang="en-US" dirty="0"/>
              <a:t>    int age;</a:t>
            </a:r>
            <a:br>
              <a:rPr lang="en-US" dirty="0"/>
            </a:br>
            <a:br>
              <a:rPr lang="en-US" dirty="0"/>
            </a:br>
            <a:r>
              <a:rPr lang="en-US" dirty="0"/>
              <a:t>public:</a:t>
            </a:r>
            <a:br>
              <a:rPr lang="en-US" dirty="0"/>
            </a:br>
            <a:r>
              <a:rPr lang="en-US" dirty="0"/>
              <a:t>    // constructor</a:t>
            </a:r>
            <a:br>
              <a:rPr lang="en-US" dirty="0"/>
            </a:br>
            <a:r>
              <a:rPr lang="en-US" dirty="0"/>
              <a:t>    Student(int a) {</a:t>
            </a:r>
            <a:br>
              <a:rPr lang="en-US" dirty="0"/>
            </a:br>
            <a:r>
              <a:rPr lang="en-US" dirty="0"/>
              <a:t>        age = a;</a:t>
            </a:r>
            <a:br>
              <a:rPr lang="en-US" dirty="0"/>
            </a:br>
            <a:r>
              <a:rPr lang="en-US" dirty="0"/>
              <a:t>    }</a:t>
            </a:r>
            <a:br>
              <a:rPr lang="en-US" dirty="0"/>
            </a:br>
            <a:br>
              <a:rPr lang="en-US" dirty="0"/>
            </a:br>
            <a:r>
              <a:rPr lang="en-US" dirty="0"/>
              <a:t>    // setter</a:t>
            </a:r>
            <a:br>
              <a:rPr lang="en-US" dirty="0"/>
            </a:br>
            <a:r>
              <a:rPr lang="en-US" dirty="0"/>
              <a:t>    void </a:t>
            </a:r>
            <a:r>
              <a:rPr lang="en-US" dirty="0" err="1"/>
              <a:t>setAge</a:t>
            </a:r>
            <a:r>
              <a:rPr lang="en-US" dirty="0"/>
              <a:t>(int a) {</a:t>
            </a:r>
            <a:br>
              <a:rPr lang="en-US" dirty="0"/>
            </a:br>
            <a:r>
              <a:rPr lang="en-US" dirty="0"/>
              <a:t>        age = a;</a:t>
            </a:r>
            <a:br>
              <a:rPr lang="en-US" dirty="0"/>
            </a:br>
            <a:r>
              <a:rPr lang="en-US" dirty="0"/>
              <a:t>    }</a:t>
            </a:r>
            <a:br>
              <a:rPr lang="en-US" dirty="0"/>
            </a:br>
            <a:br>
              <a:rPr lang="en-US" dirty="0"/>
            </a:br>
            <a:r>
              <a:rPr lang="en-US" dirty="0"/>
              <a:t>    void show() {</a:t>
            </a:r>
            <a:br>
              <a:rPr lang="en-US" dirty="0"/>
            </a:br>
            <a:r>
              <a:rPr lang="en-US" dirty="0"/>
              <a:t>        </a:t>
            </a:r>
            <a:r>
              <a:rPr lang="en-US" dirty="0" err="1"/>
              <a:t>cout</a:t>
            </a:r>
            <a:r>
              <a:rPr lang="en-US" dirty="0"/>
              <a:t> &lt;&lt; age;</a:t>
            </a:r>
            <a:br>
              <a:rPr lang="en-US" dirty="0"/>
            </a:br>
            <a:r>
              <a:rPr lang="en-US" dirty="0"/>
              <a:t>    }</a:t>
            </a:r>
            <a:br>
              <a:rPr lang="en-US" dirty="0"/>
            </a:br>
            <a:r>
              <a:rPr lang="en-US" dirty="0"/>
              <a:t>};</a:t>
            </a:r>
          </a:p>
          <a:p>
            <a:r>
              <a:rPr lang="en-US" dirty="0"/>
              <a:t>Usage:</a:t>
            </a:r>
          </a:p>
          <a:p>
            <a:r>
              <a:rPr lang="en-US" dirty="0"/>
              <a:t>Student s(18);   // constructor initializes</a:t>
            </a:r>
            <a:br>
              <a:rPr lang="en-US" dirty="0"/>
            </a:br>
            <a:br>
              <a:rPr lang="en-US" dirty="0"/>
            </a:br>
            <a:r>
              <a:rPr lang="en-US" dirty="0" err="1"/>
              <a:t>s.setAge</a:t>
            </a:r>
            <a:r>
              <a:rPr lang="en-US" dirty="0"/>
              <a:t>(21);    // setter changes later</a:t>
            </a:r>
          </a:p>
          <a:p>
            <a:r>
              <a:rPr lang="en-US" b="1" dirty="0"/>
              <a:t>Important Concept</a:t>
            </a:r>
          </a:p>
          <a:p>
            <a:r>
              <a:rPr lang="en-US" dirty="0"/>
              <a:t>Constructors are mainly for:</a:t>
            </a:r>
          </a:p>
          <a:p>
            <a:r>
              <a:rPr lang="en-US" dirty="0"/>
              <a:t>object initialization </a:t>
            </a:r>
          </a:p>
          <a:p>
            <a:r>
              <a:rPr lang="en-US" dirty="0"/>
              <a:t>Setters are mainly for:</a:t>
            </a:r>
          </a:p>
          <a:p>
            <a:r>
              <a:rPr lang="en-US" dirty="0"/>
              <a:t>modifying values later</a:t>
            </a:r>
          </a:p>
          <a:p>
            <a:r>
              <a:rPr lang="en-US" b="1" dirty="0"/>
              <a:t>Real-Life Analogy</a:t>
            </a:r>
          </a:p>
          <a:p>
            <a:r>
              <a:rPr lang="en-US" b="1" dirty="0"/>
              <a:t>Constructor</a:t>
            </a:r>
          </a:p>
          <a:p>
            <a:r>
              <a:rPr lang="en-US" dirty="0"/>
              <a:t>Like filling a registration form when entering university.</a:t>
            </a:r>
          </a:p>
          <a:p>
            <a:r>
              <a:rPr lang="en-US" b="1" dirty="0"/>
              <a:t>Setter</a:t>
            </a:r>
          </a:p>
          <a:p>
            <a:r>
              <a:rPr lang="en-US" dirty="0"/>
              <a:t>Like updating your information later.</a:t>
            </a:r>
          </a:p>
          <a:p>
            <a:r>
              <a:rPr lang="en-US" b="1" dirty="0"/>
              <a:t>Special Advantage of Constructors</a:t>
            </a:r>
          </a:p>
          <a:p>
            <a:r>
              <a:rPr lang="en-US" dirty="0"/>
              <a:t>Constructors can initialize:</a:t>
            </a:r>
          </a:p>
          <a:p>
            <a:r>
              <a:rPr lang="en-US" dirty="0"/>
              <a:t>const data members </a:t>
            </a:r>
          </a:p>
          <a:p>
            <a:r>
              <a:rPr lang="en-US" dirty="0"/>
              <a:t>reference members </a:t>
            </a:r>
          </a:p>
          <a:p>
            <a:r>
              <a:rPr lang="en-US" dirty="0"/>
              <a:t>which setters cannot properly initialize later.</a:t>
            </a:r>
          </a:p>
          <a:p>
            <a:endParaRPr lang="en-US" dirty="0"/>
          </a:p>
          <a:p>
            <a:endParaRPr lang="en-US" dirty="0"/>
          </a:p>
        </p:txBody>
      </p:sp>
    </p:spTree>
    <p:extLst>
      <p:ext uri="{BB962C8B-B14F-4D97-AF65-F5344CB8AC3E}">
        <p14:creationId xmlns:p14="http://schemas.microsoft.com/office/powerpoint/2010/main" val="238970958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7E1A632-808A-E41A-8BB1-4B53F670434C}"/>
              </a:ext>
            </a:extLst>
          </p:cNvPr>
          <p:cNvPicPr>
            <a:picLocks noChangeAspect="1"/>
          </p:cNvPicPr>
          <p:nvPr/>
        </p:nvPicPr>
        <p:blipFill>
          <a:blip r:embed="rId2"/>
          <a:stretch>
            <a:fillRect/>
          </a:stretch>
        </p:blipFill>
        <p:spPr>
          <a:xfrm>
            <a:off x="155312" y="0"/>
            <a:ext cx="11881376" cy="6858000"/>
          </a:xfrm>
          <a:prstGeom prst="rect">
            <a:avLst/>
          </a:prstGeom>
        </p:spPr>
      </p:pic>
    </p:spTree>
    <p:extLst>
      <p:ext uri="{BB962C8B-B14F-4D97-AF65-F5344CB8AC3E}">
        <p14:creationId xmlns:p14="http://schemas.microsoft.com/office/powerpoint/2010/main" val="362352312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BCF83-2BF5-8EFE-BF02-16E4FF8430E3}"/>
              </a:ext>
            </a:extLst>
          </p:cNvPr>
          <p:cNvSpPr>
            <a:spLocks noGrp="1"/>
          </p:cNvSpPr>
          <p:nvPr>
            <p:ph type="ctrTitle"/>
          </p:nvPr>
        </p:nvSpPr>
        <p:spPr/>
        <p:txBody>
          <a:bodyPr/>
          <a:lstStyle/>
          <a:p>
            <a:pPr algn="ctr"/>
            <a:r>
              <a:rPr lang="en-US" dirty="0"/>
              <a:t>abstraction</a:t>
            </a:r>
          </a:p>
        </p:txBody>
      </p:sp>
      <p:sp>
        <p:nvSpPr>
          <p:cNvPr id="3" name="Subtitle 2">
            <a:extLst>
              <a:ext uri="{FF2B5EF4-FFF2-40B4-BE49-F238E27FC236}">
                <a16:creationId xmlns:a16="http://schemas.microsoft.com/office/drawing/2014/main" id="{163674DD-ED6B-F557-A29B-06CFDF68B1AE}"/>
              </a:ext>
            </a:extLst>
          </p:cNvPr>
          <p:cNvSpPr>
            <a:spLocks noGrp="1"/>
          </p:cNvSpPr>
          <p:nvPr>
            <p:ph type="subTitle" idx="1"/>
          </p:nvPr>
        </p:nvSpPr>
        <p:spPr/>
        <p:txBody>
          <a:bodyPr/>
          <a:lstStyle/>
          <a:p>
            <a:r>
              <a:rPr lang="en-US" dirty="0"/>
              <a:t>In C++ OOP</a:t>
            </a:r>
          </a:p>
        </p:txBody>
      </p:sp>
    </p:spTree>
    <p:extLst>
      <p:ext uri="{BB962C8B-B14F-4D97-AF65-F5344CB8AC3E}">
        <p14:creationId xmlns:p14="http://schemas.microsoft.com/office/powerpoint/2010/main" val="105712247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E420D-D6FC-5A84-0ED0-FF23360411E6}"/>
              </a:ext>
            </a:extLst>
          </p:cNvPr>
          <p:cNvSpPr>
            <a:spLocks noGrp="1"/>
          </p:cNvSpPr>
          <p:nvPr>
            <p:ph type="title"/>
          </p:nvPr>
        </p:nvSpPr>
        <p:spPr>
          <a:xfrm>
            <a:off x="1069848" y="484632"/>
            <a:ext cx="10058400" cy="486918"/>
          </a:xfrm>
        </p:spPr>
        <p:txBody>
          <a:bodyPr>
            <a:normAutofit fontScale="90000"/>
          </a:bodyPr>
          <a:lstStyle/>
          <a:p>
            <a:pPr algn="ctr"/>
            <a:r>
              <a:rPr lang="en-US" dirty="0"/>
              <a:t>abstraction</a:t>
            </a:r>
          </a:p>
        </p:txBody>
      </p:sp>
      <p:sp>
        <p:nvSpPr>
          <p:cNvPr id="3" name="Content Placeholder 2">
            <a:extLst>
              <a:ext uri="{FF2B5EF4-FFF2-40B4-BE49-F238E27FC236}">
                <a16:creationId xmlns:a16="http://schemas.microsoft.com/office/drawing/2014/main" id="{E68D828F-E4A2-CE80-F693-FBABE8A9A5DE}"/>
              </a:ext>
            </a:extLst>
          </p:cNvPr>
          <p:cNvSpPr>
            <a:spLocks noGrp="1"/>
          </p:cNvSpPr>
          <p:nvPr>
            <p:ph idx="1"/>
          </p:nvPr>
        </p:nvSpPr>
        <p:spPr>
          <a:xfrm>
            <a:off x="1069848" y="971550"/>
            <a:ext cx="10058400" cy="5200650"/>
          </a:xfrm>
        </p:spPr>
        <p:txBody>
          <a:bodyPr>
            <a:normAutofit/>
          </a:bodyPr>
          <a:lstStyle/>
          <a:p>
            <a:r>
              <a:rPr lang="en-US" dirty="0"/>
              <a:t>Showing only important details </a:t>
            </a:r>
          </a:p>
          <a:p>
            <a:r>
              <a:rPr lang="en-US" dirty="0"/>
              <a:t>Hiding implementation complexity from the user</a:t>
            </a:r>
          </a:p>
          <a:p>
            <a:r>
              <a:rPr lang="en-US" dirty="0">
                <a:latin typeface="Times New Roman" panose="02020603050405020304" pitchFamily="18" charset="0"/>
                <a:cs typeface="Times New Roman" panose="02020603050405020304" pitchFamily="18" charset="0"/>
              </a:rPr>
              <a:t>Defining </a:t>
            </a:r>
            <a:r>
              <a:rPr lang="en-US" b="1" dirty="0">
                <a:latin typeface="Times New Roman" panose="02020603050405020304" pitchFamily="18" charset="0"/>
                <a:cs typeface="Times New Roman" panose="02020603050405020304" pitchFamily="18" charset="0"/>
              </a:rPr>
              <a:t>common interfaces</a:t>
            </a:r>
            <a:r>
              <a:rPr lang="en-US" dirty="0">
                <a:latin typeface="Times New Roman" panose="02020603050405020304" pitchFamily="18" charset="0"/>
                <a:cs typeface="Times New Roman" panose="02020603050405020304" pitchFamily="18" charset="0"/>
              </a:rPr>
              <a:t> for different implementations</a:t>
            </a:r>
          </a:p>
          <a:p>
            <a:r>
              <a:rPr lang="en-US" dirty="0">
                <a:latin typeface="Times New Roman" panose="02020603050405020304" pitchFamily="18" charset="0"/>
                <a:cs typeface="Times New Roman" panose="02020603050405020304" pitchFamily="18" charset="0"/>
              </a:rPr>
              <a:t>Focusing on </a:t>
            </a:r>
            <a:r>
              <a:rPr lang="en-US" b="1" dirty="0">
                <a:latin typeface="Times New Roman" panose="02020603050405020304" pitchFamily="18" charset="0"/>
                <a:cs typeface="Times New Roman" panose="02020603050405020304" pitchFamily="18" charset="0"/>
              </a:rPr>
              <a:t>what an object does</a:t>
            </a:r>
            <a:r>
              <a:rPr lang="en-US" dirty="0">
                <a:latin typeface="Times New Roman" panose="02020603050405020304" pitchFamily="18" charset="0"/>
                <a:cs typeface="Times New Roman" panose="02020603050405020304" pitchFamily="18" charset="0"/>
              </a:rPr>
              <a:t>, not how it does it</a:t>
            </a:r>
          </a:p>
          <a:p>
            <a:r>
              <a:rPr lang="en-US" sz="1600" dirty="0">
                <a:latin typeface="Times New Roman" panose="02020603050405020304" pitchFamily="18" charset="0"/>
                <a:cs typeface="Times New Roman" panose="02020603050405020304" pitchFamily="18" charset="0"/>
              </a:rPr>
              <a:t>Achieved in C++ using:</a:t>
            </a:r>
          </a:p>
          <a:p>
            <a:pPr lvl="1"/>
            <a:r>
              <a:rPr lang="en-US" sz="1600" b="1" dirty="0">
                <a:latin typeface="Times New Roman" panose="02020603050405020304" pitchFamily="18" charset="0"/>
                <a:cs typeface="Times New Roman" panose="02020603050405020304" pitchFamily="18" charset="0"/>
              </a:rPr>
              <a:t>Abstract base classes</a:t>
            </a:r>
            <a:endParaRPr lang="en-US" sz="1600" dirty="0">
              <a:latin typeface="Times New Roman" panose="02020603050405020304" pitchFamily="18" charset="0"/>
              <a:cs typeface="Times New Roman" panose="02020603050405020304" pitchFamily="18" charset="0"/>
            </a:endParaRPr>
          </a:p>
          <a:p>
            <a:pPr lvl="1"/>
            <a:r>
              <a:rPr lang="en-US" sz="1600" b="1" dirty="0">
                <a:latin typeface="Times New Roman" panose="02020603050405020304" pitchFamily="18" charset="0"/>
                <a:cs typeface="Times New Roman" panose="02020603050405020304" pitchFamily="18" charset="0"/>
              </a:rPr>
              <a:t>Pure virtual functions</a:t>
            </a:r>
          </a:p>
          <a:p>
            <a:pPr lvl="1"/>
            <a:endParaRPr lang="en-US" sz="1600" b="1" dirty="0">
              <a:latin typeface="Times New Roman" panose="02020603050405020304" pitchFamily="18" charset="0"/>
              <a:cs typeface="Times New Roman" panose="02020603050405020304" pitchFamily="18" charset="0"/>
            </a:endParaRPr>
          </a:p>
          <a:p>
            <a:pPr lvl="1" indent="0">
              <a:buNone/>
            </a:pPr>
            <a:r>
              <a:rPr lang="en-US" sz="1600" dirty="0"/>
              <a:t>Step 1: Abstract Class (What to do)</a:t>
            </a:r>
            <a:endParaRPr lang="en-US" sz="1600" b="1" dirty="0">
              <a:latin typeface="Times New Roman" panose="02020603050405020304" pitchFamily="18" charset="0"/>
              <a:cs typeface="Times New Roman" panose="02020603050405020304" pitchFamily="18" charset="0"/>
            </a:endParaRPr>
          </a:p>
          <a:p>
            <a:pPr lvl="1" indent="0">
              <a:buNone/>
            </a:pPr>
            <a:r>
              <a:rPr lang="en-US" sz="1600" b="1" dirty="0">
                <a:latin typeface="Times New Roman" panose="02020603050405020304" pitchFamily="18" charset="0"/>
                <a:cs typeface="Times New Roman" panose="02020603050405020304" pitchFamily="18" charset="0"/>
              </a:rPr>
              <a:t>class Shape {</a:t>
            </a:r>
          </a:p>
          <a:p>
            <a:pPr lvl="1" indent="0">
              <a:buNone/>
            </a:pPr>
            <a:r>
              <a:rPr lang="en-US" sz="1600" b="1" dirty="0">
                <a:latin typeface="Times New Roman" panose="02020603050405020304" pitchFamily="18" charset="0"/>
                <a:cs typeface="Times New Roman" panose="02020603050405020304" pitchFamily="18" charset="0"/>
              </a:rPr>
              <a:t>public:</a:t>
            </a:r>
          </a:p>
          <a:p>
            <a:pPr lvl="1" indent="0">
              <a:buNone/>
            </a:pPr>
            <a:r>
              <a:rPr lang="en-US" sz="1600" b="1" dirty="0">
                <a:latin typeface="Times New Roman" panose="02020603050405020304" pitchFamily="18" charset="0"/>
                <a:cs typeface="Times New Roman" panose="02020603050405020304" pitchFamily="18" charset="0"/>
              </a:rPr>
              <a:t>    virtual double area() = 0;</a:t>
            </a:r>
          </a:p>
          <a:p>
            <a:pPr lvl="1" indent="0">
              <a:buNone/>
            </a:pPr>
            <a:r>
              <a:rPr lang="en-US" sz="1600" b="1" dirty="0">
                <a:latin typeface="Times New Roman" panose="02020603050405020304" pitchFamily="18" charset="0"/>
                <a:cs typeface="Times New Roman" panose="02020603050405020304" pitchFamily="18" charset="0"/>
              </a:rPr>
              <a:t>};</a:t>
            </a:r>
          </a:p>
          <a:p>
            <a:pPr lvl="1" indent="0">
              <a:buNone/>
            </a:pPr>
            <a:r>
              <a:rPr lang="en-US" sz="1600" dirty="0"/>
              <a:t>✔ Tells </a:t>
            </a:r>
            <a:r>
              <a:rPr lang="en-US" sz="1600" b="1" dirty="0"/>
              <a:t>what every shape must do</a:t>
            </a:r>
            <a:br>
              <a:rPr lang="en-US" sz="1600" dirty="0"/>
            </a:br>
            <a:r>
              <a:rPr lang="en-US" sz="1600" dirty="0"/>
              <a:t>✔ No formula here</a:t>
            </a:r>
          </a:p>
          <a:p>
            <a:pPr lvl="1" indent="0">
              <a:buNone/>
            </a:pPr>
            <a:endParaRPr lang="en-US" sz="800" b="1"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82531129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43675-FA63-1595-4563-9653422BE9B4}"/>
              </a:ext>
            </a:extLst>
          </p:cNvPr>
          <p:cNvSpPr>
            <a:spLocks noGrp="1"/>
          </p:cNvSpPr>
          <p:nvPr>
            <p:ph type="title"/>
          </p:nvPr>
        </p:nvSpPr>
        <p:spPr>
          <a:xfrm>
            <a:off x="1069848" y="484632"/>
            <a:ext cx="10058400" cy="542979"/>
          </a:xfrm>
        </p:spPr>
        <p:txBody>
          <a:bodyPr>
            <a:normAutofit fontScale="90000"/>
          </a:bodyPr>
          <a:lstStyle/>
          <a:p>
            <a:pPr algn="ctr"/>
            <a:r>
              <a:rPr lang="en-US" dirty="0"/>
              <a:t>Abstraction…</a:t>
            </a:r>
          </a:p>
        </p:txBody>
      </p:sp>
      <p:sp>
        <p:nvSpPr>
          <p:cNvPr id="3" name="Content Placeholder 2">
            <a:extLst>
              <a:ext uri="{FF2B5EF4-FFF2-40B4-BE49-F238E27FC236}">
                <a16:creationId xmlns:a16="http://schemas.microsoft.com/office/drawing/2014/main" id="{641BF308-AAA2-0DE7-BDF6-E89C44DB7672}"/>
              </a:ext>
            </a:extLst>
          </p:cNvPr>
          <p:cNvSpPr>
            <a:spLocks noGrp="1"/>
          </p:cNvSpPr>
          <p:nvPr>
            <p:ph idx="1"/>
          </p:nvPr>
        </p:nvSpPr>
        <p:spPr>
          <a:xfrm>
            <a:off x="1069848" y="1027611"/>
            <a:ext cx="10058400" cy="5144589"/>
          </a:xfrm>
        </p:spPr>
        <p:txBody>
          <a:bodyPr>
            <a:normAutofit/>
          </a:bodyPr>
          <a:lstStyle/>
          <a:p>
            <a:pPr lvl="1" indent="0">
              <a:buNone/>
            </a:pPr>
            <a:r>
              <a:rPr lang="en-US" sz="1400" dirty="0"/>
              <a:t>Step 2: Concrete Class (How to do it)</a:t>
            </a:r>
          </a:p>
          <a:p>
            <a:pPr lvl="1" indent="0">
              <a:buNone/>
            </a:pPr>
            <a:r>
              <a:rPr lang="en-US" sz="1400" b="1" dirty="0">
                <a:latin typeface="Times New Roman" panose="02020603050405020304" pitchFamily="18" charset="0"/>
                <a:cs typeface="Times New Roman" panose="02020603050405020304" pitchFamily="18" charset="0"/>
              </a:rPr>
              <a:t>class Rectangle : public Shape {</a:t>
            </a:r>
          </a:p>
          <a:p>
            <a:pPr lvl="1" indent="0">
              <a:buNone/>
            </a:pPr>
            <a:r>
              <a:rPr lang="en-US" sz="1400" b="1" dirty="0">
                <a:latin typeface="Times New Roman" panose="02020603050405020304" pitchFamily="18" charset="0"/>
                <a:cs typeface="Times New Roman" panose="02020603050405020304" pitchFamily="18" charset="0"/>
              </a:rPr>
              <a:t>    double length, width;</a:t>
            </a:r>
          </a:p>
          <a:p>
            <a:pPr lvl="1" indent="0">
              <a:buNone/>
            </a:pPr>
            <a:endParaRPr lang="en-US" sz="1400" b="1" dirty="0">
              <a:latin typeface="Times New Roman" panose="02020603050405020304" pitchFamily="18" charset="0"/>
              <a:cs typeface="Times New Roman" panose="02020603050405020304" pitchFamily="18" charset="0"/>
            </a:endParaRPr>
          </a:p>
          <a:p>
            <a:pPr lvl="1" indent="0">
              <a:buNone/>
            </a:pPr>
            <a:r>
              <a:rPr lang="en-US" sz="1400" b="1" dirty="0">
                <a:latin typeface="Times New Roman" panose="02020603050405020304" pitchFamily="18" charset="0"/>
                <a:cs typeface="Times New Roman" panose="02020603050405020304" pitchFamily="18" charset="0"/>
              </a:rPr>
              <a:t>public:</a:t>
            </a:r>
          </a:p>
          <a:p>
            <a:pPr lvl="1" indent="0">
              <a:buNone/>
            </a:pPr>
            <a:r>
              <a:rPr lang="en-US" sz="1400" b="1" dirty="0">
                <a:latin typeface="Times New Roman" panose="02020603050405020304" pitchFamily="18" charset="0"/>
                <a:cs typeface="Times New Roman" panose="02020603050405020304" pitchFamily="18" charset="0"/>
              </a:rPr>
              <a:t>    Rectangle(double l, double w) {</a:t>
            </a:r>
          </a:p>
          <a:p>
            <a:pPr lvl="1" indent="0">
              <a:buNone/>
            </a:pPr>
            <a:r>
              <a:rPr lang="en-US" sz="1400" b="1" dirty="0">
                <a:latin typeface="Times New Roman" panose="02020603050405020304" pitchFamily="18" charset="0"/>
                <a:cs typeface="Times New Roman" panose="02020603050405020304" pitchFamily="18" charset="0"/>
              </a:rPr>
              <a:t>        length = l;</a:t>
            </a:r>
          </a:p>
          <a:p>
            <a:pPr lvl="1" indent="0">
              <a:buNone/>
            </a:pPr>
            <a:r>
              <a:rPr lang="en-US" sz="1400" b="1" dirty="0">
                <a:latin typeface="Times New Roman" panose="02020603050405020304" pitchFamily="18" charset="0"/>
                <a:cs typeface="Times New Roman" panose="02020603050405020304" pitchFamily="18" charset="0"/>
              </a:rPr>
              <a:t>        width = w;</a:t>
            </a:r>
          </a:p>
          <a:p>
            <a:pPr lvl="1" indent="0">
              <a:buNone/>
            </a:pPr>
            <a:r>
              <a:rPr lang="en-US" sz="1400" b="1" dirty="0">
                <a:latin typeface="Times New Roman" panose="02020603050405020304" pitchFamily="18" charset="0"/>
                <a:cs typeface="Times New Roman" panose="02020603050405020304" pitchFamily="18" charset="0"/>
              </a:rPr>
              <a:t>    }</a:t>
            </a:r>
          </a:p>
          <a:p>
            <a:pPr lvl="1" indent="0">
              <a:buNone/>
            </a:pPr>
            <a:endParaRPr lang="en-US" sz="1400" b="1" dirty="0">
              <a:latin typeface="Times New Roman" panose="02020603050405020304" pitchFamily="18" charset="0"/>
              <a:cs typeface="Times New Roman" panose="02020603050405020304" pitchFamily="18" charset="0"/>
            </a:endParaRPr>
          </a:p>
          <a:p>
            <a:pPr lvl="1" indent="0">
              <a:buNone/>
            </a:pPr>
            <a:r>
              <a:rPr lang="en-US" sz="1400" b="1" dirty="0">
                <a:latin typeface="Times New Roman" panose="02020603050405020304" pitchFamily="18" charset="0"/>
                <a:cs typeface="Times New Roman" panose="02020603050405020304" pitchFamily="18" charset="0"/>
              </a:rPr>
              <a:t>    double area() {</a:t>
            </a:r>
          </a:p>
          <a:p>
            <a:pPr lvl="1" indent="0">
              <a:buNone/>
            </a:pPr>
            <a:r>
              <a:rPr lang="en-US" sz="1400" b="1" dirty="0">
                <a:latin typeface="Times New Roman" panose="02020603050405020304" pitchFamily="18" charset="0"/>
                <a:cs typeface="Times New Roman" panose="02020603050405020304" pitchFamily="18" charset="0"/>
              </a:rPr>
              <a:t>        return length * width;</a:t>
            </a:r>
          </a:p>
          <a:p>
            <a:pPr lvl="1" indent="0">
              <a:buNone/>
            </a:pPr>
            <a:r>
              <a:rPr lang="en-US" sz="1400" b="1" dirty="0">
                <a:latin typeface="Times New Roman" panose="02020603050405020304" pitchFamily="18" charset="0"/>
                <a:cs typeface="Times New Roman" panose="02020603050405020304" pitchFamily="18" charset="0"/>
              </a:rPr>
              <a:t>    }</a:t>
            </a:r>
          </a:p>
          <a:p>
            <a:pPr lvl="1" indent="0">
              <a:buNone/>
            </a:pPr>
            <a:r>
              <a:rPr lang="en-US" sz="1400" b="1" dirty="0">
                <a:latin typeface="Times New Roman" panose="02020603050405020304" pitchFamily="18" charset="0"/>
                <a:cs typeface="Times New Roman" panose="02020603050405020304" pitchFamily="18" charset="0"/>
              </a:rPr>
              <a:t>};</a:t>
            </a:r>
          </a:p>
          <a:p>
            <a:pPr lvl="1" indent="0">
              <a:buNone/>
            </a:pPr>
            <a:r>
              <a:rPr lang="en-US" sz="1400" dirty="0"/>
              <a:t>Using the Abstraction</a:t>
            </a:r>
            <a:endParaRPr lang="en-US" sz="1400" b="1" dirty="0">
              <a:latin typeface="Times New Roman" panose="02020603050405020304" pitchFamily="18" charset="0"/>
              <a:cs typeface="Times New Roman" panose="02020603050405020304" pitchFamily="18" charset="0"/>
            </a:endParaRPr>
          </a:p>
          <a:p>
            <a:pPr lvl="1" indent="0">
              <a:buNone/>
            </a:pPr>
            <a:r>
              <a:rPr lang="en-US" sz="1400" b="1" dirty="0">
                <a:latin typeface="Times New Roman" panose="02020603050405020304" pitchFamily="18" charset="0"/>
                <a:cs typeface="Times New Roman" panose="02020603050405020304" pitchFamily="18" charset="0"/>
              </a:rPr>
              <a:t>Shape* s = new Rectangle(4, 5);</a:t>
            </a:r>
          </a:p>
          <a:p>
            <a:pPr lvl="1" indent="0">
              <a:buNone/>
            </a:pPr>
            <a:r>
              <a:rPr lang="en-US" sz="1400" b="1" dirty="0" err="1">
                <a:latin typeface="Times New Roman" panose="02020603050405020304" pitchFamily="18" charset="0"/>
                <a:cs typeface="Times New Roman" panose="02020603050405020304" pitchFamily="18" charset="0"/>
              </a:rPr>
              <a:t>cout</a:t>
            </a:r>
            <a:r>
              <a:rPr lang="en-US" sz="1400" b="1" dirty="0">
                <a:latin typeface="Times New Roman" panose="02020603050405020304" pitchFamily="18" charset="0"/>
                <a:cs typeface="Times New Roman" panose="02020603050405020304" pitchFamily="18" charset="0"/>
              </a:rPr>
              <a:t> &lt;&lt; s-&gt;area();</a:t>
            </a:r>
          </a:p>
          <a:p>
            <a:pPr lvl="1" indent="0">
              <a:buNone/>
            </a:pPr>
            <a:r>
              <a:rPr lang="en-US" sz="1400" dirty="0"/>
              <a:t>✔ User only knows: </a:t>
            </a:r>
            <a:r>
              <a:rPr lang="en-US" sz="1400" i="1" dirty="0"/>
              <a:t>“Shape has area()”</a:t>
            </a:r>
            <a:br>
              <a:rPr lang="en-US" sz="1400" dirty="0"/>
            </a:br>
            <a:r>
              <a:rPr lang="en-US" sz="1400" dirty="0"/>
              <a:t>✔ User does NOT care how it is calculated</a:t>
            </a:r>
            <a:endParaRPr lang="en-US" sz="1400" b="1"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75709285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6AC14-3687-A4CC-4A32-5C4522256468}"/>
              </a:ext>
            </a:extLst>
          </p:cNvPr>
          <p:cNvSpPr>
            <a:spLocks noGrp="1"/>
          </p:cNvSpPr>
          <p:nvPr>
            <p:ph type="title"/>
          </p:nvPr>
        </p:nvSpPr>
        <p:spPr/>
        <p:txBody>
          <a:bodyPr/>
          <a:lstStyle/>
          <a:p>
            <a:r>
              <a:rPr lang="en-US" dirty="0"/>
              <a:t>…final for exam</a:t>
            </a:r>
          </a:p>
        </p:txBody>
      </p:sp>
      <p:sp>
        <p:nvSpPr>
          <p:cNvPr id="3" name="Content Placeholder 2">
            <a:extLst>
              <a:ext uri="{FF2B5EF4-FFF2-40B4-BE49-F238E27FC236}">
                <a16:creationId xmlns:a16="http://schemas.microsoft.com/office/drawing/2014/main" id="{EA7EE2BD-FBA8-7447-78CE-3442E9A3BAA5}"/>
              </a:ext>
            </a:extLst>
          </p:cNvPr>
          <p:cNvSpPr>
            <a:spLocks noGrp="1"/>
          </p:cNvSpPr>
          <p:nvPr>
            <p:ph idx="1"/>
          </p:nvPr>
        </p:nvSpPr>
        <p:spPr/>
        <p:txBody>
          <a:bodyPr/>
          <a:lstStyle/>
          <a:p>
            <a:r>
              <a:rPr lang="en-US" b="1" dirty="0"/>
              <a:t>Abstraction is the process of hiding internal implementation details and showing only essential features to the user.</a:t>
            </a:r>
            <a:br>
              <a:rPr lang="en-US" dirty="0"/>
            </a:br>
            <a:r>
              <a:rPr lang="en-US" dirty="0"/>
              <a:t>It helps reduce complexity and improves security.</a:t>
            </a:r>
            <a:br>
              <a:rPr lang="en-US" dirty="0"/>
            </a:br>
            <a:r>
              <a:rPr lang="en-US" dirty="0"/>
              <a:t>In C++, it is achieved using </a:t>
            </a:r>
            <a:r>
              <a:rPr lang="en-US" b="1" dirty="0"/>
              <a:t>abstract classes (pure virtual functions)</a:t>
            </a:r>
            <a:r>
              <a:rPr lang="en-US" dirty="0"/>
              <a:t> and </a:t>
            </a:r>
            <a:r>
              <a:rPr lang="en-US" b="1" dirty="0"/>
              <a:t>access specifiers</a:t>
            </a:r>
            <a:r>
              <a:rPr lang="en-US" dirty="0"/>
              <a:t>.</a:t>
            </a:r>
          </a:p>
          <a:p>
            <a:r>
              <a:rPr lang="en-US" dirty="0"/>
              <a:t>Example: Using a </a:t>
            </a:r>
            <a:r>
              <a:rPr lang="en-US" b="1" dirty="0"/>
              <a:t>Shape class with a virtual function draw()</a:t>
            </a:r>
            <a:r>
              <a:rPr lang="en-US" dirty="0"/>
              <a:t>, where derived classes implement it.</a:t>
            </a:r>
          </a:p>
          <a:p>
            <a:r>
              <a:rPr lang="en-US" dirty="0"/>
              <a:t>Abstraction is shown in the base class where the function is declared but its implementation is hidden, and provided later by derived classes.</a:t>
            </a:r>
          </a:p>
        </p:txBody>
      </p:sp>
    </p:spTree>
    <p:extLst>
      <p:ext uri="{BB962C8B-B14F-4D97-AF65-F5344CB8AC3E}">
        <p14:creationId xmlns:p14="http://schemas.microsoft.com/office/powerpoint/2010/main" val="429060440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D4E22-ADF2-8B4A-72AF-C6D9873FD02D}"/>
              </a:ext>
            </a:extLst>
          </p:cNvPr>
          <p:cNvSpPr>
            <a:spLocks noGrp="1"/>
          </p:cNvSpPr>
          <p:nvPr>
            <p:ph type="title"/>
          </p:nvPr>
        </p:nvSpPr>
        <p:spPr>
          <a:xfrm>
            <a:off x="1069848" y="484632"/>
            <a:ext cx="10058400" cy="468188"/>
          </a:xfrm>
        </p:spPr>
        <p:txBody>
          <a:bodyPr>
            <a:normAutofit fontScale="90000"/>
          </a:bodyPr>
          <a:lstStyle/>
          <a:p>
            <a:pPr algn="ctr"/>
            <a:r>
              <a:rPr lang="en-US" dirty="0"/>
              <a:t>Abstract class</a:t>
            </a:r>
          </a:p>
        </p:txBody>
      </p:sp>
      <p:sp>
        <p:nvSpPr>
          <p:cNvPr id="3" name="Content Placeholder 2">
            <a:extLst>
              <a:ext uri="{FF2B5EF4-FFF2-40B4-BE49-F238E27FC236}">
                <a16:creationId xmlns:a16="http://schemas.microsoft.com/office/drawing/2014/main" id="{C727B5E4-672F-6369-7BD5-C7A017C392F8}"/>
              </a:ext>
            </a:extLst>
          </p:cNvPr>
          <p:cNvSpPr>
            <a:spLocks noGrp="1"/>
          </p:cNvSpPr>
          <p:nvPr>
            <p:ph idx="1"/>
          </p:nvPr>
        </p:nvSpPr>
        <p:spPr>
          <a:xfrm>
            <a:off x="1069848" y="952820"/>
            <a:ext cx="10058400" cy="5219380"/>
          </a:xfrm>
        </p:spPr>
        <p:txBody>
          <a:bodyPr>
            <a:normAutofit fontScale="55000" lnSpcReduction="20000"/>
          </a:bodyPr>
          <a:lstStyle/>
          <a:p>
            <a:r>
              <a:rPr lang="en-US" dirty="0"/>
              <a:t>An </a:t>
            </a:r>
            <a:r>
              <a:rPr lang="en-US" b="1" dirty="0"/>
              <a:t>abstract class</a:t>
            </a:r>
            <a:r>
              <a:rPr lang="en-US" dirty="0"/>
              <a:t> is a class that </a:t>
            </a:r>
            <a:r>
              <a:rPr lang="en-US" b="1" dirty="0"/>
              <a:t>cannot be instantiated (no objects can be created)</a:t>
            </a:r>
            <a:r>
              <a:rPr lang="en-US" dirty="0"/>
              <a:t> and at least contains one pure virtual function is used as a </a:t>
            </a:r>
            <a:r>
              <a:rPr lang="en-US" b="1" dirty="0"/>
              <a:t>base class</a:t>
            </a:r>
            <a:r>
              <a:rPr lang="en-US" dirty="0"/>
              <a:t> for other classes.</a:t>
            </a:r>
          </a:p>
          <a:p>
            <a:r>
              <a:rPr lang="en-US" dirty="0"/>
              <a:t>It provides a </a:t>
            </a:r>
            <a:r>
              <a:rPr lang="en-US" b="1" dirty="0"/>
              <a:t>common structure (template)</a:t>
            </a:r>
            <a:r>
              <a:rPr lang="en-US" dirty="0"/>
              <a:t> for derived (child) classes.</a:t>
            </a:r>
          </a:p>
          <a:p>
            <a:pPr lvl="1"/>
            <a:r>
              <a:rPr lang="en-US" dirty="0"/>
              <a:t> it can have :</a:t>
            </a:r>
          </a:p>
          <a:p>
            <a:pPr lvl="1"/>
            <a:r>
              <a:rPr lang="en-US" b="1" dirty="0"/>
              <a:t>Abstract (pure virtual) functions</a:t>
            </a:r>
            <a:r>
              <a:rPr lang="en-US" dirty="0"/>
              <a:t> → no body </a:t>
            </a:r>
          </a:p>
          <a:p>
            <a:pPr lvl="1"/>
            <a:r>
              <a:rPr lang="en-US" b="1" dirty="0"/>
              <a:t>Normal functions</a:t>
            </a:r>
            <a:r>
              <a:rPr lang="en-US" dirty="0"/>
              <a:t> → with implementation </a:t>
            </a:r>
          </a:p>
          <a:p>
            <a:r>
              <a:rPr lang="en-US" dirty="0"/>
              <a:t>Child classes must </a:t>
            </a:r>
            <a:r>
              <a:rPr lang="en-US" b="1" dirty="0"/>
              <a:t>override (implement)</a:t>
            </a:r>
            <a:r>
              <a:rPr lang="en-US" dirty="0"/>
              <a:t> abstract functions </a:t>
            </a:r>
          </a:p>
          <a:p>
            <a:r>
              <a:rPr lang="en-US" dirty="0"/>
              <a:t>IMPORTANCE:</a:t>
            </a:r>
          </a:p>
          <a:p>
            <a:r>
              <a:rPr lang="en-US" dirty="0"/>
              <a:t>Enforces </a:t>
            </a:r>
            <a:r>
              <a:rPr lang="en-US" b="1" dirty="0"/>
              <a:t>rules for child classes</a:t>
            </a:r>
            <a:r>
              <a:rPr lang="en-US" dirty="0"/>
              <a:t> </a:t>
            </a:r>
          </a:p>
          <a:p>
            <a:r>
              <a:rPr lang="en-US" dirty="0"/>
              <a:t>Helps achieve </a:t>
            </a:r>
            <a:r>
              <a:rPr lang="en-US" b="1" dirty="0"/>
              <a:t>abstraction</a:t>
            </a:r>
            <a:r>
              <a:rPr lang="en-US" dirty="0"/>
              <a:t> </a:t>
            </a:r>
          </a:p>
          <a:p>
            <a:r>
              <a:rPr lang="en-US" dirty="0"/>
              <a:t>Improves </a:t>
            </a:r>
            <a:r>
              <a:rPr lang="en-US" b="1" dirty="0"/>
              <a:t>design consistency</a:t>
            </a:r>
            <a:r>
              <a:rPr lang="en-US" dirty="0"/>
              <a:t> </a:t>
            </a:r>
          </a:p>
          <a:p>
            <a:r>
              <a:rPr lang="en-US" dirty="0"/>
              <a:t>class Shape {</a:t>
            </a:r>
          </a:p>
          <a:p>
            <a:r>
              <a:rPr lang="en-US" dirty="0"/>
              <a:t>public:</a:t>
            </a:r>
          </a:p>
          <a:p>
            <a:r>
              <a:rPr lang="en-US" dirty="0"/>
              <a:t>    virtual void draw() = 0; // pure virtual function</a:t>
            </a:r>
          </a:p>
          <a:p>
            <a:r>
              <a:rPr lang="en-US" dirty="0"/>
              <a:t>};</a:t>
            </a:r>
          </a:p>
          <a:p>
            <a:r>
              <a:rPr lang="en-US" dirty="0"/>
              <a:t>👉 = 0 makes it an </a:t>
            </a:r>
            <a:r>
              <a:rPr lang="en-US" b="1" dirty="0"/>
              <a:t>abstract class</a:t>
            </a:r>
          </a:p>
          <a:p>
            <a:r>
              <a:rPr lang="en-US" dirty="0"/>
              <a:t>Cannot create object of abstract class ❌ </a:t>
            </a:r>
          </a:p>
          <a:p>
            <a:r>
              <a:rPr lang="en-US" dirty="0"/>
              <a:t>Must contain </a:t>
            </a:r>
            <a:r>
              <a:rPr lang="en-US" b="1" dirty="0"/>
              <a:t>at least one pure virtual function</a:t>
            </a:r>
            <a:r>
              <a:rPr lang="en-US" dirty="0"/>
              <a:t> </a:t>
            </a:r>
          </a:p>
          <a:p>
            <a:r>
              <a:rPr lang="en-US" dirty="0"/>
              <a:t>Used only as a </a:t>
            </a:r>
            <a:r>
              <a:rPr lang="en-US" b="1" dirty="0"/>
              <a:t>base class</a:t>
            </a:r>
            <a:r>
              <a:rPr lang="en-US" dirty="0"/>
              <a:t> </a:t>
            </a:r>
          </a:p>
          <a:p>
            <a:r>
              <a:rPr lang="en-US" dirty="0"/>
              <a:t>Supports </a:t>
            </a:r>
            <a:r>
              <a:rPr lang="en-US" b="1" dirty="0"/>
              <a:t>runtime polymorphism</a:t>
            </a:r>
            <a:r>
              <a:rPr lang="en-US" dirty="0"/>
              <a:t> </a:t>
            </a:r>
            <a:br>
              <a:rPr lang="en-US" dirty="0"/>
            </a:br>
            <a:endParaRPr lang="en-US" dirty="0"/>
          </a:p>
        </p:txBody>
      </p:sp>
      <p:pic>
        <p:nvPicPr>
          <p:cNvPr id="6" name="Picture 5">
            <a:extLst>
              <a:ext uri="{FF2B5EF4-FFF2-40B4-BE49-F238E27FC236}">
                <a16:creationId xmlns:a16="http://schemas.microsoft.com/office/drawing/2014/main" id="{FC43FD83-E542-AE6C-125C-0150E51E97E6}"/>
              </a:ext>
            </a:extLst>
          </p:cNvPr>
          <p:cNvPicPr>
            <a:picLocks noChangeAspect="1"/>
          </p:cNvPicPr>
          <p:nvPr/>
        </p:nvPicPr>
        <p:blipFill>
          <a:blip r:embed="rId2"/>
          <a:stretch>
            <a:fillRect/>
          </a:stretch>
        </p:blipFill>
        <p:spPr>
          <a:xfrm>
            <a:off x="6300908" y="2201978"/>
            <a:ext cx="4472107" cy="2454043"/>
          </a:xfrm>
          <a:prstGeom prst="rect">
            <a:avLst/>
          </a:prstGeom>
        </p:spPr>
      </p:pic>
    </p:spTree>
    <p:extLst>
      <p:ext uri="{BB962C8B-B14F-4D97-AF65-F5344CB8AC3E}">
        <p14:creationId xmlns:p14="http://schemas.microsoft.com/office/powerpoint/2010/main" val="350910163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17260-2B4F-E454-A318-D632C83A453B}"/>
              </a:ext>
            </a:extLst>
          </p:cNvPr>
          <p:cNvSpPr>
            <a:spLocks noGrp="1"/>
          </p:cNvSpPr>
          <p:nvPr>
            <p:ph type="title"/>
          </p:nvPr>
        </p:nvSpPr>
        <p:spPr>
          <a:xfrm>
            <a:off x="1069848" y="484632"/>
            <a:ext cx="10058400" cy="598817"/>
          </a:xfrm>
        </p:spPr>
        <p:txBody>
          <a:bodyPr>
            <a:normAutofit fontScale="90000"/>
          </a:bodyPr>
          <a:lstStyle/>
          <a:p>
            <a:pPr algn="ctr"/>
            <a:r>
              <a:rPr lang="en-US" dirty="0"/>
              <a:t>Pure virtual function</a:t>
            </a:r>
          </a:p>
        </p:txBody>
      </p:sp>
      <p:sp>
        <p:nvSpPr>
          <p:cNvPr id="3" name="Content Placeholder 2">
            <a:extLst>
              <a:ext uri="{FF2B5EF4-FFF2-40B4-BE49-F238E27FC236}">
                <a16:creationId xmlns:a16="http://schemas.microsoft.com/office/drawing/2014/main" id="{7E9CFC97-5DCC-B986-9066-AA4FF5E22764}"/>
              </a:ext>
            </a:extLst>
          </p:cNvPr>
          <p:cNvSpPr>
            <a:spLocks noGrp="1"/>
          </p:cNvSpPr>
          <p:nvPr>
            <p:ph idx="1"/>
          </p:nvPr>
        </p:nvSpPr>
        <p:spPr>
          <a:xfrm>
            <a:off x="1069848" y="1083449"/>
            <a:ext cx="10058400" cy="5774551"/>
          </a:xfrm>
        </p:spPr>
        <p:txBody>
          <a:bodyPr>
            <a:normAutofit fontScale="62500" lnSpcReduction="20000"/>
          </a:bodyPr>
          <a:lstStyle/>
          <a:p>
            <a:r>
              <a:rPr lang="en-US" dirty="0"/>
              <a:t>A </a:t>
            </a:r>
            <a:r>
              <a:rPr lang="en-US" b="1" dirty="0"/>
              <a:t>pure virtual function</a:t>
            </a:r>
            <a:r>
              <a:rPr lang="en-US" dirty="0"/>
              <a:t> is a function declared in a base class </a:t>
            </a:r>
            <a:r>
              <a:rPr lang="en-US" b="1" dirty="0"/>
              <a:t>without implementation</a:t>
            </a:r>
            <a:r>
              <a:rPr lang="en-US" dirty="0"/>
              <a:t>, forcing child classes to define it.</a:t>
            </a:r>
          </a:p>
          <a:p>
            <a:r>
              <a:rPr lang="en-US" dirty="0"/>
              <a:t>Makes class abstract</a:t>
            </a:r>
          </a:p>
          <a:p>
            <a:r>
              <a:rPr lang="en-US" dirty="0"/>
              <a:t>Forces derived classes to implement the functions</a:t>
            </a:r>
          </a:p>
          <a:p>
            <a:pPr marL="0" indent="0">
              <a:buNone/>
            </a:pPr>
            <a:r>
              <a:rPr lang="en-US" dirty="0"/>
              <a:t>virtual void show() = 0;</a:t>
            </a:r>
          </a:p>
          <a:p>
            <a:r>
              <a:rPr lang="en-US" dirty="0"/>
              <a:t>virtual → supports runtime polymorphism </a:t>
            </a:r>
          </a:p>
          <a:p>
            <a:r>
              <a:rPr lang="en-US" dirty="0"/>
              <a:t>= 0 → means </a:t>
            </a:r>
            <a:r>
              <a:rPr lang="en-US" b="1" dirty="0"/>
              <a:t>no body (pure virtual)</a:t>
            </a:r>
            <a:r>
              <a:rPr lang="en-US" dirty="0"/>
              <a:t> </a:t>
            </a:r>
          </a:p>
          <a:p>
            <a:r>
              <a:rPr lang="en-US" dirty="0"/>
              <a:t>👉 Any class containing this becomes an </a:t>
            </a:r>
            <a:r>
              <a:rPr lang="en-US" b="1" dirty="0"/>
              <a:t>abstract class</a:t>
            </a:r>
            <a:endParaRPr lang="en-US" dirty="0"/>
          </a:p>
          <a:p>
            <a:r>
              <a:rPr lang="en-US" dirty="0"/>
              <a:t>It fits Inside </a:t>
            </a:r>
            <a:r>
              <a:rPr lang="en-US" b="1" dirty="0"/>
              <a:t>base classes</a:t>
            </a:r>
            <a:r>
              <a:rPr lang="en-US" dirty="0"/>
              <a:t> </a:t>
            </a:r>
          </a:p>
          <a:p>
            <a:r>
              <a:rPr lang="en-US" dirty="0"/>
              <a:t>Used in </a:t>
            </a:r>
            <a:r>
              <a:rPr lang="en-US" b="1" dirty="0"/>
              <a:t>inheritance + polymorphism</a:t>
            </a:r>
            <a:r>
              <a:rPr lang="en-US" dirty="0"/>
              <a:t> </a:t>
            </a:r>
          </a:p>
          <a:p>
            <a:r>
              <a:rPr lang="en-US" dirty="0"/>
              <a:t>Importance:</a:t>
            </a:r>
          </a:p>
          <a:p>
            <a:r>
              <a:rPr lang="en-US" dirty="0"/>
              <a:t>Enforces </a:t>
            </a:r>
            <a:r>
              <a:rPr lang="en-US" b="1" dirty="0"/>
              <a:t>uniform structure</a:t>
            </a:r>
            <a:r>
              <a:rPr lang="en-US" dirty="0"/>
              <a:t> </a:t>
            </a:r>
          </a:p>
          <a:p>
            <a:r>
              <a:rPr lang="en-US" dirty="0"/>
              <a:t>Ensures </a:t>
            </a:r>
            <a:r>
              <a:rPr lang="en-US" b="1" dirty="0"/>
              <a:t>every child class implements required behavior</a:t>
            </a:r>
            <a:r>
              <a:rPr lang="en-US" dirty="0"/>
              <a:t> </a:t>
            </a:r>
          </a:p>
          <a:p>
            <a:r>
              <a:rPr lang="en-US" dirty="0"/>
              <a:t>Helps in </a:t>
            </a:r>
            <a:r>
              <a:rPr lang="en-US" b="1" dirty="0"/>
              <a:t>flexible and scalable design</a:t>
            </a:r>
            <a:r>
              <a:rPr lang="en-US" dirty="0"/>
              <a:t> </a:t>
            </a:r>
          </a:p>
          <a:p>
            <a:r>
              <a:rPr lang="en-US" b="1" dirty="0"/>
              <a:t>⚠️ Important Concept </a:t>
            </a:r>
          </a:p>
          <a:p>
            <a:r>
              <a:rPr lang="en-US" dirty="0"/>
              <a:t>If child class </a:t>
            </a:r>
            <a:r>
              <a:rPr lang="en-US" b="1" dirty="0"/>
              <a:t>does NOT implement</a:t>
            </a:r>
            <a:r>
              <a:rPr lang="en-US" dirty="0"/>
              <a:t> pure virtual function:</a:t>
            </a:r>
          </a:p>
          <a:p>
            <a:r>
              <a:rPr lang="en-US" dirty="0"/>
              <a:t>👉 It also becomes </a:t>
            </a:r>
            <a:r>
              <a:rPr lang="en-US" b="1" dirty="0"/>
              <a:t>abstract class</a:t>
            </a:r>
          </a:p>
          <a:p>
            <a:r>
              <a:rPr lang="en-US" b="1" dirty="0"/>
              <a:t>🔥 Quick Memory Trick</a:t>
            </a:r>
          </a:p>
          <a:p>
            <a:r>
              <a:rPr lang="en-US" dirty="0"/>
              <a:t>= 0 → </a:t>
            </a:r>
            <a:r>
              <a:rPr lang="en-US" b="1" dirty="0"/>
              <a:t>“No body → must override”</a:t>
            </a:r>
            <a:r>
              <a:rPr lang="en-US" dirty="0"/>
              <a:t> </a:t>
            </a:r>
          </a:p>
          <a:p>
            <a:r>
              <a:rPr lang="en-US" dirty="0"/>
              <a:t>Pure virtual → </a:t>
            </a:r>
            <a:r>
              <a:rPr lang="en-US" b="1" dirty="0"/>
              <a:t>forces implementation</a:t>
            </a:r>
            <a:r>
              <a:rPr lang="en-US" dirty="0"/>
              <a:t> </a:t>
            </a:r>
          </a:p>
          <a:p>
            <a:r>
              <a:rPr lang="en-US" dirty="0"/>
              <a:t>Abstract class → </a:t>
            </a:r>
            <a:r>
              <a:rPr lang="en-US" b="1" dirty="0"/>
              <a:t>cannot create object</a:t>
            </a:r>
            <a:r>
              <a:rPr lang="en-US" dirty="0"/>
              <a:t> </a:t>
            </a:r>
          </a:p>
          <a:p>
            <a:endParaRPr lang="en-US" dirty="0"/>
          </a:p>
          <a:p>
            <a:pPr marL="0" indent="0">
              <a:buNone/>
            </a:pPr>
            <a:endParaRPr lang="en-US" dirty="0"/>
          </a:p>
          <a:p>
            <a:pPr marL="0" indent="0">
              <a:buNone/>
            </a:pPr>
            <a:endParaRPr lang="en-US" dirty="0"/>
          </a:p>
        </p:txBody>
      </p:sp>
      <p:sp>
        <p:nvSpPr>
          <p:cNvPr id="6" name="Rectangle 3">
            <a:extLst>
              <a:ext uri="{FF2B5EF4-FFF2-40B4-BE49-F238E27FC236}">
                <a16:creationId xmlns:a16="http://schemas.microsoft.com/office/drawing/2014/main" id="{CFA15C7E-0E88-851A-8430-C79F862F62AA}"/>
              </a:ext>
            </a:extLst>
          </p:cNvPr>
          <p:cNvSpPr>
            <a:spLocks noChangeArrowheads="1"/>
          </p:cNvSpPr>
          <p:nvPr/>
        </p:nvSpPr>
        <p:spPr bwMode="auto">
          <a:xfrm>
            <a:off x="3757492" y="1451473"/>
            <a:ext cx="308963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99002671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16BD6-AF48-7F81-36E9-5312745D2B28}"/>
              </a:ext>
            </a:extLst>
          </p:cNvPr>
          <p:cNvSpPr>
            <a:spLocks noGrp="1"/>
          </p:cNvSpPr>
          <p:nvPr>
            <p:ph type="title"/>
          </p:nvPr>
        </p:nvSpPr>
        <p:spPr>
          <a:xfrm>
            <a:off x="1069848" y="484632"/>
            <a:ext cx="10058400" cy="919625"/>
          </a:xfrm>
        </p:spPr>
        <p:txBody>
          <a:bodyPr>
            <a:normAutofit fontScale="90000"/>
          </a:bodyPr>
          <a:lstStyle/>
          <a:p>
            <a:r>
              <a:rPr lang="en-US" dirty="0"/>
              <a:t>Comparison b/w encapsulation and abstraction</a:t>
            </a:r>
          </a:p>
        </p:txBody>
      </p:sp>
      <p:sp>
        <p:nvSpPr>
          <p:cNvPr id="3" name="Text Placeholder 2">
            <a:extLst>
              <a:ext uri="{FF2B5EF4-FFF2-40B4-BE49-F238E27FC236}">
                <a16:creationId xmlns:a16="http://schemas.microsoft.com/office/drawing/2014/main" id="{A723AFBB-B54E-51EA-8ED5-2B277B2925F8}"/>
              </a:ext>
            </a:extLst>
          </p:cNvPr>
          <p:cNvSpPr>
            <a:spLocks noGrp="1"/>
          </p:cNvSpPr>
          <p:nvPr>
            <p:ph type="body" idx="1"/>
          </p:nvPr>
        </p:nvSpPr>
        <p:spPr>
          <a:xfrm>
            <a:off x="1069848" y="1533906"/>
            <a:ext cx="4754880" cy="311223"/>
          </a:xfrm>
        </p:spPr>
        <p:txBody>
          <a:bodyPr>
            <a:normAutofit fontScale="62500" lnSpcReduction="20000"/>
          </a:bodyPr>
          <a:lstStyle/>
          <a:p>
            <a:r>
              <a:rPr lang="en-US" dirty="0"/>
              <a:t>encapsulation</a:t>
            </a:r>
          </a:p>
        </p:txBody>
      </p:sp>
      <p:sp>
        <p:nvSpPr>
          <p:cNvPr id="4" name="Content Placeholder 3">
            <a:extLst>
              <a:ext uri="{FF2B5EF4-FFF2-40B4-BE49-F238E27FC236}">
                <a16:creationId xmlns:a16="http://schemas.microsoft.com/office/drawing/2014/main" id="{9346A04E-B56D-AEC8-BEAF-ED66EFC7842F}"/>
              </a:ext>
            </a:extLst>
          </p:cNvPr>
          <p:cNvSpPr>
            <a:spLocks noGrp="1"/>
          </p:cNvSpPr>
          <p:nvPr>
            <p:ph sz="half" idx="2"/>
          </p:nvPr>
        </p:nvSpPr>
        <p:spPr>
          <a:xfrm>
            <a:off x="1069848" y="1902279"/>
            <a:ext cx="4754880" cy="4132761"/>
          </a:xfrm>
        </p:spPr>
        <p:txBody>
          <a:bodyPr>
            <a:normAutofit lnSpcReduction="10000"/>
          </a:bodyPr>
          <a:lstStyle/>
          <a:p>
            <a:r>
              <a:rPr lang="en-US" b="1" dirty="0"/>
              <a:t>✔ Concept:</a:t>
            </a:r>
          </a:p>
          <a:p>
            <a:r>
              <a:rPr lang="en-US" dirty="0"/>
              <a:t>Wrapping data + methods into a single unit (class) </a:t>
            </a:r>
          </a:p>
          <a:p>
            <a:r>
              <a:rPr lang="en-US" dirty="0"/>
              <a:t>Restricting direct access using access specifiers </a:t>
            </a:r>
          </a:p>
          <a:p>
            <a:r>
              <a:rPr lang="en-US" b="1" dirty="0"/>
              <a:t>✔ If removed:</a:t>
            </a:r>
          </a:p>
          <a:p>
            <a:r>
              <a:rPr lang="en-US" dirty="0"/>
              <a:t>Data becomes public </a:t>
            </a:r>
          </a:p>
          <a:p>
            <a:r>
              <a:rPr lang="en-US" dirty="0"/>
              <a:t>Anyone can modify → </a:t>
            </a:r>
            <a:r>
              <a:rPr lang="en-US" b="1" dirty="0"/>
              <a:t>invalid state</a:t>
            </a:r>
            <a:r>
              <a:rPr lang="en-US" dirty="0"/>
              <a:t> </a:t>
            </a:r>
          </a:p>
          <a:p>
            <a:r>
              <a:rPr lang="en-US" dirty="0"/>
              <a:t>🎯 KEY LINE </a:t>
            </a:r>
          </a:p>
          <a:p>
            <a:r>
              <a:rPr lang="en-US" dirty="0"/>
              <a:t>Encapsulation ensures </a:t>
            </a:r>
            <a:r>
              <a:rPr lang="en-US" b="1" dirty="0"/>
              <a:t>security and controlled access</a:t>
            </a:r>
            <a:r>
              <a:rPr lang="en-US" dirty="0"/>
              <a:t> to data.</a:t>
            </a:r>
          </a:p>
          <a:p>
            <a:endParaRPr lang="en-US" dirty="0"/>
          </a:p>
          <a:p>
            <a:endParaRPr lang="en-US" dirty="0"/>
          </a:p>
        </p:txBody>
      </p:sp>
      <p:sp>
        <p:nvSpPr>
          <p:cNvPr id="5" name="Text Placeholder 4">
            <a:extLst>
              <a:ext uri="{FF2B5EF4-FFF2-40B4-BE49-F238E27FC236}">
                <a16:creationId xmlns:a16="http://schemas.microsoft.com/office/drawing/2014/main" id="{7A5616C1-8A7E-EA61-4529-86C5BDC06DE2}"/>
              </a:ext>
            </a:extLst>
          </p:cNvPr>
          <p:cNvSpPr>
            <a:spLocks noGrp="1"/>
          </p:cNvSpPr>
          <p:nvPr>
            <p:ph type="body" sz="quarter" idx="3"/>
          </p:nvPr>
        </p:nvSpPr>
        <p:spPr>
          <a:xfrm>
            <a:off x="6364224" y="1600199"/>
            <a:ext cx="4754880" cy="244929"/>
          </a:xfrm>
        </p:spPr>
        <p:txBody>
          <a:bodyPr>
            <a:normAutofit fontScale="62500" lnSpcReduction="20000"/>
          </a:bodyPr>
          <a:lstStyle/>
          <a:p>
            <a:r>
              <a:rPr lang="en-US" dirty="0"/>
              <a:t>abstraction</a:t>
            </a:r>
          </a:p>
        </p:txBody>
      </p:sp>
      <p:sp>
        <p:nvSpPr>
          <p:cNvPr id="6" name="Content Placeholder 5">
            <a:extLst>
              <a:ext uri="{FF2B5EF4-FFF2-40B4-BE49-F238E27FC236}">
                <a16:creationId xmlns:a16="http://schemas.microsoft.com/office/drawing/2014/main" id="{BE5BA471-3F2F-6E5A-7E46-F1C428A8ADAC}"/>
              </a:ext>
            </a:extLst>
          </p:cNvPr>
          <p:cNvSpPr>
            <a:spLocks noGrp="1"/>
          </p:cNvSpPr>
          <p:nvPr>
            <p:ph sz="quarter" idx="4"/>
          </p:nvPr>
        </p:nvSpPr>
        <p:spPr>
          <a:xfrm>
            <a:off x="6364224" y="1902279"/>
            <a:ext cx="4754880" cy="3993970"/>
          </a:xfrm>
        </p:spPr>
        <p:txBody>
          <a:bodyPr>
            <a:normAutofit lnSpcReduction="10000"/>
          </a:bodyPr>
          <a:lstStyle/>
          <a:p>
            <a:r>
              <a:rPr lang="en-US" b="1" dirty="0"/>
              <a:t>✔ Concept:</a:t>
            </a:r>
          </a:p>
          <a:p>
            <a:r>
              <a:rPr lang="en-US" dirty="0"/>
              <a:t>Showing only important details </a:t>
            </a:r>
          </a:p>
          <a:p>
            <a:r>
              <a:rPr lang="en-US" dirty="0"/>
              <a:t>Hiding implementation complexity </a:t>
            </a:r>
          </a:p>
          <a:p>
            <a:endParaRPr lang="en-US" dirty="0"/>
          </a:p>
          <a:p>
            <a:endParaRPr lang="en-US" dirty="0"/>
          </a:p>
          <a:p>
            <a:endParaRPr lang="en-US" dirty="0"/>
          </a:p>
          <a:p>
            <a:r>
              <a:rPr lang="en-US" b="1" dirty="0"/>
              <a:t>🎯 KEY LINE</a:t>
            </a:r>
          </a:p>
          <a:p>
            <a:r>
              <a:rPr lang="en-US" dirty="0"/>
              <a:t>Abstraction reduces complexity and improves usability.</a:t>
            </a:r>
          </a:p>
          <a:p>
            <a:endParaRPr lang="en-US" dirty="0"/>
          </a:p>
        </p:txBody>
      </p:sp>
    </p:spTree>
    <p:extLst>
      <p:ext uri="{BB962C8B-B14F-4D97-AF65-F5344CB8AC3E}">
        <p14:creationId xmlns:p14="http://schemas.microsoft.com/office/powerpoint/2010/main" val="12570526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9452E54-A420-7924-A938-C3053283A0A5}"/>
              </a:ext>
            </a:extLst>
          </p:cNvPr>
          <p:cNvSpPr>
            <a:spLocks noGrp="1"/>
          </p:cNvSpPr>
          <p:nvPr>
            <p:ph type="title"/>
          </p:nvPr>
        </p:nvSpPr>
        <p:spPr/>
        <p:txBody>
          <a:bodyPr/>
          <a:lstStyle/>
          <a:p>
            <a:pPr algn="ctr"/>
            <a:r>
              <a:rPr lang="en-US" dirty="0"/>
              <a:t>Mind traps❓…🔥 </a:t>
            </a:r>
          </a:p>
        </p:txBody>
      </p:sp>
      <p:sp>
        <p:nvSpPr>
          <p:cNvPr id="5" name="Content Placeholder 4">
            <a:extLst>
              <a:ext uri="{FF2B5EF4-FFF2-40B4-BE49-F238E27FC236}">
                <a16:creationId xmlns:a16="http://schemas.microsoft.com/office/drawing/2014/main" id="{401E4804-E37A-45CC-AA7C-4A07833A4F28}"/>
              </a:ext>
            </a:extLst>
          </p:cNvPr>
          <p:cNvSpPr>
            <a:spLocks noGrp="1"/>
          </p:cNvSpPr>
          <p:nvPr>
            <p:ph idx="1"/>
          </p:nvPr>
        </p:nvSpPr>
        <p:spPr/>
        <p:txBody>
          <a:bodyPr/>
          <a:lstStyle/>
          <a:p>
            <a:r>
              <a:rPr lang="en-US" b="1" dirty="0"/>
              <a:t>Q1:</a:t>
            </a:r>
            <a:r>
              <a:rPr lang="en-US" dirty="0"/>
              <a:t>If encapsulation already hides data, why do we still need abstraction?</a:t>
            </a:r>
          </a:p>
          <a:p>
            <a:r>
              <a:rPr lang="en-US" b="1" dirty="0"/>
              <a:t>Q2:</a:t>
            </a:r>
            <a:r>
              <a:rPr lang="en-US" dirty="0"/>
              <a:t>Is encapsulation only about “wrapping” or something more?</a:t>
            </a:r>
          </a:p>
          <a:p>
            <a:r>
              <a:rPr lang="en-US" b="1" dirty="0"/>
              <a:t>Q3:</a:t>
            </a:r>
            <a:r>
              <a:rPr lang="en-US" dirty="0"/>
              <a:t>What will happen if we remove encapsulation?</a:t>
            </a:r>
          </a:p>
          <a:p>
            <a:r>
              <a:rPr lang="en-US" b="1" dirty="0"/>
              <a:t>Q4:</a:t>
            </a:r>
            <a:r>
              <a:rPr lang="en-US" dirty="0"/>
              <a:t>If user doesn’t see implementation, how does program still work?</a:t>
            </a:r>
          </a:p>
          <a:p>
            <a:r>
              <a:rPr lang="en-US" b="1" dirty="0"/>
              <a:t>Q5:</a:t>
            </a:r>
            <a:r>
              <a:rPr lang="en-US" dirty="0"/>
              <a:t>Is abstraction possible without encapsulation?</a:t>
            </a:r>
          </a:p>
          <a:p>
            <a:r>
              <a:rPr lang="en-US" b="1" dirty="0"/>
              <a:t>Q6:</a:t>
            </a:r>
            <a:r>
              <a:rPr lang="en-US" dirty="0"/>
              <a:t>Give real-life example of abstraction</a:t>
            </a:r>
          </a:p>
          <a:p>
            <a:endParaRPr lang="en-US" b="1" dirty="0"/>
          </a:p>
          <a:p>
            <a:endParaRPr lang="en-US" dirty="0"/>
          </a:p>
          <a:p>
            <a:endParaRPr lang="en-US" b="1" dirty="0"/>
          </a:p>
          <a:p>
            <a:endParaRPr lang="en-US" dirty="0"/>
          </a:p>
          <a:p>
            <a:endParaRPr lang="en-US" b="1" dirty="0"/>
          </a:p>
          <a:p>
            <a:endParaRPr lang="en-US" dirty="0"/>
          </a:p>
          <a:p>
            <a:endParaRPr lang="en-US" b="1" dirty="0"/>
          </a:p>
          <a:p>
            <a:endParaRPr lang="en-US" b="1" dirty="0"/>
          </a:p>
          <a:p>
            <a:endParaRPr lang="en-US" b="1" dirty="0"/>
          </a:p>
          <a:p>
            <a:endParaRPr lang="en-US" dirty="0"/>
          </a:p>
        </p:txBody>
      </p:sp>
    </p:spTree>
    <p:extLst>
      <p:ext uri="{BB962C8B-B14F-4D97-AF65-F5344CB8AC3E}">
        <p14:creationId xmlns:p14="http://schemas.microsoft.com/office/powerpoint/2010/main" val="5619518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F6599-7E11-43B9-0681-5F66F4B48068}"/>
              </a:ext>
            </a:extLst>
          </p:cNvPr>
          <p:cNvSpPr>
            <a:spLocks noGrp="1"/>
          </p:cNvSpPr>
          <p:nvPr>
            <p:ph type="title"/>
          </p:nvPr>
        </p:nvSpPr>
        <p:spPr>
          <a:xfrm>
            <a:off x="1069848" y="122465"/>
            <a:ext cx="10058400" cy="646332"/>
          </a:xfrm>
        </p:spPr>
        <p:txBody>
          <a:bodyPr>
            <a:normAutofit fontScale="90000"/>
          </a:bodyPr>
          <a:lstStyle/>
          <a:p>
            <a:pPr algn="ctr"/>
            <a:r>
              <a:rPr lang="en-US" dirty="0"/>
              <a:t>Answers…</a:t>
            </a:r>
          </a:p>
        </p:txBody>
      </p:sp>
      <p:sp>
        <p:nvSpPr>
          <p:cNvPr id="6" name="Rectangle 3">
            <a:extLst>
              <a:ext uri="{FF2B5EF4-FFF2-40B4-BE49-F238E27FC236}">
                <a16:creationId xmlns:a16="http://schemas.microsoft.com/office/drawing/2014/main" id="{EE114AB9-9E61-CF03-8AED-C0D46071262B}"/>
              </a:ext>
            </a:extLst>
          </p:cNvPr>
          <p:cNvSpPr>
            <a:spLocks noChangeArrowheads="1"/>
          </p:cNvSpPr>
          <p:nvPr/>
        </p:nvSpPr>
        <p:spPr bwMode="auto">
          <a:xfrm>
            <a:off x="0" y="-184667"/>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
        <p:nvSpPr>
          <p:cNvPr id="8" name="Content Placeholder 7">
            <a:extLst>
              <a:ext uri="{FF2B5EF4-FFF2-40B4-BE49-F238E27FC236}">
                <a16:creationId xmlns:a16="http://schemas.microsoft.com/office/drawing/2014/main" id="{BAF47692-3B71-F276-CDBA-E30FA0D63449}"/>
              </a:ext>
            </a:extLst>
          </p:cNvPr>
          <p:cNvSpPr>
            <a:spLocks noGrp="1"/>
          </p:cNvSpPr>
          <p:nvPr>
            <p:ph idx="1"/>
          </p:nvPr>
        </p:nvSpPr>
        <p:spPr>
          <a:xfrm>
            <a:off x="973462" y="700822"/>
            <a:ext cx="10058400" cy="5920414"/>
          </a:xfrm>
        </p:spPr>
        <p:txBody>
          <a:bodyPr>
            <a:normAutofit/>
          </a:bodyPr>
          <a:lstStyle/>
          <a:p>
            <a:r>
              <a:rPr lang="en-US" b="1" dirty="0"/>
              <a:t>A1:</a:t>
            </a:r>
          </a:p>
          <a:p>
            <a:r>
              <a:rPr lang="en-US" b="1" dirty="0"/>
              <a:t>A2:</a:t>
            </a:r>
            <a:r>
              <a:rPr lang="en-US" dirty="0"/>
              <a:t>Encapsulation is not just wrapping </a:t>
            </a:r>
          </a:p>
          <a:p>
            <a:r>
              <a:rPr lang="en-US" dirty="0"/>
              <a:t>It also provides </a:t>
            </a:r>
            <a:r>
              <a:rPr lang="en-US" b="1" dirty="0"/>
              <a:t>data hiding and access control</a:t>
            </a:r>
            <a:r>
              <a:rPr lang="en-US" dirty="0"/>
              <a:t> </a:t>
            </a:r>
          </a:p>
          <a:p>
            <a:r>
              <a:rPr lang="en-US" dirty="0"/>
              <a:t>👉 Example:</a:t>
            </a:r>
          </a:p>
          <a:p>
            <a:r>
              <a:rPr lang="en-US" dirty="0"/>
              <a:t>Private variables cannot be accessed directly</a:t>
            </a:r>
            <a:endParaRPr lang="en-US" b="1" dirty="0"/>
          </a:p>
          <a:p>
            <a:r>
              <a:rPr lang="en-US" b="1" dirty="0"/>
              <a:t>A3:</a:t>
            </a:r>
            <a:r>
              <a:rPr lang="en-US" dirty="0"/>
              <a:t>Data becomes public </a:t>
            </a:r>
          </a:p>
          <a:p>
            <a:r>
              <a:rPr lang="en-US" dirty="0"/>
              <a:t>Anyone can modify → </a:t>
            </a:r>
            <a:r>
              <a:rPr lang="en-US" b="1" dirty="0"/>
              <a:t>invalid state</a:t>
            </a:r>
            <a:r>
              <a:rPr lang="en-US" dirty="0"/>
              <a:t> </a:t>
            </a:r>
            <a:endParaRPr lang="en-US" b="1" dirty="0"/>
          </a:p>
          <a:p>
            <a:r>
              <a:rPr lang="en-US" b="1" dirty="0"/>
              <a:t>A4:</a:t>
            </a:r>
            <a:r>
              <a:rPr lang="en-US" dirty="0"/>
              <a:t>user interacts with interface </a:t>
            </a:r>
          </a:p>
          <a:p>
            <a:r>
              <a:rPr lang="en-US" dirty="0"/>
              <a:t>Internal working is hidden but still executed</a:t>
            </a:r>
          </a:p>
          <a:p>
            <a:r>
              <a:rPr lang="en-US" dirty="0"/>
              <a:t>👉 Example:</a:t>
            </a:r>
          </a:p>
          <a:p>
            <a:r>
              <a:rPr lang="en-US" dirty="0"/>
              <a:t>ATM → you don’t know internal code</a:t>
            </a:r>
          </a:p>
          <a:p>
            <a:r>
              <a:rPr lang="en-US" b="1" dirty="0"/>
              <a:t>A5:</a:t>
            </a:r>
            <a:r>
              <a:rPr lang="en-US" dirty="0"/>
              <a:t>❌ No abstraction isn’t possible without encapsulation</a:t>
            </a:r>
          </a:p>
          <a:p>
            <a:r>
              <a:rPr lang="en-US" dirty="0"/>
              <a:t>Because hiding requires control → given by encapsulation </a:t>
            </a:r>
            <a:endParaRPr lang="en-US" b="1" dirty="0"/>
          </a:p>
          <a:p>
            <a:r>
              <a:rPr lang="en-US" b="1" dirty="0"/>
              <a:t>A6:</a:t>
            </a:r>
          </a:p>
          <a:p>
            <a:endParaRPr lang="en-US" dirty="0"/>
          </a:p>
        </p:txBody>
      </p:sp>
      <p:sp>
        <p:nvSpPr>
          <p:cNvPr id="9" name="Content Placeholder 2">
            <a:extLst>
              <a:ext uri="{FF2B5EF4-FFF2-40B4-BE49-F238E27FC236}">
                <a16:creationId xmlns:a16="http://schemas.microsoft.com/office/drawing/2014/main" id="{3F4057A8-8299-94BB-F12F-3D94C162DBF8}"/>
              </a:ext>
            </a:extLst>
          </p:cNvPr>
          <p:cNvSpPr txBox="1">
            <a:spLocks/>
          </p:cNvSpPr>
          <p:nvPr/>
        </p:nvSpPr>
        <p:spPr>
          <a:xfrm>
            <a:off x="1069848" y="2121408"/>
            <a:ext cx="10058400" cy="4050792"/>
          </a:xfrm>
          <a:prstGeom prst="rect">
            <a:avLst/>
          </a:prstGeom>
        </p:spPr>
        <p:txBody>
          <a:bodyPr vert="horz" lIns="91440" tIns="45720" rIns="91440" bIns="45720" rtlCol="0">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endParaRPr lang="en-US" b="1" dirty="0"/>
          </a:p>
        </p:txBody>
      </p:sp>
      <p:sp>
        <p:nvSpPr>
          <p:cNvPr id="10" name="Rectangle 4">
            <a:extLst>
              <a:ext uri="{FF2B5EF4-FFF2-40B4-BE49-F238E27FC236}">
                <a16:creationId xmlns:a16="http://schemas.microsoft.com/office/drawing/2014/main" id="{EE3537F9-D164-4793-246F-452640DA85FC}"/>
              </a:ext>
            </a:extLst>
          </p:cNvPr>
          <p:cNvSpPr>
            <a:spLocks noChangeArrowheads="1"/>
          </p:cNvSpPr>
          <p:nvPr/>
        </p:nvSpPr>
        <p:spPr bwMode="auto">
          <a:xfrm flipH="1" flipV="1">
            <a:off x="0" y="196285"/>
            <a:ext cx="1524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
        <p:nvSpPr>
          <p:cNvPr id="11" name="Rectangle 5">
            <a:extLst>
              <a:ext uri="{FF2B5EF4-FFF2-40B4-BE49-F238E27FC236}">
                <a16:creationId xmlns:a16="http://schemas.microsoft.com/office/drawing/2014/main" id="{BD73AAE0-67CE-D456-8A0F-BD44C8750528}"/>
              </a:ext>
            </a:extLst>
          </p:cNvPr>
          <p:cNvSpPr>
            <a:spLocks noChangeArrowheads="1"/>
          </p:cNvSpPr>
          <p:nvPr/>
        </p:nvSpPr>
        <p:spPr bwMode="auto">
          <a:xfrm>
            <a:off x="0" y="-184667"/>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52259086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9C392-C2C0-9B0E-2302-6EE720C0F3C0}"/>
              </a:ext>
            </a:extLst>
          </p:cNvPr>
          <p:cNvSpPr>
            <a:spLocks noGrp="1"/>
          </p:cNvSpPr>
          <p:nvPr>
            <p:ph type="ctrTitle"/>
          </p:nvPr>
        </p:nvSpPr>
        <p:spPr/>
        <p:txBody>
          <a:bodyPr/>
          <a:lstStyle/>
          <a:p>
            <a:pPr algn="ctr"/>
            <a:r>
              <a:rPr lang="en-US" dirty="0"/>
              <a:t>inheritance</a:t>
            </a:r>
          </a:p>
        </p:txBody>
      </p:sp>
      <p:sp>
        <p:nvSpPr>
          <p:cNvPr id="3" name="Subtitle 2">
            <a:extLst>
              <a:ext uri="{FF2B5EF4-FFF2-40B4-BE49-F238E27FC236}">
                <a16:creationId xmlns:a16="http://schemas.microsoft.com/office/drawing/2014/main" id="{62F306FC-13D1-FEB8-96A2-F14FBEF26E8F}"/>
              </a:ext>
            </a:extLst>
          </p:cNvPr>
          <p:cNvSpPr>
            <a:spLocks noGrp="1"/>
          </p:cNvSpPr>
          <p:nvPr>
            <p:ph type="subTitle" idx="1"/>
          </p:nvPr>
        </p:nvSpPr>
        <p:spPr/>
        <p:txBody>
          <a:bodyPr/>
          <a:lstStyle/>
          <a:p>
            <a:r>
              <a:rPr lang="en-US" dirty="0"/>
              <a:t>In C++ OOP</a:t>
            </a:r>
          </a:p>
        </p:txBody>
      </p:sp>
    </p:spTree>
    <p:extLst>
      <p:ext uri="{BB962C8B-B14F-4D97-AF65-F5344CB8AC3E}">
        <p14:creationId xmlns:p14="http://schemas.microsoft.com/office/powerpoint/2010/main" val="234673400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E07D7-D1B7-52D7-1686-96058AFDEC99}"/>
              </a:ext>
            </a:extLst>
          </p:cNvPr>
          <p:cNvSpPr>
            <a:spLocks noGrp="1"/>
          </p:cNvSpPr>
          <p:nvPr>
            <p:ph type="title"/>
          </p:nvPr>
        </p:nvSpPr>
        <p:spPr>
          <a:xfrm>
            <a:off x="1069848" y="484632"/>
            <a:ext cx="10058400" cy="498924"/>
          </a:xfrm>
        </p:spPr>
        <p:txBody>
          <a:bodyPr>
            <a:normAutofit fontScale="90000"/>
          </a:bodyPr>
          <a:lstStyle/>
          <a:p>
            <a:pPr algn="ctr"/>
            <a:r>
              <a:rPr lang="en-US" dirty="0"/>
              <a:t>inheritance</a:t>
            </a:r>
          </a:p>
        </p:txBody>
      </p:sp>
      <p:sp>
        <p:nvSpPr>
          <p:cNvPr id="3" name="Content Placeholder 2">
            <a:extLst>
              <a:ext uri="{FF2B5EF4-FFF2-40B4-BE49-F238E27FC236}">
                <a16:creationId xmlns:a16="http://schemas.microsoft.com/office/drawing/2014/main" id="{20E69C23-2935-DF06-686A-1AD77774DAAE}"/>
              </a:ext>
            </a:extLst>
          </p:cNvPr>
          <p:cNvSpPr>
            <a:spLocks noGrp="1"/>
          </p:cNvSpPr>
          <p:nvPr>
            <p:ph idx="1"/>
          </p:nvPr>
        </p:nvSpPr>
        <p:spPr>
          <a:xfrm>
            <a:off x="1069848" y="983556"/>
            <a:ext cx="10058400" cy="5188644"/>
          </a:xfrm>
        </p:spPr>
        <p:txBody>
          <a:bodyPr>
            <a:normAutofit fontScale="55000" lnSpcReduction="20000"/>
          </a:bodyPr>
          <a:lstStyle/>
          <a:p>
            <a:r>
              <a:rPr lang="en-US" b="1" dirty="0"/>
              <a:t>Inheritance</a:t>
            </a:r>
            <a:r>
              <a:rPr lang="en-US" dirty="0"/>
              <a:t> means:</a:t>
            </a:r>
          </a:p>
          <a:p>
            <a:pPr lvl="1"/>
            <a:r>
              <a:rPr lang="en-US" dirty="0"/>
              <a:t>One class </a:t>
            </a:r>
            <a:r>
              <a:rPr lang="en-US" b="1" dirty="0"/>
              <a:t>reuses</a:t>
            </a:r>
            <a:r>
              <a:rPr lang="en-US" dirty="0"/>
              <a:t> data and functions of another class</a:t>
            </a:r>
          </a:p>
          <a:p>
            <a:pPr lvl="1"/>
            <a:r>
              <a:rPr lang="en-US" dirty="0"/>
              <a:t>Helps avoid </a:t>
            </a:r>
            <a:r>
              <a:rPr lang="en-US" b="1" dirty="0"/>
              <a:t>code duplication</a:t>
            </a:r>
            <a:endParaRPr lang="en-US" dirty="0"/>
          </a:p>
          <a:p>
            <a:pPr lvl="1"/>
            <a:r>
              <a:rPr lang="en-US" dirty="0"/>
              <a:t>Represents an </a:t>
            </a:r>
            <a:r>
              <a:rPr lang="en-US" b="1" dirty="0"/>
              <a:t>is-a relationship</a:t>
            </a:r>
          </a:p>
          <a:p>
            <a:r>
              <a:rPr lang="en-US" b="1" dirty="0"/>
              <a:t>Simple Real-World Idea</a:t>
            </a:r>
          </a:p>
          <a:p>
            <a:pPr lvl="1"/>
            <a:r>
              <a:rPr lang="en-US" dirty="0"/>
              <a:t>A </a:t>
            </a:r>
            <a:r>
              <a:rPr lang="en-US" b="1" dirty="0"/>
              <a:t>Student is a Person</a:t>
            </a:r>
          </a:p>
          <a:p>
            <a:pPr lvl="1"/>
            <a:r>
              <a:rPr lang="en-US" dirty="0"/>
              <a:t>A </a:t>
            </a:r>
            <a:r>
              <a:rPr lang="en-US" b="1" dirty="0"/>
              <a:t>Car is a Vehicle</a:t>
            </a:r>
          </a:p>
          <a:p>
            <a:pPr lvl="1" indent="0">
              <a:buNone/>
            </a:pPr>
            <a:r>
              <a:rPr lang="en-US" b="1" dirty="0"/>
              <a:t>Base Class (Parent)</a:t>
            </a:r>
          </a:p>
          <a:p>
            <a:pPr lvl="1" indent="0">
              <a:buNone/>
            </a:pPr>
            <a:r>
              <a:rPr lang="en-US" dirty="0"/>
              <a:t>class Person {</a:t>
            </a:r>
          </a:p>
          <a:p>
            <a:pPr lvl="1" indent="0">
              <a:buNone/>
            </a:pPr>
            <a:r>
              <a:rPr lang="en-US" dirty="0"/>
              <a:t>public:</a:t>
            </a:r>
          </a:p>
          <a:p>
            <a:pPr lvl="1" indent="0">
              <a:buNone/>
            </a:pPr>
            <a:r>
              <a:rPr lang="en-US" dirty="0"/>
              <a:t>    void speak() {</a:t>
            </a:r>
          </a:p>
          <a:p>
            <a:pPr lvl="1" indent="0">
              <a:buNone/>
            </a:pPr>
            <a:r>
              <a:rPr lang="en-US" dirty="0"/>
              <a:t>        </a:t>
            </a:r>
            <a:r>
              <a:rPr lang="en-US" dirty="0" err="1"/>
              <a:t>cout</a:t>
            </a:r>
            <a:r>
              <a:rPr lang="en-US" dirty="0"/>
              <a:t> &lt;&lt; "I can speak" &lt;&lt; </a:t>
            </a:r>
            <a:r>
              <a:rPr lang="en-US" dirty="0" err="1"/>
              <a:t>endl</a:t>
            </a:r>
            <a:r>
              <a:rPr lang="en-US" dirty="0"/>
              <a:t>;</a:t>
            </a:r>
          </a:p>
          <a:p>
            <a:pPr lvl="1" indent="0">
              <a:buNone/>
            </a:pPr>
            <a:r>
              <a:rPr lang="en-US" dirty="0"/>
              <a:t>    }</a:t>
            </a:r>
          </a:p>
          <a:p>
            <a:pPr lvl="1" indent="0">
              <a:buNone/>
            </a:pPr>
            <a:r>
              <a:rPr lang="en-US" dirty="0"/>
              <a:t>};</a:t>
            </a:r>
          </a:p>
          <a:p>
            <a:pPr lvl="1" indent="0">
              <a:buNone/>
            </a:pPr>
            <a:r>
              <a:rPr lang="en-US" b="1" dirty="0"/>
              <a:t>Derived Class (Child)</a:t>
            </a:r>
          </a:p>
          <a:p>
            <a:pPr lvl="1" indent="0">
              <a:buNone/>
            </a:pPr>
            <a:r>
              <a:rPr lang="en-US" dirty="0"/>
              <a:t>class Student : public Person {</a:t>
            </a:r>
          </a:p>
          <a:p>
            <a:pPr lvl="1" indent="0">
              <a:buNone/>
            </a:pPr>
            <a:r>
              <a:rPr lang="en-US" dirty="0"/>
              <a:t>public:</a:t>
            </a:r>
          </a:p>
          <a:p>
            <a:pPr lvl="1" indent="0">
              <a:buNone/>
            </a:pPr>
            <a:r>
              <a:rPr lang="en-US" dirty="0"/>
              <a:t>    void study() {</a:t>
            </a:r>
          </a:p>
          <a:p>
            <a:pPr lvl="1" indent="0">
              <a:buNone/>
            </a:pPr>
            <a:r>
              <a:rPr lang="en-US" dirty="0"/>
              <a:t>        </a:t>
            </a:r>
            <a:r>
              <a:rPr lang="en-US" dirty="0" err="1"/>
              <a:t>cout</a:t>
            </a:r>
            <a:r>
              <a:rPr lang="en-US" dirty="0"/>
              <a:t> &lt;&lt; "I can study" &lt;&lt; </a:t>
            </a:r>
            <a:r>
              <a:rPr lang="en-US" dirty="0" err="1"/>
              <a:t>endl</a:t>
            </a:r>
            <a:r>
              <a:rPr lang="en-US" dirty="0"/>
              <a:t>;</a:t>
            </a:r>
          </a:p>
          <a:p>
            <a:pPr lvl="1" indent="0">
              <a:buNone/>
            </a:pPr>
            <a:r>
              <a:rPr lang="en-US" dirty="0"/>
              <a:t>    }</a:t>
            </a:r>
          </a:p>
          <a:p>
            <a:pPr lvl="1" indent="0">
              <a:buNone/>
            </a:pPr>
            <a:r>
              <a:rPr lang="en-US" dirty="0"/>
              <a:t>};</a:t>
            </a:r>
          </a:p>
          <a:p>
            <a:pPr lvl="1" indent="0">
              <a:buNone/>
            </a:pPr>
            <a:r>
              <a:rPr lang="en-US" b="1" dirty="0"/>
              <a:t>Using Inheritance</a:t>
            </a:r>
          </a:p>
          <a:p>
            <a:pPr lvl="1" indent="0">
              <a:buNone/>
            </a:pPr>
            <a:r>
              <a:rPr lang="en-US" b="1" dirty="0"/>
              <a:t>Student s;</a:t>
            </a:r>
          </a:p>
          <a:p>
            <a:pPr lvl="1" indent="0">
              <a:buNone/>
            </a:pPr>
            <a:r>
              <a:rPr lang="en-US" b="1" dirty="0" err="1"/>
              <a:t>s.speak</a:t>
            </a:r>
            <a:r>
              <a:rPr lang="en-US" b="1" dirty="0"/>
              <a:t>();   // inherited from Person</a:t>
            </a:r>
          </a:p>
          <a:p>
            <a:pPr lvl="1" indent="0">
              <a:buNone/>
            </a:pPr>
            <a:r>
              <a:rPr lang="en-US" b="1" dirty="0" err="1"/>
              <a:t>s.study</a:t>
            </a:r>
            <a:r>
              <a:rPr lang="en-US" b="1" dirty="0"/>
              <a:t>();   // Student’s own function</a:t>
            </a:r>
          </a:p>
          <a:p>
            <a:pPr lvl="1" indent="0">
              <a:buNone/>
            </a:pPr>
            <a:endParaRPr lang="en-US" b="1" dirty="0"/>
          </a:p>
          <a:p>
            <a:pPr lvl="1" indent="0">
              <a:buNone/>
            </a:pPr>
            <a:r>
              <a:rPr lang="en-US" dirty="0"/>
              <a:t>✔ Student automatically gets speak()</a:t>
            </a:r>
            <a:br>
              <a:rPr lang="en-US" dirty="0"/>
            </a:br>
            <a:r>
              <a:rPr lang="en-US" dirty="0"/>
              <a:t>✔ Code is reused</a:t>
            </a:r>
            <a:endParaRPr lang="en-US" b="1" dirty="0"/>
          </a:p>
          <a:p>
            <a:endParaRPr lang="en-US" dirty="0"/>
          </a:p>
        </p:txBody>
      </p:sp>
      <p:pic>
        <p:nvPicPr>
          <p:cNvPr id="4" name="Picture 3">
            <a:extLst>
              <a:ext uri="{FF2B5EF4-FFF2-40B4-BE49-F238E27FC236}">
                <a16:creationId xmlns:a16="http://schemas.microsoft.com/office/drawing/2014/main" id="{0E63264F-4A3C-8CD2-A7A0-D4C5BF9C0630}"/>
              </a:ext>
            </a:extLst>
          </p:cNvPr>
          <p:cNvPicPr>
            <a:picLocks noChangeAspect="1"/>
          </p:cNvPicPr>
          <p:nvPr/>
        </p:nvPicPr>
        <p:blipFill>
          <a:blip r:embed="rId2"/>
          <a:stretch>
            <a:fillRect/>
          </a:stretch>
        </p:blipFill>
        <p:spPr>
          <a:xfrm>
            <a:off x="5947442" y="2090056"/>
            <a:ext cx="4725681" cy="3784387"/>
          </a:xfrm>
          <a:prstGeom prst="rect">
            <a:avLst/>
          </a:prstGeom>
        </p:spPr>
      </p:pic>
    </p:spTree>
    <p:extLst>
      <p:ext uri="{BB962C8B-B14F-4D97-AF65-F5344CB8AC3E}">
        <p14:creationId xmlns:p14="http://schemas.microsoft.com/office/powerpoint/2010/main" val="360305737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BA3B5-89E8-DA4B-D5D8-3406F6F376AA}"/>
              </a:ext>
            </a:extLst>
          </p:cNvPr>
          <p:cNvSpPr>
            <a:spLocks noGrp="1"/>
          </p:cNvSpPr>
          <p:nvPr>
            <p:ph type="ctrTitle"/>
          </p:nvPr>
        </p:nvSpPr>
        <p:spPr/>
        <p:txBody>
          <a:bodyPr/>
          <a:lstStyle/>
          <a:p>
            <a:pPr algn="ctr"/>
            <a:r>
              <a:rPr lang="en-US" dirty="0"/>
              <a:t>polymorphism</a:t>
            </a:r>
          </a:p>
        </p:txBody>
      </p:sp>
      <p:sp>
        <p:nvSpPr>
          <p:cNvPr id="3" name="Subtitle 2">
            <a:extLst>
              <a:ext uri="{FF2B5EF4-FFF2-40B4-BE49-F238E27FC236}">
                <a16:creationId xmlns:a16="http://schemas.microsoft.com/office/drawing/2014/main" id="{38F71143-E2E1-7706-63FD-FCD1B7D3F19A}"/>
              </a:ext>
            </a:extLst>
          </p:cNvPr>
          <p:cNvSpPr>
            <a:spLocks noGrp="1"/>
          </p:cNvSpPr>
          <p:nvPr>
            <p:ph type="subTitle" idx="1"/>
          </p:nvPr>
        </p:nvSpPr>
        <p:spPr/>
        <p:txBody>
          <a:bodyPr/>
          <a:lstStyle/>
          <a:p>
            <a:r>
              <a:rPr lang="en-US" dirty="0"/>
              <a:t>In C++ OOP</a:t>
            </a:r>
          </a:p>
        </p:txBody>
      </p:sp>
    </p:spTree>
    <p:extLst>
      <p:ext uri="{BB962C8B-B14F-4D97-AF65-F5344CB8AC3E}">
        <p14:creationId xmlns:p14="http://schemas.microsoft.com/office/powerpoint/2010/main" val="288453099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51FBD-68A6-D775-D1E2-804BBCEB9BAF}"/>
              </a:ext>
            </a:extLst>
          </p:cNvPr>
          <p:cNvSpPr>
            <a:spLocks noGrp="1"/>
          </p:cNvSpPr>
          <p:nvPr>
            <p:ph type="title"/>
          </p:nvPr>
        </p:nvSpPr>
        <p:spPr>
          <a:xfrm>
            <a:off x="1069848" y="484632"/>
            <a:ext cx="10058400" cy="521976"/>
          </a:xfrm>
        </p:spPr>
        <p:txBody>
          <a:bodyPr>
            <a:normAutofit fontScale="90000"/>
          </a:bodyPr>
          <a:lstStyle/>
          <a:p>
            <a:pPr algn="ctr"/>
            <a:r>
              <a:rPr lang="en-US" dirty="0"/>
              <a:t>polymorphism</a:t>
            </a:r>
          </a:p>
        </p:txBody>
      </p:sp>
      <p:sp>
        <p:nvSpPr>
          <p:cNvPr id="3" name="Content Placeholder 2">
            <a:extLst>
              <a:ext uri="{FF2B5EF4-FFF2-40B4-BE49-F238E27FC236}">
                <a16:creationId xmlns:a16="http://schemas.microsoft.com/office/drawing/2014/main" id="{1BB879B2-953A-B2B8-3095-0F9BC098AF05}"/>
              </a:ext>
            </a:extLst>
          </p:cNvPr>
          <p:cNvSpPr>
            <a:spLocks noGrp="1"/>
          </p:cNvSpPr>
          <p:nvPr>
            <p:ph idx="1"/>
          </p:nvPr>
        </p:nvSpPr>
        <p:spPr>
          <a:xfrm>
            <a:off x="1069848" y="1006608"/>
            <a:ext cx="10058400" cy="5165592"/>
          </a:xfrm>
        </p:spPr>
        <p:txBody>
          <a:bodyPr>
            <a:normAutofit fontScale="92500" lnSpcReduction="20000"/>
          </a:bodyPr>
          <a:lstStyle/>
          <a:p>
            <a:r>
              <a:rPr lang="en-US" dirty="0"/>
              <a:t>Polymorphism is the ability of a function, object, or operator to take multiple forms depending on the context.</a:t>
            </a:r>
          </a:p>
          <a:p>
            <a:r>
              <a:rPr lang="en-US" dirty="0"/>
              <a:t>One interface, multiple implementations</a:t>
            </a:r>
          </a:p>
          <a:p>
            <a:r>
              <a:rPr lang="en-US" dirty="0"/>
              <a:t>Compile-time and run-time polymorphism</a:t>
            </a:r>
          </a:p>
          <a:p>
            <a:r>
              <a:rPr lang="en-US" dirty="0"/>
              <a:t>Achieved through method overloading and overriding</a:t>
            </a:r>
          </a:p>
          <a:p>
            <a:r>
              <a:rPr lang="en-US" dirty="0"/>
              <a:t>IMPORTANCE:</a:t>
            </a:r>
          </a:p>
          <a:p>
            <a:pPr marL="0" lvl="0" indent="0" eaLnBrk="0" fontAlgn="base" hangingPunct="0">
              <a:lnSpc>
                <a:spcPct val="100000"/>
              </a:lnSpc>
              <a:spcBef>
                <a:spcPct val="0"/>
              </a:spcBef>
              <a:spcAft>
                <a:spcPct val="0"/>
              </a:spcAft>
              <a:buClrTx/>
              <a:buSzTx/>
              <a:buFontTx/>
              <a:buChar char="•"/>
            </a:pPr>
            <a:r>
              <a:rPr lang="en-US" altLang="en-US" dirty="0">
                <a:latin typeface="Arial" panose="020B0604020202020204" pitchFamily="34" charset="0"/>
              </a:rPr>
              <a:t>Makes code </a:t>
            </a:r>
            <a:r>
              <a:rPr lang="en-US" altLang="en-US" b="1" dirty="0">
                <a:latin typeface="Arial" panose="020B0604020202020204" pitchFamily="34" charset="0"/>
              </a:rPr>
              <a:t>flexible</a:t>
            </a:r>
            <a:r>
              <a:rPr lang="en-US" altLang="en-US" dirty="0">
                <a:latin typeface="Arial" panose="020B0604020202020204" pitchFamily="34" charset="0"/>
              </a:rPr>
              <a:t> </a:t>
            </a:r>
          </a:p>
          <a:p>
            <a:pPr marL="0" lvl="0" indent="0" eaLnBrk="0" fontAlgn="base" hangingPunct="0">
              <a:lnSpc>
                <a:spcPct val="100000"/>
              </a:lnSpc>
              <a:spcBef>
                <a:spcPct val="0"/>
              </a:spcBef>
              <a:spcAft>
                <a:spcPct val="0"/>
              </a:spcAft>
              <a:buClrTx/>
              <a:buSzTx/>
              <a:buFontTx/>
              <a:buChar char="•"/>
            </a:pPr>
            <a:r>
              <a:rPr lang="en-US" altLang="en-US" dirty="0">
                <a:latin typeface="Arial" panose="020B0604020202020204" pitchFamily="34" charset="0"/>
              </a:rPr>
              <a:t>Reduces </a:t>
            </a:r>
            <a:r>
              <a:rPr lang="en-US" altLang="en-US" b="1" dirty="0">
                <a:latin typeface="Arial" panose="020B0604020202020204" pitchFamily="34" charset="0"/>
              </a:rPr>
              <a:t>duplication</a:t>
            </a:r>
            <a:r>
              <a:rPr lang="en-US" altLang="en-US" dirty="0">
                <a:latin typeface="Arial" panose="020B0604020202020204" pitchFamily="34" charset="0"/>
              </a:rPr>
              <a:t> </a:t>
            </a:r>
          </a:p>
          <a:p>
            <a:pPr marL="0" lvl="0" indent="0" eaLnBrk="0" fontAlgn="base" hangingPunct="0">
              <a:lnSpc>
                <a:spcPct val="100000"/>
              </a:lnSpc>
              <a:spcBef>
                <a:spcPct val="0"/>
              </a:spcBef>
              <a:spcAft>
                <a:spcPct val="0"/>
              </a:spcAft>
              <a:buClrTx/>
              <a:buSzTx/>
              <a:buFontTx/>
              <a:buChar char="•"/>
            </a:pPr>
            <a:r>
              <a:rPr lang="en-US" altLang="en-US" dirty="0">
                <a:latin typeface="Arial" panose="020B0604020202020204" pitchFamily="34" charset="0"/>
              </a:rPr>
              <a:t>Supports </a:t>
            </a:r>
            <a:r>
              <a:rPr lang="en-US" altLang="en-US" b="1" dirty="0">
                <a:latin typeface="Arial" panose="020B0604020202020204" pitchFamily="34" charset="0"/>
              </a:rPr>
              <a:t>extensibility</a:t>
            </a:r>
            <a:r>
              <a:rPr lang="en-US" altLang="en-US" dirty="0">
                <a:latin typeface="Arial" panose="020B0604020202020204" pitchFamily="34" charset="0"/>
              </a:rPr>
              <a:t> </a:t>
            </a:r>
            <a:endParaRPr lang="en-US" dirty="0"/>
          </a:p>
          <a:p>
            <a:pPr marL="0" indent="0">
              <a:buNone/>
            </a:pPr>
            <a:r>
              <a:rPr lang="en-US" b="1" dirty="0"/>
              <a:t>Real-Life Example</a:t>
            </a:r>
          </a:p>
          <a:p>
            <a:r>
              <a:rPr lang="en-US" dirty="0"/>
              <a:t>👉 A person can be:</a:t>
            </a:r>
          </a:p>
          <a:p>
            <a:r>
              <a:rPr lang="en-US" dirty="0"/>
              <a:t>Student </a:t>
            </a:r>
          </a:p>
          <a:p>
            <a:r>
              <a:rPr lang="en-US" dirty="0"/>
              <a:t>Teacher </a:t>
            </a:r>
          </a:p>
          <a:p>
            <a:r>
              <a:rPr lang="en-US" dirty="0"/>
              <a:t>Employee </a:t>
            </a:r>
          </a:p>
          <a:p>
            <a:r>
              <a:rPr lang="en-US" dirty="0"/>
              <a:t>Same person → </a:t>
            </a:r>
            <a:r>
              <a:rPr lang="en-US" b="1" dirty="0"/>
              <a:t>different roles (forms)</a:t>
            </a:r>
            <a:endParaRPr lang="en-US" dirty="0"/>
          </a:p>
          <a:p>
            <a:pPr marL="0" indent="0">
              <a:buNone/>
            </a:pPr>
            <a:endParaRPr lang="en-US" dirty="0"/>
          </a:p>
          <a:p>
            <a:endParaRPr lang="en-US" dirty="0"/>
          </a:p>
        </p:txBody>
      </p:sp>
    </p:spTree>
    <p:extLst>
      <p:ext uri="{BB962C8B-B14F-4D97-AF65-F5344CB8AC3E}">
        <p14:creationId xmlns:p14="http://schemas.microsoft.com/office/powerpoint/2010/main" val="317238993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7445A-B5CD-865A-CA45-30B83141E7B5}"/>
              </a:ext>
            </a:extLst>
          </p:cNvPr>
          <p:cNvSpPr>
            <a:spLocks noGrp="1"/>
          </p:cNvSpPr>
          <p:nvPr>
            <p:ph type="title"/>
          </p:nvPr>
        </p:nvSpPr>
        <p:spPr>
          <a:xfrm>
            <a:off x="1069848" y="484632"/>
            <a:ext cx="10058400" cy="944598"/>
          </a:xfrm>
        </p:spPr>
        <p:txBody>
          <a:bodyPr/>
          <a:lstStyle/>
          <a:p>
            <a:pPr algn="ctr"/>
            <a:r>
              <a:rPr lang="en-US" dirty="0"/>
              <a:t>Types of polymorphism</a:t>
            </a:r>
          </a:p>
        </p:txBody>
      </p:sp>
      <p:sp>
        <p:nvSpPr>
          <p:cNvPr id="3" name="Text Placeholder 2">
            <a:extLst>
              <a:ext uri="{FF2B5EF4-FFF2-40B4-BE49-F238E27FC236}">
                <a16:creationId xmlns:a16="http://schemas.microsoft.com/office/drawing/2014/main" id="{E37B1CD8-9B52-519A-0F7A-002E5E791CCF}"/>
              </a:ext>
            </a:extLst>
          </p:cNvPr>
          <p:cNvSpPr>
            <a:spLocks noGrp="1"/>
          </p:cNvSpPr>
          <p:nvPr>
            <p:ph type="body" idx="1"/>
          </p:nvPr>
        </p:nvSpPr>
        <p:spPr/>
        <p:txBody>
          <a:bodyPr/>
          <a:lstStyle/>
          <a:p>
            <a:r>
              <a:rPr lang="en-US" dirty="0"/>
              <a:t>1. Compile-Time Polymorphism (Static)</a:t>
            </a:r>
          </a:p>
        </p:txBody>
      </p:sp>
      <p:sp>
        <p:nvSpPr>
          <p:cNvPr id="4" name="Content Placeholder 3">
            <a:extLst>
              <a:ext uri="{FF2B5EF4-FFF2-40B4-BE49-F238E27FC236}">
                <a16:creationId xmlns:a16="http://schemas.microsoft.com/office/drawing/2014/main" id="{30ABB804-AA3D-18D0-2ED1-0E47836A83BE}"/>
              </a:ext>
            </a:extLst>
          </p:cNvPr>
          <p:cNvSpPr>
            <a:spLocks noGrp="1"/>
          </p:cNvSpPr>
          <p:nvPr>
            <p:ph sz="half" idx="2"/>
          </p:nvPr>
        </p:nvSpPr>
        <p:spPr/>
        <p:txBody>
          <a:bodyPr>
            <a:normAutofit fontScale="70000" lnSpcReduction="20000"/>
          </a:bodyPr>
          <a:lstStyle/>
          <a:p>
            <a:r>
              <a:rPr lang="en-US" dirty="0"/>
              <a:t>Achieved by </a:t>
            </a:r>
            <a:r>
              <a:rPr lang="en-US" b="1" dirty="0"/>
              <a:t>Function Overloading / Operator Overloading</a:t>
            </a:r>
            <a:r>
              <a:rPr lang="en-US" dirty="0"/>
              <a:t> </a:t>
            </a:r>
          </a:p>
          <a:p>
            <a:r>
              <a:rPr lang="en-US" dirty="0"/>
              <a:t>Decision made at </a:t>
            </a:r>
            <a:r>
              <a:rPr lang="en-US" b="1" dirty="0"/>
              <a:t>compile time</a:t>
            </a:r>
            <a:r>
              <a:rPr lang="en-US" dirty="0"/>
              <a:t> </a:t>
            </a:r>
          </a:p>
          <a:p>
            <a:r>
              <a:rPr lang="en-US" dirty="0"/>
              <a:t>👉 Example:</a:t>
            </a:r>
          </a:p>
          <a:p>
            <a:r>
              <a:rPr lang="en-US" dirty="0"/>
              <a:t>int add(int a, int b);</a:t>
            </a:r>
            <a:br>
              <a:rPr lang="en-US" dirty="0"/>
            </a:br>
            <a:r>
              <a:rPr lang="en-US" dirty="0"/>
              <a:t>double add(double a, double b);</a:t>
            </a:r>
          </a:p>
          <a:p>
            <a:r>
              <a:rPr lang="en-US" dirty="0"/>
              <a:t>Example:</a:t>
            </a:r>
          </a:p>
          <a:p>
            <a:r>
              <a:rPr lang="en-US" dirty="0"/>
              <a:t>int add(int a, int b);</a:t>
            </a:r>
          </a:p>
          <a:p>
            <a:r>
              <a:rPr lang="en-US" dirty="0"/>
              <a:t>double add(double a, double b);</a:t>
            </a:r>
          </a:p>
        </p:txBody>
      </p:sp>
      <p:sp>
        <p:nvSpPr>
          <p:cNvPr id="5" name="Text Placeholder 4">
            <a:extLst>
              <a:ext uri="{FF2B5EF4-FFF2-40B4-BE49-F238E27FC236}">
                <a16:creationId xmlns:a16="http://schemas.microsoft.com/office/drawing/2014/main" id="{1BBF83CE-A04B-39AE-C4AE-4CEBD9BC980E}"/>
              </a:ext>
            </a:extLst>
          </p:cNvPr>
          <p:cNvSpPr>
            <a:spLocks noGrp="1"/>
          </p:cNvSpPr>
          <p:nvPr>
            <p:ph type="body" sz="quarter" idx="3"/>
          </p:nvPr>
        </p:nvSpPr>
        <p:spPr/>
        <p:txBody>
          <a:bodyPr/>
          <a:lstStyle/>
          <a:p>
            <a:r>
              <a:rPr lang="en-US" dirty="0"/>
              <a:t>2. Run-Time Polymorphism (Dynamic)</a:t>
            </a:r>
          </a:p>
        </p:txBody>
      </p:sp>
      <p:sp>
        <p:nvSpPr>
          <p:cNvPr id="6" name="Content Placeholder 5">
            <a:extLst>
              <a:ext uri="{FF2B5EF4-FFF2-40B4-BE49-F238E27FC236}">
                <a16:creationId xmlns:a16="http://schemas.microsoft.com/office/drawing/2014/main" id="{140E2B18-1439-27FD-BFA3-BE2B9292EC3F}"/>
              </a:ext>
            </a:extLst>
          </p:cNvPr>
          <p:cNvSpPr>
            <a:spLocks noGrp="1"/>
          </p:cNvSpPr>
          <p:nvPr>
            <p:ph sz="quarter" idx="4"/>
          </p:nvPr>
        </p:nvSpPr>
        <p:spPr/>
        <p:txBody>
          <a:bodyPr>
            <a:normAutofit fontScale="70000" lnSpcReduction="20000"/>
          </a:bodyPr>
          <a:lstStyle/>
          <a:p>
            <a:r>
              <a:rPr lang="en-US" dirty="0"/>
              <a:t>Achieved by </a:t>
            </a:r>
            <a:r>
              <a:rPr lang="en-US" b="1" dirty="0"/>
              <a:t>Function Overriding</a:t>
            </a:r>
            <a:r>
              <a:rPr lang="en-US" dirty="0"/>
              <a:t> </a:t>
            </a:r>
          </a:p>
          <a:p>
            <a:r>
              <a:rPr lang="en-US" dirty="0"/>
              <a:t>Uses </a:t>
            </a:r>
            <a:r>
              <a:rPr lang="en-US" b="1" dirty="0"/>
              <a:t>inheritance + virtual functions</a:t>
            </a:r>
            <a:r>
              <a:rPr lang="en-US" dirty="0"/>
              <a:t> </a:t>
            </a:r>
          </a:p>
          <a:p>
            <a:r>
              <a:rPr lang="en-US" dirty="0"/>
              <a:t>Decision made at </a:t>
            </a:r>
            <a:r>
              <a:rPr lang="en-US" b="1" dirty="0"/>
              <a:t>runtime</a:t>
            </a:r>
            <a:r>
              <a:rPr lang="en-US" dirty="0"/>
              <a:t> </a:t>
            </a:r>
          </a:p>
          <a:p>
            <a:r>
              <a:rPr lang="en-US" dirty="0"/>
              <a:t>👉 Example:</a:t>
            </a:r>
          </a:p>
          <a:p>
            <a:r>
              <a:rPr lang="en-US" dirty="0"/>
              <a:t>class Animal {</a:t>
            </a:r>
            <a:br>
              <a:rPr lang="en-US" dirty="0"/>
            </a:br>
            <a:r>
              <a:rPr lang="en-US" dirty="0"/>
              <a:t>public:</a:t>
            </a:r>
            <a:br>
              <a:rPr lang="en-US" dirty="0"/>
            </a:br>
            <a:r>
              <a:rPr lang="en-US" dirty="0"/>
              <a:t>    virtual void sound() {</a:t>
            </a:r>
            <a:br>
              <a:rPr lang="en-US" dirty="0"/>
            </a:br>
            <a:r>
              <a:rPr lang="en-US" dirty="0"/>
              <a:t>        </a:t>
            </a:r>
            <a:r>
              <a:rPr lang="en-US" dirty="0" err="1"/>
              <a:t>cout</a:t>
            </a:r>
            <a:r>
              <a:rPr lang="en-US" dirty="0"/>
              <a:t> &lt;&lt; "Animal sound";</a:t>
            </a:r>
            <a:br>
              <a:rPr lang="en-US" dirty="0"/>
            </a:br>
            <a:r>
              <a:rPr lang="en-US" dirty="0"/>
              <a:t>    }</a:t>
            </a:r>
            <a:br>
              <a:rPr lang="en-US" dirty="0"/>
            </a:br>
            <a:r>
              <a:rPr lang="en-US" dirty="0"/>
              <a:t>};</a:t>
            </a:r>
            <a:br>
              <a:rPr lang="en-US" dirty="0"/>
            </a:br>
            <a:br>
              <a:rPr lang="en-US" dirty="0"/>
            </a:br>
            <a:r>
              <a:rPr lang="en-US" dirty="0"/>
              <a:t>class Dog : public Animal {</a:t>
            </a:r>
            <a:br>
              <a:rPr lang="en-US" dirty="0"/>
            </a:br>
            <a:r>
              <a:rPr lang="en-US" dirty="0"/>
              <a:t>public:</a:t>
            </a:r>
            <a:br>
              <a:rPr lang="en-US" dirty="0"/>
            </a:br>
            <a:r>
              <a:rPr lang="en-US" dirty="0"/>
              <a:t>    void sound() {</a:t>
            </a:r>
            <a:br>
              <a:rPr lang="en-US" dirty="0"/>
            </a:br>
            <a:r>
              <a:rPr lang="en-US" dirty="0"/>
              <a:t>        </a:t>
            </a:r>
            <a:r>
              <a:rPr lang="en-US" dirty="0" err="1"/>
              <a:t>cout</a:t>
            </a:r>
            <a:r>
              <a:rPr lang="en-US" dirty="0"/>
              <a:t> &lt;&lt; "Dog barks";</a:t>
            </a:r>
            <a:br>
              <a:rPr lang="en-US" dirty="0"/>
            </a:br>
            <a:r>
              <a:rPr lang="en-US" dirty="0"/>
              <a:t>    }</a:t>
            </a:r>
            <a:br>
              <a:rPr lang="en-US" dirty="0"/>
            </a:br>
            <a:r>
              <a:rPr lang="en-US" dirty="0"/>
              <a:t>};</a:t>
            </a:r>
          </a:p>
          <a:p>
            <a:endParaRPr lang="en-US" dirty="0"/>
          </a:p>
        </p:txBody>
      </p:sp>
    </p:spTree>
    <p:extLst>
      <p:ext uri="{BB962C8B-B14F-4D97-AF65-F5344CB8AC3E}">
        <p14:creationId xmlns:p14="http://schemas.microsoft.com/office/powerpoint/2010/main" val="49224180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E4E11-0951-501D-3E77-1F03D2C4CCD8}"/>
              </a:ext>
            </a:extLst>
          </p:cNvPr>
          <p:cNvSpPr>
            <a:spLocks noGrp="1"/>
          </p:cNvSpPr>
          <p:nvPr>
            <p:ph type="title"/>
          </p:nvPr>
        </p:nvSpPr>
        <p:spPr/>
        <p:txBody>
          <a:bodyPr/>
          <a:lstStyle/>
          <a:p>
            <a:pPr algn="ctr"/>
            <a:r>
              <a:rPr lang="en-US" dirty="0"/>
              <a:t>Difference between compile and run time</a:t>
            </a:r>
          </a:p>
        </p:txBody>
      </p:sp>
      <p:sp>
        <p:nvSpPr>
          <p:cNvPr id="3" name="Text Placeholder 2">
            <a:extLst>
              <a:ext uri="{FF2B5EF4-FFF2-40B4-BE49-F238E27FC236}">
                <a16:creationId xmlns:a16="http://schemas.microsoft.com/office/drawing/2014/main" id="{35F48334-87BB-4B0A-71A2-D026A0894035}"/>
              </a:ext>
            </a:extLst>
          </p:cNvPr>
          <p:cNvSpPr>
            <a:spLocks noGrp="1"/>
          </p:cNvSpPr>
          <p:nvPr>
            <p:ph type="body" idx="1"/>
          </p:nvPr>
        </p:nvSpPr>
        <p:spPr/>
        <p:txBody>
          <a:bodyPr/>
          <a:lstStyle/>
          <a:p>
            <a:r>
              <a:rPr lang="en-US" dirty="0"/>
              <a:t>Compile-Time</a:t>
            </a:r>
          </a:p>
        </p:txBody>
      </p:sp>
      <p:sp>
        <p:nvSpPr>
          <p:cNvPr id="4" name="Content Placeholder 3">
            <a:extLst>
              <a:ext uri="{FF2B5EF4-FFF2-40B4-BE49-F238E27FC236}">
                <a16:creationId xmlns:a16="http://schemas.microsoft.com/office/drawing/2014/main" id="{08F26E2D-239D-3EEE-F66D-043A58103D86}"/>
              </a:ext>
            </a:extLst>
          </p:cNvPr>
          <p:cNvSpPr>
            <a:spLocks noGrp="1"/>
          </p:cNvSpPr>
          <p:nvPr>
            <p:ph sz="half" idx="2"/>
          </p:nvPr>
        </p:nvSpPr>
        <p:spPr>
          <a:xfrm>
            <a:off x="1069848" y="2743200"/>
            <a:ext cx="4754880" cy="1283234"/>
          </a:xfrm>
        </p:spPr>
        <p:txBody>
          <a:bodyPr/>
          <a:lstStyle/>
          <a:p>
            <a:r>
              <a:rPr lang="en-US" dirty="0"/>
              <a:t>Happens </a:t>
            </a:r>
            <a:r>
              <a:rPr lang="en-US" b="1" dirty="0"/>
              <a:t>before the program runs</a:t>
            </a:r>
            <a:r>
              <a:rPr lang="en-US" dirty="0"/>
              <a:t> (during compilation). Errors and decisions are detected by the compiler.</a:t>
            </a:r>
          </a:p>
        </p:txBody>
      </p:sp>
      <p:sp>
        <p:nvSpPr>
          <p:cNvPr id="5" name="Text Placeholder 4">
            <a:extLst>
              <a:ext uri="{FF2B5EF4-FFF2-40B4-BE49-F238E27FC236}">
                <a16:creationId xmlns:a16="http://schemas.microsoft.com/office/drawing/2014/main" id="{02F3A3A5-A1D1-E633-E488-647D48A2B516}"/>
              </a:ext>
            </a:extLst>
          </p:cNvPr>
          <p:cNvSpPr>
            <a:spLocks noGrp="1"/>
          </p:cNvSpPr>
          <p:nvPr>
            <p:ph type="body" sz="quarter" idx="3"/>
          </p:nvPr>
        </p:nvSpPr>
        <p:spPr/>
        <p:txBody>
          <a:bodyPr/>
          <a:lstStyle/>
          <a:p>
            <a:r>
              <a:rPr lang="en-US" dirty="0"/>
              <a:t>Run-Time</a:t>
            </a:r>
          </a:p>
        </p:txBody>
      </p:sp>
      <p:sp>
        <p:nvSpPr>
          <p:cNvPr id="6" name="Content Placeholder 5">
            <a:extLst>
              <a:ext uri="{FF2B5EF4-FFF2-40B4-BE49-F238E27FC236}">
                <a16:creationId xmlns:a16="http://schemas.microsoft.com/office/drawing/2014/main" id="{726F60A4-77BD-A301-58DA-C2B9C19408C7}"/>
              </a:ext>
            </a:extLst>
          </p:cNvPr>
          <p:cNvSpPr>
            <a:spLocks noGrp="1"/>
          </p:cNvSpPr>
          <p:nvPr>
            <p:ph sz="quarter" idx="4"/>
          </p:nvPr>
        </p:nvSpPr>
        <p:spPr>
          <a:xfrm>
            <a:off x="6364224" y="2743200"/>
            <a:ext cx="4754880" cy="1091133"/>
          </a:xfrm>
        </p:spPr>
        <p:txBody>
          <a:bodyPr/>
          <a:lstStyle/>
          <a:p>
            <a:r>
              <a:rPr lang="en-US" dirty="0"/>
              <a:t>Happens </a:t>
            </a:r>
            <a:r>
              <a:rPr lang="en-US" b="1" dirty="0"/>
              <a:t>while the program is running</a:t>
            </a:r>
            <a:r>
              <a:rPr lang="en-US" dirty="0"/>
              <a:t>. Decisions are made dynamically during execution.</a:t>
            </a:r>
          </a:p>
        </p:txBody>
      </p:sp>
      <p:sp>
        <p:nvSpPr>
          <p:cNvPr id="11" name="TextBox 10">
            <a:extLst>
              <a:ext uri="{FF2B5EF4-FFF2-40B4-BE49-F238E27FC236}">
                <a16:creationId xmlns:a16="http://schemas.microsoft.com/office/drawing/2014/main" id="{54405BF5-32DE-9683-A917-6B849B22E705}"/>
              </a:ext>
            </a:extLst>
          </p:cNvPr>
          <p:cNvSpPr txBox="1"/>
          <p:nvPr/>
        </p:nvSpPr>
        <p:spPr>
          <a:xfrm>
            <a:off x="2758568" y="3834333"/>
            <a:ext cx="6387352" cy="1477328"/>
          </a:xfrm>
          <a:prstGeom prst="rect">
            <a:avLst/>
          </a:prstGeom>
          <a:noFill/>
        </p:spPr>
        <p:txBody>
          <a:bodyPr wrap="square">
            <a:spAutoFit/>
          </a:bodyPr>
          <a:lstStyle/>
          <a:p>
            <a:pPr>
              <a:buNone/>
            </a:pPr>
            <a:r>
              <a:rPr lang="en-US" b="1" dirty="0"/>
              <a:t>Real-Life Analogy</a:t>
            </a:r>
          </a:p>
          <a:p>
            <a:pPr>
              <a:buFont typeface="Arial" panose="020B0604020202020204" pitchFamily="34" charset="0"/>
              <a:buChar char="•"/>
            </a:pPr>
            <a:r>
              <a:rPr lang="en-US" b="1" dirty="0"/>
              <a:t>Compile-Time:</a:t>
            </a:r>
            <a:r>
              <a:rPr lang="en-US" dirty="0"/>
              <a:t> Like </a:t>
            </a:r>
            <a:r>
              <a:rPr lang="en-US" b="1" dirty="0"/>
              <a:t>preparing a recipe before cooking</a:t>
            </a:r>
            <a:r>
              <a:rPr lang="en-US" dirty="0"/>
              <a:t> → ingredients measured, steps planned </a:t>
            </a:r>
          </a:p>
          <a:p>
            <a:pPr>
              <a:buFont typeface="Arial" panose="020B0604020202020204" pitchFamily="34" charset="0"/>
              <a:buChar char="•"/>
            </a:pPr>
            <a:r>
              <a:rPr lang="en-US" b="1" dirty="0"/>
              <a:t>Run-Time:</a:t>
            </a:r>
            <a:r>
              <a:rPr lang="en-US" dirty="0"/>
              <a:t> Like </a:t>
            </a:r>
            <a:r>
              <a:rPr lang="en-US" b="1" dirty="0"/>
              <a:t>cooking the recipe</a:t>
            </a:r>
            <a:r>
              <a:rPr lang="en-US" dirty="0"/>
              <a:t> → adjusting spices or timing depending on taste</a:t>
            </a:r>
          </a:p>
        </p:txBody>
      </p:sp>
    </p:spTree>
    <p:extLst>
      <p:ext uri="{BB962C8B-B14F-4D97-AF65-F5344CB8AC3E}">
        <p14:creationId xmlns:p14="http://schemas.microsoft.com/office/powerpoint/2010/main" val="154891139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7FB028F-5CDB-53F9-E94F-6A5868266310}"/>
              </a:ext>
            </a:extLst>
          </p:cNvPr>
          <p:cNvGraphicFramePr>
            <a:graphicFrameLocks noGrp="1"/>
          </p:cNvGraphicFramePr>
          <p:nvPr/>
        </p:nvGraphicFramePr>
        <p:xfrm>
          <a:off x="1069975" y="2180590"/>
          <a:ext cx="10058400" cy="3931920"/>
        </p:xfrm>
        <a:graphic>
          <a:graphicData uri="http://schemas.openxmlformats.org/drawingml/2006/table">
            <a:tbl>
              <a:tblPr/>
              <a:tblGrid>
                <a:gridCol w="3352800">
                  <a:extLst>
                    <a:ext uri="{9D8B030D-6E8A-4147-A177-3AD203B41FA5}">
                      <a16:colId xmlns:a16="http://schemas.microsoft.com/office/drawing/2014/main" val="1049474133"/>
                    </a:ext>
                  </a:extLst>
                </a:gridCol>
                <a:gridCol w="3352800">
                  <a:extLst>
                    <a:ext uri="{9D8B030D-6E8A-4147-A177-3AD203B41FA5}">
                      <a16:colId xmlns:a16="http://schemas.microsoft.com/office/drawing/2014/main" val="2230428975"/>
                    </a:ext>
                  </a:extLst>
                </a:gridCol>
                <a:gridCol w="3352800">
                  <a:extLst>
                    <a:ext uri="{9D8B030D-6E8A-4147-A177-3AD203B41FA5}">
                      <a16:colId xmlns:a16="http://schemas.microsoft.com/office/drawing/2014/main" val="1589861685"/>
                    </a:ext>
                  </a:extLst>
                </a:gridCol>
              </a:tblGrid>
              <a:tr h="0">
                <a:tc>
                  <a:txBody>
                    <a:bodyPr/>
                    <a:lstStyle/>
                    <a:p>
                      <a:pPr>
                        <a:buNone/>
                      </a:pPr>
                      <a:r>
                        <a:rPr lang="en-US"/>
                        <a:t>Feature</a:t>
                      </a:r>
                    </a:p>
                  </a:txBody>
                  <a:tcPr anchor="ctr">
                    <a:lnL>
                      <a:noFill/>
                    </a:lnL>
                    <a:lnR>
                      <a:noFill/>
                    </a:lnR>
                    <a:lnT>
                      <a:noFill/>
                    </a:lnT>
                    <a:lnB>
                      <a:noFill/>
                    </a:lnB>
                    <a:noFill/>
                  </a:tcPr>
                </a:tc>
                <a:tc>
                  <a:txBody>
                    <a:bodyPr/>
                    <a:lstStyle/>
                    <a:p>
                      <a:pPr>
                        <a:buNone/>
                      </a:pPr>
                      <a:r>
                        <a:rPr lang="en-US"/>
                        <a:t>Compile-Time</a:t>
                      </a:r>
                    </a:p>
                  </a:txBody>
                  <a:tcPr anchor="ctr">
                    <a:lnL>
                      <a:noFill/>
                    </a:lnL>
                    <a:lnR>
                      <a:noFill/>
                    </a:lnR>
                    <a:lnT>
                      <a:noFill/>
                    </a:lnT>
                    <a:lnB>
                      <a:noFill/>
                    </a:lnB>
                    <a:noFill/>
                  </a:tcPr>
                </a:tc>
                <a:tc>
                  <a:txBody>
                    <a:bodyPr/>
                    <a:lstStyle/>
                    <a:p>
                      <a:pPr>
                        <a:buNone/>
                      </a:pPr>
                      <a:r>
                        <a:rPr lang="en-US"/>
                        <a:t>Run-Time</a:t>
                      </a:r>
                    </a:p>
                  </a:txBody>
                  <a:tcPr anchor="ctr">
                    <a:lnL>
                      <a:noFill/>
                    </a:lnL>
                    <a:lnR>
                      <a:noFill/>
                    </a:lnR>
                    <a:lnT>
                      <a:noFill/>
                    </a:lnT>
                    <a:lnB>
                      <a:noFill/>
                    </a:lnB>
                    <a:noFill/>
                  </a:tcPr>
                </a:tc>
                <a:extLst>
                  <a:ext uri="{0D108BD9-81ED-4DB2-BD59-A6C34878D82A}">
                    <a16:rowId xmlns:a16="http://schemas.microsoft.com/office/drawing/2014/main" val="4199795472"/>
                  </a:ext>
                </a:extLst>
              </a:tr>
              <a:tr h="0">
                <a:tc>
                  <a:txBody>
                    <a:bodyPr/>
                    <a:lstStyle/>
                    <a:p>
                      <a:pPr>
                        <a:buNone/>
                      </a:pPr>
                      <a:r>
                        <a:rPr lang="en-US" b="1"/>
                        <a:t>When</a:t>
                      </a:r>
                      <a:endParaRPr lang="en-US"/>
                    </a:p>
                  </a:txBody>
                  <a:tcPr anchor="ctr">
                    <a:lnL>
                      <a:noFill/>
                    </a:lnL>
                    <a:lnR>
                      <a:noFill/>
                    </a:lnR>
                    <a:lnT>
                      <a:noFill/>
                    </a:lnT>
                    <a:lnB>
                      <a:noFill/>
                    </a:lnB>
                    <a:noFill/>
                  </a:tcPr>
                </a:tc>
                <a:tc>
                  <a:txBody>
                    <a:bodyPr/>
                    <a:lstStyle/>
                    <a:p>
                      <a:pPr>
                        <a:buNone/>
                      </a:pPr>
                      <a:r>
                        <a:rPr lang="en-US"/>
                        <a:t>Before execution (compilation)</a:t>
                      </a:r>
                    </a:p>
                  </a:txBody>
                  <a:tcPr anchor="ctr">
                    <a:lnL>
                      <a:noFill/>
                    </a:lnL>
                    <a:lnR>
                      <a:noFill/>
                    </a:lnR>
                    <a:lnT>
                      <a:noFill/>
                    </a:lnT>
                    <a:lnB>
                      <a:noFill/>
                    </a:lnB>
                    <a:noFill/>
                  </a:tcPr>
                </a:tc>
                <a:tc>
                  <a:txBody>
                    <a:bodyPr/>
                    <a:lstStyle/>
                    <a:p>
                      <a:pPr>
                        <a:buNone/>
                      </a:pPr>
                      <a:r>
                        <a:rPr lang="en-US"/>
                        <a:t>During execution</a:t>
                      </a:r>
                    </a:p>
                  </a:txBody>
                  <a:tcPr anchor="ctr">
                    <a:lnL>
                      <a:noFill/>
                    </a:lnL>
                    <a:lnR>
                      <a:noFill/>
                    </a:lnR>
                    <a:lnT>
                      <a:noFill/>
                    </a:lnT>
                    <a:lnB>
                      <a:noFill/>
                    </a:lnB>
                    <a:noFill/>
                  </a:tcPr>
                </a:tc>
                <a:extLst>
                  <a:ext uri="{0D108BD9-81ED-4DB2-BD59-A6C34878D82A}">
                    <a16:rowId xmlns:a16="http://schemas.microsoft.com/office/drawing/2014/main" val="129353943"/>
                  </a:ext>
                </a:extLst>
              </a:tr>
              <a:tr h="0">
                <a:tc>
                  <a:txBody>
                    <a:bodyPr/>
                    <a:lstStyle/>
                    <a:p>
                      <a:pPr>
                        <a:buNone/>
                      </a:pPr>
                      <a:r>
                        <a:rPr lang="en-US" b="1"/>
                        <a:t>Examples</a:t>
                      </a:r>
                      <a:endParaRPr lang="en-US"/>
                    </a:p>
                  </a:txBody>
                  <a:tcPr anchor="ctr">
                    <a:lnL>
                      <a:noFill/>
                    </a:lnL>
                    <a:lnR>
                      <a:noFill/>
                    </a:lnR>
                    <a:lnT>
                      <a:noFill/>
                    </a:lnT>
                    <a:lnB>
                      <a:noFill/>
                    </a:lnB>
                    <a:noFill/>
                  </a:tcPr>
                </a:tc>
                <a:tc>
                  <a:txBody>
                    <a:bodyPr/>
                    <a:lstStyle/>
                    <a:p>
                      <a:pPr>
                        <a:buNone/>
                      </a:pPr>
                      <a:r>
                        <a:rPr lang="en-US"/>
                        <a:t>Function overloading, syntax errors, type checking</a:t>
                      </a:r>
                    </a:p>
                  </a:txBody>
                  <a:tcPr anchor="ctr">
                    <a:lnL>
                      <a:noFill/>
                    </a:lnL>
                    <a:lnR>
                      <a:noFill/>
                    </a:lnR>
                    <a:lnT>
                      <a:noFill/>
                    </a:lnT>
                    <a:lnB>
                      <a:noFill/>
                    </a:lnB>
                    <a:noFill/>
                  </a:tcPr>
                </a:tc>
                <a:tc>
                  <a:txBody>
                    <a:bodyPr/>
                    <a:lstStyle/>
                    <a:p>
                      <a:pPr>
                        <a:buNone/>
                      </a:pPr>
                      <a:r>
                        <a:rPr lang="en-US"/>
                        <a:t>Function overriding, memory allocation, input/output errors</a:t>
                      </a:r>
                    </a:p>
                  </a:txBody>
                  <a:tcPr anchor="ctr">
                    <a:lnL>
                      <a:noFill/>
                    </a:lnL>
                    <a:lnR>
                      <a:noFill/>
                    </a:lnR>
                    <a:lnT>
                      <a:noFill/>
                    </a:lnT>
                    <a:lnB>
                      <a:noFill/>
                    </a:lnB>
                    <a:noFill/>
                  </a:tcPr>
                </a:tc>
                <a:extLst>
                  <a:ext uri="{0D108BD9-81ED-4DB2-BD59-A6C34878D82A}">
                    <a16:rowId xmlns:a16="http://schemas.microsoft.com/office/drawing/2014/main" val="2422649520"/>
                  </a:ext>
                </a:extLst>
              </a:tr>
              <a:tr h="0">
                <a:tc>
                  <a:txBody>
                    <a:bodyPr/>
                    <a:lstStyle/>
                    <a:p>
                      <a:pPr>
                        <a:buNone/>
                      </a:pPr>
                      <a:r>
                        <a:rPr lang="en-US" b="1"/>
                        <a:t>Decision Making</a:t>
                      </a:r>
                      <a:endParaRPr lang="en-US"/>
                    </a:p>
                  </a:txBody>
                  <a:tcPr anchor="ctr">
                    <a:lnL>
                      <a:noFill/>
                    </a:lnL>
                    <a:lnR>
                      <a:noFill/>
                    </a:lnR>
                    <a:lnT>
                      <a:noFill/>
                    </a:lnT>
                    <a:lnB>
                      <a:noFill/>
                    </a:lnB>
                    <a:noFill/>
                  </a:tcPr>
                </a:tc>
                <a:tc>
                  <a:txBody>
                    <a:bodyPr/>
                    <a:lstStyle/>
                    <a:p>
                      <a:pPr>
                        <a:buNone/>
                      </a:pPr>
                      <a:r>
                        <a:rPr lang="en-US"/>
                        <a:t>Static (fixed by compiler)</a:t>
                      </a:r>
                    </a:p>
                  </a:txBody>
                  <a:tcPr anchor="ctr">
                    <a:lnL>
                      <a:noFill/>
                    </a:lnL>
                    <a:lnR>
                      <a:noFill/>
                    </a:lnR>
                    <a:lnT>
                      <a:noFill/>
                    </a:lnT>
                    <a:lnB>
                      <a:noFill/>
                    </a:lnB>
                    <a:noFill/>
                  </a:tcPr>
                </a:tc>
                <a:tc>
                  <a:txBody>
                    <a:bodyPr/>
                    <a:lstStyle/>
                    <a:p>
                      <a:pPr>
                        <a:buNone/>
                      </a:pPr>
                      <a:r>
                        <a:rPr lang="en-US"/>
                        <a:t>Dynamic (depends on program state)</a:t>
                      </a:r>
                    </a:p>
                  </a:txBody>
                  <a:tcPr anchor="ctr">
                    <a:lnL>
                      <a:noFill/>
                    </a:lnL>
                    <a:lnR>
                      <a:noFill/>
                    </a:lnR>
                    <a:lnT>
                      <a:noFill/>
                    </a:lnT>
                    <a:lnB>
                      <a:noFill/>
                    </a:lnB>
                    <a:noFill/>
                  </a:tcPr>
                </a:tc>
                <a:extLst>
                  <a:ext uri="{0D108BD9-81ED-4DB2-BD59-A6C34878D82A}">
                    <a16:rowId xmlns:a16="http://schemas.microsoft.com/office/drawing/2014/main" val="1230116495"/>
                  </a:ext>
                </a:extLst>
              </a:tr>
              <a:tr h="0">
                <a:tc>
                  <a:txBody>
                    <a:bodyPr/>
                    <a:lstStyle/>
                    <a:p>
                      <a:pPr>
                        <a:buNone/>
                      </a:pPr>
                      <a:r>
                        <a:rPr lang="en-US" b="1"/>
                        <a:t>Inheritance Needed</a:t>
                      </a:r>
                      <a:endParaRPr lang="en-US"/>
                    </a:p>
                  </a:txBody>
                  <a:tcPr anchor="ctr">
                    <a:lnL>
                      <a:noFill/>
                    </a:lnL>
                    <a:lnR>
                      <a:noFill/>
                    </a:lnR>
                    <a:lnT>
                      <a:noFill/>
                    </a:lnT>
                    <a:lnB>
                      <a:noFill/>
                    </a:lnB>
                    <a:noFill/>
                  </a:tcPr>
                </a:tc>
                <a:tc>
                  <a:txBody>
                    <a:bodyPr/>
                    <a:lstStyle/>
                    <a:p>
                      <a:pPr>
                        <a:buNone/>
                      </a:pPr>
                      <a:r>
                        <a:rPr lang="en-US"/>
                        <a:t>Not required</a:t>
                      </a:r>
                    </a:p>
                  </a:txBody>
                  <a:tcPr anchor="ctr">
                    <a:lnL>
                      <a:noFill/>
                    </a:lnL>
                    <a:lnR>
                      <a:noFill/>
                    </a:lnR>
                    <a:lnT>
                      <a:noFill/>
                    </a:lnT>
                    <a:lnB>
                      <a:noFill/>
                    </a:lnB>
                    <a:noFill/>
                  </a:tcPr>
                </a:tc>
                <a:tc>
                  <a:txBody>
                    <a:bodyPr/>
                    <a:lstStyle/>
                    <a:p>
                      <a:pPr>
                        <a:buNone/>
                      </a:pPr>
                      <a:r>
                        <a:rPr lang="en-US"/>
                        <a:t>Required for overriding</a:t>
                      </a:r>
                    </a:p>
                  </a:txBody>
                  <a:tcPr anchor="ctr">
                    <a:lnL>
                      <a:noFill/>
                    </a:lnL>
                    <a:lnR>
                      <a:noFill/>
                    </a:lnR>
                    <a:lnT>
                      <a:noFill/>
                    </a:lnT>
                    <a:lnB>
                      <a:noFill/>
                    </a:lnB>
                    <a:noFill/>
                  </a:tcPr>
                </a:tc>
                <a:extLst>
                  <a:ext uri="{0D108BD9-81ED-4DB2-BD59-A6C34878D82A}">
                    <a16:rowId xmlns:a16="http://schemas.microsoft.com/office/drawing/2014/main" val="725591475"/>
                  </a:ext>
                </a:extLst>
              </a:tr>
              <a:tr h="0">
                <a:tc>
                  <a:txBody>
                    <a:bodyPr/>
                    <a:lstStyle/>
                    <a:p>
                      <a:pPr>
                        <a:buNone/>
                      </a:pPr>
                      <a:r>
                        <a:rPr lang="en-US" b="1"/>
                        <a:t>Error Detection</a:t>
                      </a:r>
                      <a:endParaRPr lang="en-US"/>
                    </a:p>
                  </a:txBody>
                  <a:tcPr anchor="ctr">
                    <a:lnL>
                      <a:noFill/>
                    </a:lnL>
                    <a:lnR>
                      <a:noFill/>
                    </a:lnR>
                    <a:lnT>
                      <a:noFill/>
                    </a:lnT>
                    <a:lnB>
                      <a:noFill/>
                    </a:lnB>
                    <a:noFill/>
                  </a:tcPr>
                </a:tc>
                <a:tc>
                  <a:txBody>
                    <a:bodyPr/>
                    <a:lstStyle/>
                    <a:p>
                      <a:pPr>
                        <a:buNone/>
                      </a:pPr>
                      <a:r>
                        <a:rPr lang="en-US"/>
                        <a:t>Caught by compiler</a:t>
                      </a:r>
                    </a:p>
                  </a:txBody>
                  <a:tcPr anchor="ctr">
                    <a:lnL>
                      <a:noFill/>
                    </a:lnL>
                    <a:lnR>
                      <a:noFill/>
                    </a:lnR>
                    <a:lnT>
                      <a:noFill/>
                    </a:lnT>
                    <a:lnB>
                      <a:noFill/>
                    </a:lnB>
                    <a:noFill/>
                  </a:tcPr>
                </a:tc>
                <a:tc>
                  <a:txBody>
                    <a:bodyPr/>
                    <a:lstStyle/>
                    <a:p>
                      <a:pPr>
                        <a:buNone/>
                      </a:pPr>
                      <a:r>
                        <a:rPr lang="en-US"/>
                        <a:t>Detected while running the program</a:t>
                      </a:r>
                    </a:p>
                  </a:txBody>
                  <a:tcPr anchor="ctr">
                    <a:lnL>
                      <a:noFill/>
                    </a:lnL>
                    <a:lnR>
                      <a:noFill/>
                    </a:lnR>
                    <a:lnT>
                      <a:noFill/>
                    </a:lnT>
                    <a:lnB>
                      <a:noFill/>
                    </a:lnB>
                    <a:noFill/>
                  </a:tcPr>
                </a:tc>
                <a:extLst>
                  <a:ext uri="{0D108BD9-81ED-4DB2-BD59-A6C34878D82A}">
                    <a16:rowId xmlns:a16="http://schemas.microsoft.com/office/drawing/2014/main" val="3175444962"/>
                  </a:ext>
                </a:extLst>
              </a:tr>
              <a:tr h="0">
                <a:tc>
                  <a:txBody>
                    <a:bodyPr/>
                    <a:lstStyle/>
                    <a:p>
                      <a:pPr>
                        <a:buNone/>
                      </a:pPr>
                      <a:r>
                        <a:rPr lang="en-US" b="1"/>
                        <a:t>Performance</a:t>
                      </a:r>
                      <a:endParaRPr lang="en-US"/>
                    </a:p>
                  </a:txBody>
                  <a:tcPr anchor="ctr">
                    <a:lnL>
                      <a:noFill/>
                    </a:lnL>
                    <a:lnR>
                      <a:noFill/>
                    </a:lnR>
                    <a:lnT>
                      <a:noFill/>
                    </a:lnT>
                    <a:lnB>
                      <a:noFill/>
                    </a:lnB>
                    <a:noFill/>
                  </a:tcPr>
                </a:tc>
                <a:tc>
                  <a:txBody>
                    <a:bodyPr/>
                    <a:lstStyle/>
                    <a:p>
                      <a:pPr>
                        <a:buNone/>
                      </a:pPr>
                      <a:r>
                        <a:rPr lang="en-US"/>
                        <a:t>Faster (decisions already made)</a:t>
                      </a:r>
                    </a:p>
                  </a:txBody>
                  <a:tcPr anchor="ctr">
                    <a:lnL>
                      <a:noFill/>
                    </a:lnL>
                    <a:lnR>
                      <a:noFill/>
                    </a:lnR>
                    <a:lnT>
                      <a:noFill/>
                    </a:lnT>
                    <a:lnB>
                      <a:noFill/>
                    </a:lnB>
                    <a:noFill/>
                  </a:tcPr>
                </a:tc>
                <a:tc>
                  <a:txBody>
                    <a:bodyPr/>
                    <a:lstStyle/>
                    <a:p>
                      <a:pPr>
                        <a:buNone/>
                      </a:pPr>
                      <a:r>
                        <a:rPr lang="en-US" dirty="0"/>
                        <a:t>Slightly slower (decisions made at runtime)</a:t>
                      </a:r>
                    </a:p>
                  </a:txBody>
                  <a:tcPr anchor="ctr">
                    <a:lnL>
                      <a:noFill/>
                    </a:lnL>
                    <a:lnR>
                      <a:noFill/>
                    </a:lnR>
                    <a:lnT>
                      <a:noFill/>
                    </a:lnT>
                    <a:lnB>
                      <a:noFill/>
                    </a:lnB>
                    <a:noFill/>
                  </a:tcPr>
                </a:tc>
                <a:extLst>
                  <a:ext uri="{0D108BD9-81ED-4DB2-BD59-A6C34878D82A}">
                    <a16:rowId xmlns:a16="http://schemas.microsoft.com/office/drawing/2014/main" val="872880810"/>
                  </a:ext>
                </a:extLst>
              </a:tr>
            </a:tbl>
          </a:graphicData>
        </a:graphic>
      </p:graphicFrame>
      <p:sp>
        <p:nvSpPr>
          <p:cNvPr id="4" name="TextBox 3">
            <a:extLst>
              <a:ext uri="{FF2B5EF4-FFF2-40B4-BE49-F238E27FC236}">
                <a16:creationId xmlns:a16="http://schemas.microsoft.com/office/drawing/2014/main" id="{E163C03F-330C-156D-BFD9-4D920F5BFE75}"/>
              </a:ext>
            </a:extLst>
          </p:cNvPr>
          <p:cNvSpPr txBox="1"/>
          <p:nvPr/>
        </p:nvSpPr>
        <p:spPr>
          <a:xfrm>
            <a:off x="2435839" y="875980"/>
            <a:ext cx="6710081" cy="369332"/>
          </a:xfrm>
          <a:prstGeom prst="rect">
            <a:avLst/>
          </a:prstGeom>
          <a:noFill/>
        </p:spPr>
        <p:txBody>
          <a:bodyPr wrap="square">
            <a:spAutoFit/>
          </a:bodyPr>
          <a:lstStyle/>
          <a:p>
            <a:pPr>
              <a:buNone/>
            </a:pPr>
            <a:r>
              <a:rPr lang="en-US" b="1" dirty="0"/>
              <a:t> Key Differences between compile time and run time</a:t>
            </a:r>
          </a:p>
        </p:txBody>
      </p:sp>
    </p:spTree>
    <p:extLst>
      <p:ext uri="{BB962C8B-B14F-4D97-AF65-F5344CB8AC3E}">
        <p14:creationId xmlns:p14="http://schemas.microsoft.com/office/powerpoint/2010/main" val="227575573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9A2D1BD-F13E-3018-EF63-674DDF9280FB}"/>
              </a:ext>
            </a:extLst>
          </p:cNvPr>
          <p:cNvSpPr txBox="1"/>
          <p:nvPr/>
        </p:nvSpPr>
        <p:spPr>
          <a:xfrm>
            <a:off x="599355" y="1029660"/>
            <a:ext cx="10619334" cy="3816637"/>
          </a:xfrm>
          <a:prstGeom prst="rect">
            <a:avLst/>
          </a:prstGeom>
          <a:noFill/>
        </p:spPr>
        <p:txBody>
          <a:bodyPr wrap="square">
            <a:spAutoFit/>
          </a:bodyPr>
          <a:lstStyle/>
          <a:p>
            <a:pPr>
              <a:buNone/>
            </a:pPr>
            <a:r>
              <a:rPr lang="en-US" b="1" dirty="0"/>
              <a:t>1. Static</a:t>
            </a:r>
          </a:p>
          <a:p>
            <a:pPr>
              <a:buNone/>
            </a:pPr>
            <a:r>
              <a:rPr lang="en-US" b="1" dirty="0"/>
              <a:t>Definition:</a:t>
            </a:r>
            <a:endParaRPr lang="en-US" dirty="0"/>
          </a:p>
          <a:p>
            <a:pPr>
              <a:buFont typeface="Arial" panose="020B0604020202020204" pitchFamily="34" charset="0"/>
              <a:buChar char="•"/>
            </a:pPr>
            <a:r>
              <a:rPr lang="en-US" b="1" dirty="0"/>
              <a:t>Fixed at compile-time</a:t>
            </a:r>
            <a:r>
              <a:rPr lang="en-US" dirty="0"/>
              <a:t> </a:t>
            </a:r>
          </a:p>
          <a:p>
            <a:pPr>
              <a:buFont typeface="Arial" panose="020B0604020202020204" pitchFamily="34" charset="0"/>
              <a:buChar char="•"/>
            </a:pPr>
            <a:r>
              <a:rPr lang="en-US" dirty="0"/>
              <a:t>Known before the program runs </a:t>
            </a:r>
          </a:p>
          <a:p>
            <a:pPr>
              <a:buFont typeface="Arial" panose="020B0604020202020204" pitchFamily="34" charset="0"/>
              <a:buChar char="•"/>
            </a:pPr>
            <a:r>
              <a:rPr lang="en-US" dirty="0"/>
              <a:t>Decisions, memory allocation, or behavior is </a:t>
            </a:r>
            <a:r>
              <a:rPr lang="en-US" b="1" dirty="0"/>
              <a:t>determined in advance</a:t>
            </a:r>
            <a:r>
              <a:rPr lang="en-US" dirty="0"/>
              <a:t> </a:t>
            </a:r>
          </a:p>
          <a:p>
            <a:pPr>
              <a:buNone/>
            </a:pPr>
            <a:r>
              <a:rPr lang="en-US" b="1" dirty="0"/>
              <a:t>Key Points:</a:t>
            </a:r>
            <a:endParaRPr lang="en-US" dirty="0"/>
          </a:p>
          <a:p>
            <a:pPr>
              <a:buFont typeface="Arial" panose="020B0604020202020204" pitchFamily="34" charset="0"/>
              <a:buChar char="•"/>
            </a:pPr>
            <a:r>
              <a:rPr lang="en-US" dirty="0"/>
              <a:t>Faster execution </a:t>
            </a:r>
          </a:p>
          <a:p>
            <a:pPr>
              <a:buFont typeface="Arial" panose="020B0604020202020204" pitchFamily="34" charset="0"/>
              <a:buChar char="•"/>
            </a:pPr>
            <a:r>
              <a:rPr lang="en-US" dirty="0"/>
              <a:t>Less flexible </a:t>
            </a:r>
          </a:p>
          <a:p>
            <a:pPr>
              <a:buFont typeface="Arial" panose="020B0604020202020204" pitchFamily="34" charset="0"/>
              <a:buChar char="•"/>
            </a:pPr>
            <a:r>
              <a:rPr lang="en-US" dirty="0"/>
              <a:t>Used in </a:t>
            </a:r>
            <a:r>
              <a:rPr lang="en-US" b="1" dirty="0"/>
              <a:t>Compile-Time Polymorphism</a:t>
            </a:r>
            <a:r>
              <a:rPr lang="en-US" dirty="0"/>
              <a:t>, constants, static variables </a:t>
            </a:r>
          </a:p>
          <a:p>
            <a:pPr>
              <a:buNone/>
            </a:pPr>
            <a:r>
              <a:rPr lang="en-US" b="1" dirty="0"/>
              <a:t>Example:</a:t>
            </a:r>
            <a:endParaRPr lang="en-US" dirty="0"/>
          </a:p>
          <a:p>
            <a:pPr rtl="0">
              <a:buNone/>
            </a:pPr>
            <a:r>
              <a:rPr lang="en-US" dirty="0">
                <a:latin typeface="Courier New" panose="02070309020205020404" pitchFamily="49" charset="0"/>
              </a:rPr>
              <a:t>int add(int a, int b); // Compiler knows which function to call</a:t>
            </a:r>
          </a:p>
          <a:p>
            <a:pPr>
              <a:buNone/>
            </a:pPr>
            <a:r>
              <a:rPr lang="en-US" b="1" dirty="0"/>
              <a:t>Analogy:</a:t>
            </a:r>
            <a:endParaRPr lang="en-US" dirty="0"/>
          </a:p>
          <a:p>
            <a:pPr>
              <a:buFont typeface="Arial" panose="020B0604020202020204" pitchFamily="34" charset="0"/>
              <a:buChar char="•"/>
            </a:pPr>
            <a:r>
              <a:rPr lang="en-US" dirty="0"/>
              <a:t>Like </a:t>
            </a:r>
            <a:r>
              <a:rPr lang="en-US" b="1" dirty="0"/>
              <a:t>pre-booking a movie ticket</a:t>
            </a:r>
            <a:r>
              <a:rPr lang="en-US" dirty="0"/>
              <a:t> → fixed seat, time known before arriving</a:t>
            </a:r>
          </a:p>
        </p:txBody>
      </p:sp>
    </p:spTree>
    <p:extLst>
      <p:ext uri="{BB962C8B-B14F-4D97-AF65-F5344CB8AC3E}">
        <p14:creationId xmlns:p14="http://schemas.microsoft.com/office/powerpoint/2010/main" val="311605626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7BF7475-4B06-61D8-5331-3F23A4DD1789}"/>
              </a:ext>
            </a:extLst>
          </p:cNvPr>
          <p:cNvSpPr txBox="1"/>
          <p:nvPr/>
        </p:nvSpPr>
        <p:spPr>
          <a:xfrm>
            <a:off x="714615" y="522515"/>
            <a:ext cx="10381130" cy="3970318"/>
          </a:xfrm>
          <a:prstGeom prst="rect">
            <a:avLst/>
          </a:prstGeom>
          <a:noFill/>
        </p:spPr>
        <p:txBody>
          <a:bodyPr wrap="square">
            <a:spAutoFit/>
          </a:bodyPr>
          <a:lstStyle/>
          <a:p>
            <a:pPr>
              <a:buNone/>
            </a:pPr>
            <a:r>
              <a:rPr lang="en-US" b="1" dirty="0"/>
              <a:t>. Dynamic</a:t>
            </a:r>
          </a:p>
          <a:p>
            <a:pPr>
              <a:buNone/>
            </a:pPr>
            <a:r>
              <a:rPr lang="en-US" b="1" dirty="0"/>
              <a:t>Definition:</a:t>
            </a:r>
            <a:endParaRPr lang="en-US" dirty="0"/>
          </a:p>
          <a:p>
            <a:pPr>
              <a:buFont typeface="Arial" panose="020B0604020202020204" pitchFamily="34" charset="0"/>
              <a:buChar char="•"/>
            </a:pPr>
            <a:r>
              <a:rPr lang="en-US" b="1" dirty="0"/>
              <a:t>Determined at run-time</a:t>
            </a:r>
            <a:r>
              <a:rPr lang="en-US" dirty="0"/>
              <a:t> </a:t>
            </a:r>
          </a:p>
          <a:p>
            <a:pPr>
              <a:buFont typeface="Arial" panose="020B0604020202020204" pitchFamily="34" charset="0"/>
              <a:buChar char="•"/>
            </a:pPr>
            <a:r>
              <a:rPr lang="en-US" dirty="0"/>
              <a:t>Unknown until the program is running </a:t>
            </a:r>
          </a:p>
          <a:p>
            <a:pPr>
              <a:buFont typeface="Arial" panose="020B0604020202020204" pitchFamily="34" charset="0"/>
              <a:buChar char="•"/>
            </a:pPr>
            <a:r>
              <a:rPr lang="en-US" dirty="0"/>
              <a:t>Behavior or decision can </a:t>
            </a:r>
            <a:r>
              <a:rPr lang="en-US" b="1" dirty="0"/>
              <a:t>change depending on the situation</a:t>
            </a:r>
            <a:r>
              <a:rPr lang="en-US" dirty="0"/>
              <a:t> </a:t>
            </a:r>
          </a:p>
          <a:p>
            <a:pPr>
              <a:buNone/>
            </a:pPr>
            <a:r>
              <a:rPr lang="en-US" b="1" dirty="0"/>
              <a:t>Key Points:</a:t>
            </a:r>
            <a:endParaRPr lang="en-US" dirty="0"/>
          </a:p>
          <a:p>
            <a:pPr>
              <a:buFont typeface="Arial" panose="020B0604020202020204" pitchFamily="34" charset="0"/>
              <a:buChar char="•"/>
            </a:pPr>
            <a:r>
              <a:rPr lang="en-US" dirty="0"/>
              <a:t>Slightly slower </a:t>
            </a:r>
          </a:p>
          <a:p>
            <a:pPr>
              <a:buFont typeface="Arial" panose="020B0604020202020204" pitchFamily="34" charset="0"/>
              <a:buChar char="•"/>
            </a:pPr>
            <a:r>
              <a:rPr lang="en-US" dirty="0"/>
              <a:t>More flexible </a:t>
            </a:r>
          </a:p>
          <a:p>
            <a:pPr>
              <a:buFont typeface="Arial" panose="020B0604020202020204" pitchFamily="34" charset="0"/>
              <a:buChar char="•"/>
            </a:pPr>
            <a:r>
              <a:rPr lang="en-US" dirty="0"/>
              <a:t>Used in </a:t>
            </a:r>
            <a:r>
              <a:rPr lang="en-US" b="1" dirty="0"/>
              <a:t>Run-Time Polymorphism</a:t>
            </a:r>
            <a:r>
              <a:rPr lang="en-US" dirty="0"/>
              <a:t>, dynamic memory allocation </a:t>
            </a:r>
          </a:p>
          <a:p>
            <a:pPr>
              <a:buNone/>
            </a:pPr>
            <a:r>
              <a:rPr lang="en-US" b="1" dirty="0"/>
              <a:t>Example:</a:t>
            </a:r>
            <a:endParaRPr lang="en-US" dirty="0"/>
          </a:p>
          <a:p>
            <a:pPr rtl="0">
              <a:buNone/>
            </a:pPr>
            <a:r>
              <a:rPr lang="en-US" dirty="0">
                <a:latin typeface="Courier New" panose="02070309020205020404" pitchFamily="49" charset="0"/>
              </a:rPr>
              <a:t>Animal *a = new Dog();</a:t>
            </a:r>
            <a:br>
              <a:rPr lang="en-US" dirty="0">
                <a:latin typeface="Courier New" panose="02070309020205020404" pitchFamily="49" charset="0"/>
              </a:rPr>
            </a:br>
            <a:r>
              <a:rPr lang="en-US" dirty="0">
                <a:latin typeface="Courier New" panose="02070309020205020404" pitchFamily="49" charset="0"/>
              </a:rPr>
              <a:t>a-&gt;sound(); // Decision of which sound() executes happens at runtime</a:t>
            </a:r>
          </a:p>
          <a:p>
            <a:pPr>
              <a:buNone/>
            </a:pPr>
            <a:r>
              <a:rPr lang="en-US" b="1" dirty="0"/>
              <a:t>Analogy:</a:t>
            </a:r>
            <a:endParaRPr lang="en-US" dirty="0"/>
          </a:p>
          <a:p>
            <a:pPr>
              <a:buFont typeface="Arial" panose="020B0604020202020204" pitchFamily="34" charset="0"/>
              <a:buChar char="•"/>
            </a:pPr>
            <a:r>
              <a:rPr lang="en-US" dirty="0"/>
              <a:t>Like </a:t>
            </a:r>
            <a:r>
              <a:rPr lang="en-US" b="1" dirty="0"/>
              <a:t>choosing a taxi on the spot</a:t>
            </a:r>
            <a:r>
              <a:rPr lang="en-US" dirty="0"/>
              <a:t> → decision depends on availability</a:t>
            </a:r>
          </a:p>
        </p:txBody>
      </p:sp>
    </p:spTree>
    <p:extLst>
      <p:ext uri="{BB962C8B-B14F-4D97-AF65-F5344CB8AC3E}">
        <p14:creationId xmlns:p14="http://schemas.microsoft.com/office/powerpoint/2010/main" val="43866052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4241F-7F87-2DE8-6425-4417B6C47997}"/>
              </a:ext>
            </a:extLst>
          </p:cNvPr>
          <p:cNvSpPr>
            <a:spLocks noGrp="1"/>
          </p:cNvSpPr>
          <p:nvPr>
            <p:ph type="title"/>
          </p:nvPr>
        </p:nvSpPr>
        <p:spPr>
          <a:xfrm>
            <a:off x="1069848" y="484632"/>
            <a:ext cx="10058400" cy="591133"/>
          </a:xfrm>
        </p:spPr>
        <p:txBody>
          <a:bodyPr>
            <a:normAutofit fontScale="90000"/>
          </a:bodyPr>
          <a:lstStyle/>
          <a:p>
            <a:r>
              <a:rPr lang="en-US" dirty="0"/>
              <a:t>Object-oriented design(</a:t>
            </a:r>
            <a:r>
              <a:rPr lang="en-US" dirty="0" err="1"/>
              <a:t>ood</a:t>
            </a:r>
            <a:r>
              <a:rPr lang="en-US" dirty="0"/>
              <a:t>) process</a:t>
            </a:r>
          </a:p>
        </p:txBody>
      </p:sp>
      <p:sp>
        <p:nvSpPr>
          <p:cNvPr id="3" name="Content Placeholder 2">
            <a:extLst>
              <a:ext uri="{FF2B5EF4-FFF2-40B4-BE49-F238E27FC236}">
                <a16:creationId xmlns:a16="http://schemas.microsoft.com/office/drawing/2014/main" id="{3ECF6A65-4BC4-DFF9-621F-6A9C1315A911}"/>
              </a:ext>
            </a:extLst>
          </p:cNvPr>
          <p:cNvSpPr>
            <a:spLocks noGrp="1"/>
          </p:cNvSpPr>
          <p:nvPr>
            <p:ph idx="1"/>
          </p:nvPr>
        </p:nvSpPr>
        <p:spPr>
          <a:xfrm>
            <a:off x="1069848" y="1075765"/>
            <a:ext cx="10058400" cy="5096435"/>
          </a:xfrm>
        </p:spPr>
        <p:txBody>
          <a:bodyPr/>
          <a:lstStyle/>
          <a:p>
            <a:r>
              <a:rPr lang="en-US" dirty="0"/>
              <a:t>The </a:t>
            </a:r>
            <a:r>
              <a:rPr lang="en-US" b="1" dirty="0"/>
              <a:t>Object-Oriented Design (OOD) process</a:t>
            </a:r>
            <a:r>
              <a:rPr lang="en-US" dirty="0"/>
              <a:t> is a step-by-step way to design software using </a:t>
            </a:r>
            <a:r>
              <a:rPr lang="en-US" b="1" dirty="0"/>
              <a:t>objects, classes, and their interactions</a:t>
            </a:r>
            <a:r>
              <a:rPr lang="en-US" dirty="0"/>
              <a:t>.</a:t>
            </a:r>
          </a:p>
          <a:p>
            <a:r>
              <a:rPr lang="en-US" b="1" dirty="0"/>
              <a:t>1. What is OOP Design Process?</a:t>
            </a:r>
          </a:p>
          <a:p>
            <a:r>
              <a:rPr lang="en-US" dirty="0"/>
              <a:t>It is the </a:t>
            </a:r>
            <a:r>
              <a:rPr lang="en-US" b="1" dirty="0"/>
              <a:t>method of converting a problem (requirements)</a:t>
            </a:r>
            <a:r>
              <a:rPr lang="en-US" dirty="0"/>
              <a:t> into a </a:t>
            </a:r>
            <a:r>
              <a:rPr lang="en-US" b="1" dirty="0"/>
              <a:t>structured design using classes and objects</a:t>
            </a:r>
            <a:r>
              <a:rPr lang="en-US" dirty="0"/>
              <a:t> before coding.</a:t>
            </a:r>
          </a:p>
          <a:p>
            <a:r>
              <a:rPr lang="en-US" b="1" dirty="0"/>
              <a:t>OOP Design Process is the systematic approach of identifying classes, objects, their attributes, methods, and relationships to model a problem before implementation.</a:t>
            </a:r>
            <a:endParaRPr lang="en-US" dirty="0"/>
          </a:p>
          <a:p>
            <a:endParaRPr lang="en-US" dirty="0"/>
          </a:p>
          <a:p>
            <a:r>
              <a:rPr lang="en-US" dirty="0"/>
              <a:t>👉 In simple words:</a:t>
            </a:r>
            <a:br>
              <a:rPr lang="en-US" dirty="0"/>
            </a:br>
            <a:r>
              <a:rPr lang="en-US" b="1" dirty="0"/>
              <a:t>Problem → Objects → Classes → Relationships → Code</a:t>
            </a:r>
            <a:endParaRPr lang="en-US" dirty="0"/>
          </a:p>
          <a:p>
            <a:endParaRPr lang="en-US" dirty="0"/>
          </a:p>
        </p:txBody>
      </p:sp>
    </p:spTree>
    <p:extLst>
      <p:ext uri="{BB962C8B-B14F-4D97-AF65-F5344CB8AC3E}">
        <p14:creationId xmlns:p14="http://schemas.microsoft.com/office/powerpoint/2010/main" val="374927471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A259A-13EF-313E-ADFF-4693C5F5F1FB}"/>
              </a:ext>
            </a:extLst>
          </p:cNvPr>
          <p:cNvSpPr>
            <a:spLocks noGrp="1"/>
          </p:cNvSpPr>
          <p:nvPr>
            <p:ph type="title"/>
          </p:nvPr>
        </p:nvSpPr>
        <p:spPr>
          <a:xfrm>
            <a:off x="1069848" y="484632"/>
            <a:ext cx="10058400" cy="606501"/>
          </a:xfrm>
        </p:spPr>
        <p:txBody>
          <a:bodyPr>
            <a:normAutofit fontScale="90000"/>
          </a:bodyPr>
          <a:lstStyle/>
          <a:p>
            <a:r>
              <a:rPr lang="en-US" dirty="0"/>
              <a:t>🔷 Steps of OOP Design Process</a:t>
            </a:r>
          </a:p>
        </p:txBody>
      </p:sp>
      <p:sp>
        <p:nvSpPr>
          <p:cNvPr id="5" name="Rectangle 2">
            <a:extLst>
              <a:ext uri="{FF2B5EF4-FFF2-40B4-BE49-F238E27FC236}">
                <a16:creationId xmlns:a16="http://schemas.microsoft.com/office/drawing/2014/main" id="{D4E143C0-4B6A-1896-3E64-4EFF89870D32}"/>
              </a:ext>
            </a:extLst>
          </p:cNvPr>
          <p:cNvSpPr>
            <a:spLocks noGrp="1" noChangeArrowheads="1"/>
          </p:cNvSpPr>
          <p:nvPr>
            <p:ph idx="1"/>
          </p:nvPr>
        </p:nvSpPr>
        <p:spPr bwMode="auto">
          <a:xfrm>
            <a:off x="1069975" y="1888463"/>
            <a:ext cx="10484716" cy="26161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indent="0" eaLnBrk="0" fontAlgn="base" hangingPunct="0">
              <a:lnSpc>
                <a:spcPct val="100000"/>
              </a:lnSpc>
              <a:spcBef>
                <a:spcPct val="0"/>
              </a:spcBef>
              <a:spcAft>
                <a:spcPct val="0"/>
              </a:spcAft>
              <a:buClrTx/>
              <a:buSzTx/>
              <a:buFontTx/>
              <a:buChar char="•"/>
            </a:pPr>
            <a:r>
              <a:rPr lang="en-US" altLang="en-US" sz="1800" dirty="0">
                <a:latin typeface="Arial" panose="020B0604020202020204" pitchFamily="34" charset="0"/>
              </a:rPr>
              <a:t>Requirement Analysis </a:t>
            </a:r>
            <a:r>
              <a:rPr lang="en-US" sz="1800" dirty="0"/>
              <a:t>→ understand the problem</a:t>
            </a:r>
            <a:endParaRPr lang="en-US" altLang="en-US" sz="1800" dirty="0">
              <a:latin typeface="Arial" panose="020B0604020202020204" pitchFamily="34" charset="0"/>
            </a:endParaRPr>
          </a:p>
          <a:p>
            <a:pPr marL="0" lvl="0" indent="0" eaLnBrk="0" fontAlgn="base"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Identify Classes &amp; Objects →</a:t>
            </a:r>
            <a:r>
              <a:rPr lang="en-US" sz="1800" dirty="0"/>
              <a:t>main entities</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lvl="0" indent="0" eaLnBrk="0" fontAlgn="base"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Identify Attributes </a:t>
            </a:r>
            <a:r>
              <a:rPr lang="en-US" sz="1800" dirty="0"/>
              <a:t>→ data members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Identify Methods </a:t>
            </a:r>
            <a:r>
              <a:rPr lang="en-US" sz="1800" dirty="0"/>
              <a:t>→ actions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Define Relationships </a:t>
            </a:r>
            <a:r>
              <a:rPr lang="en-US" sz="1800" dirty="0"/>
              <a:t>→ how classes connect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Design UML Diagram </a:t>
            </a:r>
            <a:r>
              <a:rPr lang="en-US" sz="1800" dirty="0"/>
              <a:t>→ structure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Implementation (Coding) </a:t>
            </a:r>
            <a:r>
              <a:rPr lang="en-US" sz="1800" dirty="0"/>
              <a:t>→ coding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Testing &amp; Refinement </a:t>
            </a:r>
            <a:r>
              <a:rPr lang="en-US" sz="1800" dirty="0"/>
              <a:t>→ check &amp; refine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9181703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8635A-9D01-695C-9812-B4B8C4E7E67E}"/>
              </a:ext>
            </a:extLst>
          </p:cNvPr>
          <p:cNvSpPr>
            <a:spLocks noGrp="1"/>
          </p:cNvSpPr>
          <p:nvPr>
            <p:ph type="title"/>
          </p:nvPr>
        </p:nvSpPr>
        <p:spPr>
          <a:xfrm>
            <a:off x="1069848" y="484632"/>
            <a:ext cx="10058400" cy="130510"/>
          </a:xfrm>
        </p:spPr>
        <p:txBody>
          <a:bodyPr>
            <a:normAutofit fontScale="90000"/>
          </a:bodyPr>
          <a:lstStyle/>
          <a:p>
            <a:r>
              <a:rPr lang="en-US" dirty="0"/>
              <a:t>Steps</a:t>
            </a:r>
            <a:br>
              <a:rPr lang="en-US" dirty="0"/>
            </a:br>
            <a:endParaRPr lang="en-US" dirty="0"/>
          </a:p>
        </p:txBody>
      </p:sp>
      <p:sp>
        <p:nvSpPr>
          <p:cNvPr id="3" name="Content Placeholder 2">
            <a:extLst>
              <a:ext uri="{FF2B5EF4-FFF2-40B4-BE49-F238E27FC236}">
                <a16:creationId xmlns:a16="http://schemas.microsoft.com/office/drawing/2014/main" id="{A1C73ADD-1B05-88B3-EDA4-41892FF427D7}"/>
              </a:ext>
            </a:extLst>
          </p:cNvPr>
          <p:cNvSpPr>
            <a:spLocks noGrp="1"/>
          </p:cNvSpPr>
          <p:nvPr>
            <p:ph idx="1"/>
          </p:nvPr>
        </p:nvSpPr>
        <p:spPr>
          <a:xfrm>
            <a:off x="1069848" y="748145"/>
            <a:ext cx="10058400" cy="5424055"/>
          </a:xfrm>
        </p:spPr>
        <p:txBody>
          <a:bodyPr>
            <a:normAutofit fontScale="92500" lnSpcReduction="10000"/>
          </a:bodyPr>
          <a:lstStyle/>
          <a:p>
            <a:r>
              <a:rPr lang="en-US" b="1" dirty="0"/>
              <a:t>✅ Step 1: Requirement Analysis</a:t>
            </a:r>
          </a:p>
          <a:p>
            <a:r>
              <a:rPr lang="en-US" dirty="0"/>
              <a:t>Understand the problem carefully </a:t>
            </a:r>
          </a:p>
          <a:p>
            <a:r>
              <a:rPr lang="en-US" dirty="0"/>
              <a:t>Identify: </a:t>
            </a:r>
          </a:p>
          <a:p>
            <a:pPr lvl="1"/>
            <a:r>
              <a:rPr lang="en-US" dirty="0"/>
              <a:t>Inputs </a:t>
            </a:r>
          </a:p>
          <a:p>
            <a:pPr lvl="1"/>
            <a:r>
              <a:rPr lang="en-US" dirty="0"/>
              <a:t>Outputs </a:t>
            </a:r>
          </a:p>
          <a:p>
            <a:pPr lvl="1"/>
            <a:r>
              <a:rPr lang="en-US" dirty="0"/>
              <a:t>Constraints </a:t>
            </a:r>
          </a:p>
          <a:p>
            <a:r>
              <a:rPr lang="en-US" dirty="0"/>
              <a:t>👉 Example: Library system → books, users, issue system</a:t>
            </a:r>
          </a:p>
          <a:p>
            <a:br>
              <a:rPr lang="en-US" dirty="0"/>
            </a:br>
            <a:endParaRPr lang="en-US" dirty="0"/>
          </a:p>
          <a:p>
            <a:r>
              <a:rPr lang="en-US" b="1" dirty="0"/>
              <a:t>✅ Step 2: Identify Classes &amp; Objects</a:t>
            </a:r>
          </a:p>
          <a:p>
            <a:r>
              <a:rPr lang="en-US" dirty="0"/>
              <a:t>Extract </a:t>
            </a:r>
            <a:r>
              <a:rPr lang="en-US" b="1" dirty="0"/>
              <a:t>nouns</a:t>
            </a:r>
            <a:r>
              <a:rPr lang="en-US" dirty="0"/>
              <a:t> from the problem → usually classes </a:t>
            </a:r>
          </a:p>
          <a:p>
            <a:r>
              <a:rPr lang="en-US" dirty="0"/>
              <a:t>👉 Example:</a:t>
            </a:r>
          </a:p>
          <a:p>
            <a:r>
              <a:rPr lang="en-US" dirty="0"/>
              <a:t>Book</a:t>
            </a:r>
          </a:p>
          <a:p>
            <a:r>
              <a:rPr lang="en-US" dirty="0"/>
              <a:t>Student</a:t>
            </a:r>
          </a:p>
          <a:p>
            <a:r>
              <a:rPr lang="en-US" dirty="0"/>
              <a:t>Librarian</a:t>
            </a:r>
          </a:p>
          <a:p>
            <a:pPr marL="0" indent="0">
              <a:buNone/>
            </a:pPr>
            <a:endParaRPr lang="en-US" dirty="0"/>
          </a:p>
          <a:p>
            <a:endParaRPr lang="en-US" dirty="0"/>
          </a:p>
        </p:txBody>
      </p:sp>
    </p:spTree>
    <p:extLst>
      <p:ext uri="{BB962C8B-B14F-4D97-AF65-F5344CB8AC3E}">
        <p14:creationId xmlns:p14="http://schemas.microsoft.com/office/powerpoint/2010/main" val="248215637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12B09-F928-DC9C-89AA-2171F6F2DB32}"/>
              </a:ext>
            </a:extLst>
          </p:cNvPr>
          <p:cNvSpPr>
            <a:spLocks noGrp="1"/>
          </p:cNvSpPr>
          <p:nvPr>
            <p:ph type="title"/>
          </p:nvPr>
        </p:nvSpPr>
        <p:spPr>
          <a:xfrm>
            <a:off x="1069848" y="484632"/>
            <a:ext cx="10058400" cy="546146"/>
          </a:xfrm>
        </p:spPr>
        <p:txBody>
          <a:bodyPr>
            <a:normAutofit fontScale="90000"/>
          </a:bodyPr>
          <a:lstStyle/>
          <a:p>
            <a:r>
              <a:rPr lang="en-US" dirty="0"/>
              <a:t>…</a:t>
            </a:r>
          </a:p>
        </p:txBody>
      </p:sp>
      <p:sp>
        <p:nvSpPr>
          <p:cNvPr id="3" name="Content Placeholder 2">
            <a:extLst>
              <a:ext uri="{FF2B5EF4-FFF2-40B4-BE49-F238E27FC236}">
                <a16:creationId xmlns:a16="http://schemas.microsoft.com/office/drawing/2014/main" id="{B03EEEF7-D348-02BF-E578-D6EA765EE6C4}"/>
              </a:ext>
            </a:extLst>
          </p:cNvPr>
          <p:cNvSpPr>
            <a:spLocks noGrp="1"/>
          </p:cNvSpPr>
          <p:nvPr>
            <p:ph idx="1"/>
          </p:nvPr>
        </p:nvSpPr>
        <p:spPr>
          <a:xfrm>
            <a:off x="1069848" y="1188720"/>
            <a:ext cx="10058400" cy="4983480"/>
          </a:xfrm>
        </p:spPr>
        <p:txBody>
          <a:bodyPr/>
          <a:lstStyle/>
          <a:p>
            <a:r>
              <a:rPr lang="en-US" b="1" dirty="0"/>
              <a:t>✅ Step 3: Identify Attributes (Data Members)</a:t>
            </a:r>
          </a:p>
          <a:p>
            <a:r>
              <a:rPr lang="en-US" dirty="0"/>
              <a:t>What data each class will store </a:t>
            </a:r>
          </a:p>
          <a:p>
            <a:r>
              <a:rPr lang="en-US" dirty="0"/>
              <a:t>👉 Example:</a:t>
            </a:r>
          </a:p>
          <a:p>
            <a:r>
              <a:rPr lang="en-US" dirty="0"/>
              <a:t>Book → title, author, price </a:t>
            </a:r>
          </a:p>
          <a:p>
            <a:r>
              <a:rPr lang="en-US" dirty="0"/>
              <a:t>Student → name, ID </a:t>
            </a:r>
          </a:p>
          <a:p>
            <a:br>
              <a:rPr lang="en-US" dirty="0"/>
            </a:br>
            <a:endParaRPr lang="en-US" dirty="0"/>
          </a:p>
          <a:p>
            <a:r>
              <a:rPr lang="en-US" b="1" dirty="0"/>
              <a:t>✅ Step 4: Identify Methods (Functions)</a:t>
            </a:r>
          </a:p>
          <a:p>
            <a:r>
              <a:rPr lang="en-US" dirty="0"/>
              <a:t>What actions each class can perform </a:t>
            </a:r>
          </a:p>
          <a:p>
            <a:r>
              <a:rPr lang="en-US" dirty="0"/>
              <a:t>👉 Example:</a:t>
            </a:r>
          </a:p>
          <a:p>
            <a:r>
              <a:rPr lang="en-US" dirty="0"/>
              <a:t>Book → </a:t>
            </a:r>
            <a:r>
              <a:rPr lang="en-US" dirty="0" err="1"/>
              <a:t>displayDetails</a:t>
            </a:r>
            <a:r>
              <a:rPr lang="en-US" dirty="0"/>
              <a:t>() </a:t>
            </a:r>
          </a:p>
          <a:p>
            <a:r>
              <a:rPr lang="en-US" dirty="0"/>
              <a:t>Student → </a:t>
            </a:r>
            <a:r>
              <a:rPr lang="en-US" dirty="0" err="1"/>
              <a:t>borrowBook</a:t>
            </a:r>
            <a:r>
              <a:rPr lang="en-US" dirty="0"/>
              <a:t>()</a:t>
            </a:r>
          </a:p>
          <a:p>
            <a:endParaRPr lang="en-US" dirty="0"/>
          </a:p>
        </p:txBody>
      </p:sp>
    </p:spTree>
    <p:extLst>
      <p:ext uri="{BB962C8B-B14F-4D97-AF65-F5344CB8AC3E}">
        <p14:creationId xmlns:p14="http://schemas.microsoft.com/office/powerpoint/2010/main" val="281401886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7C978-187B-7A9B-9F9D-0DB6327F25E2}"/>
              </a:ext>
            </a:extLst>
          </p:cNvPr>
          <p:cNvSpPr>
            <a:spLocks noGrp="1"/>
          </p:cNvSpPr>
          <p:nvPr>
            <p:ph type="title"/>
          </p:nvPr>
        </p:nvSpPr>
        <p:spPr>
          <a:xfrm>
            <a:off x="1069848" y="484632"/>
            <a:ext cx="10058400" cy="479644"/>
          </a:xfrm>
        </p:spPr>
        <p:txBody>
          <a:bodyPr>
            <a:normAutofit fontScale="90000"/>
          </a:bodyPr>
          <a:lstStyle/>
          <a:p>
            <a:r>
              <a:rPr lang="en-US" dirty="0"/>
              <a:t>…</a:t>
            </a:r>
          </a:p>
        </p:txBody>
      </p:sp>
      <p:sp>
        <p:nvSpPr>
          <p:cNvPr id="3" name="Content Placeholder 2">
            <a:extLst>
              <a:ext uri="{FF2B5EF4-FFF2-40B4-BE49-F238E27FC236}">
                <a16:creationId xmlns:a16="http://schemas.microsoft.com/office/drawing/2014/main" id="{894AAFA0-B65B-5C04-B994-876B41A58CCD}"/>
              </a:ext>
            </a:extLst>
          </p:cNvPr>
          <p:cNvSpPr>
            <a:spLocks noGrp="1"/>
          </p:cNvSpPr>
          <p:nvPr>
            <p:ph idx="1"/>
          </p:nvPr>
        </p:nvSpPr>
        <p:spPr>
          <a:xfrm>
            <a:off x="1069848" y="1205345"/>
            <a:ext cx="10058400" cy="4966855"/>
          </a:xfrm>
        </p:spPr>
        <p:txBody>
          <a:bodyPr>
            <a:normAutofit fontScale="85000" lnSpcReduction="20000"/>
          </a:bodyPr>
          <a:lstStyle/>
          <a:p>
            <a:r>
              <a:rPr lang="en-US" b="1" dirty="0"/>
              <a:t>✅ Step 5: Define Relationships</a:t>
            </a:r>
          </a:p>
          <a:p>
            <a:r>
              <a:rPr lang="en-US" dirty="0"/>
              <a:t>How classes are connected </a:t>
            </a:r>
          </a:p>
          <a:p>
            <a:r>
              <a:rPr lang="en-US" dirty="0"/>
              <a:t>Types:</a:t>
            </a:r>
          </a:p>
          <a:p>
            <a:r>
              <a:rPr lang="en-US" b="1" dirty="0"/>
              <a:t>Association</a:t>
            </a:r>
            <a:r>
              <a:rPr lang="en-US" dirty="0"/>
              <a:t> → Student borrows Book </a:t>
            </a:r>
          </a:p>
          <a:p>
            <a:r>
              <a:rPr lang="en-US" b="1" dirty="0"/>
              <a:t>Inheritance</a:t>
            </a:r>
            <a:r>
              <a:rPr lang="en-US" dirty="0"/>
              <a:t> → Student &amp; Teacher → Person </a:t>
            </a:r>
          </a:p>
          <a:p>
            <a:r>
              <a:rPr lang="en-US" b="1" dirty="0"/>
              <a:t>Aggregation/Composition</a:t>
            </a:r>
            <a:r>
              <a:rPr lang="en-US" dirty="0"/>
              <a:t> → Library has Books </a:t>
            </a:r>
          </a:p>
          <a:p>
            <a:br>
              <a:rPr lang="en-US" dirty="0"/>
            </a:br>
            <a:endParaRPr lang="en-US" dirty="0"/>
          </a:p>
          <a:p>
            <a:r>
              <a:rPr lang="en-US" b="1" dirty="0"/>
              <a:t>✅ Step 6: Design Class Diagram</a:t>
            </a:r>
          </a:p>
          <a:p>
            <a:r>
              <a:rPr lang="en-US" dirty="0"/>
              <a:t>Draw structure (like UML diagram) </a:t>
            </a:r>
          </a:p>
          <a:p>
            <a:r>
              <a:rPr lang="en-US" dirty="0"/>
              <a:t>👉 Shows:</a:t>
            </a:r>
          </a:p>
          <a:p>
            <a:r>
              <a:rPr lang="en-US" dirty="0"/>
              <a:t>Classes </a:t>
            </a:r>
          </a:p>
          <a:p>
            <a:r>
              <a:rPr lang="en-US" dirty="0"/>
              <a:t>Attributes </a:t>
            </a:r>
          </a:p>
          <a:p>
            <a:r>
              <a:rPr lang="en-US" dirty="0"/>
              <a:t>Methods </a:t>
            </a:r>
          </a:p>
          <a:p>
            <a:r>
              <a:rPr lang="en-US" dirty="0"/>
              <a:t>Relationships </a:t>
            </a:r>
          </a:p>
          <a:p>
            <a:endParaRPr lang="en-US" dirty="0"/>
          </a:p>
        </p:txBody>
      </p:sp>
    </p:spTree>
    <p:extLst>
      <p:ext uri="{BB962C8B-B14F-4D97-AF65-F5344CB8AC3E}">
        <p14:creationId xmlns:p14="http://schemas.microsoft.com/office/powerpoint/2010/main" val="345889817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F4830-50C4-2803-400D-CCB1936B994C}"/>
              </a:ext>
            </a:extLst>
          </p:cNvPr>
          <p:cNvSpPr>
            <a:spLocks noGrp="1"/>
          </p:cNvSpPr>
          <p:nvPr>
            <p:ph type="title"/>
          </p:nvPr>
        </p:nvSpPr>
        <p:spPr>
          <a:xfrm>
            <a:off x="1069848" y="484632"/>
            <a:ext cx="10058400" cy="596023"/>
          </a:xfrm>
        </p:spPr>
        <p:txBody>
          <a:bodyPr>
            <a:normAutofit fontScale="90000"/>
          </a:bodyPr>
          <a:lstStyle/>
          <a:p>
            <a:r>
              <a:rPr lang="en-US" dirty="0"/>
              <a:t>…</a:t>
            </a:r>
          </a:p>
        </p:txBody>
      </p:sp>
      <p:sp>
        <p:nvSpPr>
          <p:cNvPr id="3" name="Content Placeholder 2">
            <a:extLst>
              <a:ext uri="{FF2B5EF4-FFF2-40B4-BE49-F238E27FC236}">
                <a16:creationId xmlns:a16="http://schemas.microsoft.com/office/drawing/2014/main" id="{9C9E6224-5E80-27E2-FB13-B2D10BCBB5E1}"/>
              </a:ext>
            </a:extLst>
          </p:cNvPr>
          <p:cNvSpPr>
            <a:spLocks noGrp="1"/>
          </p:cNvSpPr>
          <p:nvPr>
            <p:ph idx="1"/>
          </p:nvPr>
        </p:nvSpPr>
        <p:spPr>
          <a:xfrm>
            <a:off x="1069848" y="1197033"/>
            <a:ext cx="10058400" cy="4975167"/>
          </a:xfrm>
        </p:spPr>
        <p:txBody>
          <a:bodyPr/>
          <a:lstStyle/>
          <a:p>
            <a:r>
              <a:rPr lang="en-US" dirty="0"/>
              <a:t>✅</a:t>
            </a:r>
            <a:r>
              <a:rPr lang="en-US" b="1" dirty="0"/>
              <a:t>Step 7: Implement (Coding)</a:t>
            </a:r>
          </a:p>
          <a:p>
            <a:r>
              <a:rPr lang="en-US" dirty="0"/>
              <a:t>Convert design into code (C++, Java, etc.) </a:t>
            </a:r>
          </a:p>
          <a:p>
            <a:br>
              <a:rPr lang="en-US" dirty="0"/>
            </a:br>
            <a:endParaRPr lang="en-US" dirty="0"/>
          </a:p>
          <a:p>
            <a:r>
              <a:rPr lang="en-US" b="1" dirty="0"/>
              <a:t>✅ Step 8: Testing &amp; Refinement</a:t>
            </a:r>
          </a:p>
          <a:p>
            <a:r>
              <a:rPr lang="en-US" dirty="0"/>
              <a:t>Check if design works correctly </a:t>
            </a:r>
          </a:p>
          <a:p>
            <a:r>
              <a:rPr lang="en-US" dirty="0"/>
              <a:t>Improve if needed</a:t>
            </a:r>
          </a:p>
          <a:p>
            <a:endParaRPr lang="en-US" dirty="0"/>
          </a:p>
        </p:txBody>
      </p:sp>
    </p:spTree>
    <p:extLst>
      <p:ext uri="{BB962C8B-B14F-4D97-AF65-F5344CB8AC3E}">
        <p14:creationId xmlns:p14="http://schemas.microsoft.com/office/powerpoint/2010/main" val="286135715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2CD66-EA94-8EB9-FE30-8BD32FF8D46C}"/>
              </a:ext>
            </a:extLst>
          </p:cNvPr>
          <p:cNvSpPr>
            <a:spLocks noGrp="1"/>
          </p:cNvSpPr>
          <p:nvPr>
            <p:ph type="title"/>
          </p:nvPr>
        </p:nvSpPr>
        <p:spPr>
          <a:xfrm>
            <a:off x="1069848" y="484632"/>
            <a:ext cx="10058400" cy="687463"/>
          </a:xfrm>
        </p:spPr>
        <p:txBody>
          <a:bodyPr>
            <a:normAutofit fontScale="90000"/>
          </a:bodyPr>
          <a:lstStyle/>
          <a:p>
            <a:r>
              <a:rPr lang="en-US" dirty="0"/>
              <a:t>Unified modeling language</a:t>
            </a:r>
          </a:p>
        </p:txBody>
      </p:sp>
      <p:sp>
        <p:nvSpPr>
          <p:cNvPr id="3" name="Content Placeholder 2">
            <a:extLst>
              <a:ext uri="{FF2B5EF4-FFF2-40B4-BE49-F238E27FC236}">
                <a16:creationId xmlns:a16="http://schemas.microsoft.com/office/drawing/2014/main" id="{FECC7207-B436-BA19-C382-508DB4059A78}"/>
              </a:ext>
            </a:extLst>
          </p:cNvPr>
          <p:cNvSpPr>
            <a:spLocks noGrp="1"/>
          </p:cNvSpPr>
          <p:nvPr>
            <p:ph idx="1"/>
          </p:nvPr>
        </p:nvSpPr>
        <p:spPr>
          <a:xfrm>
            <a:off x="1069848" y="1454727"/>
            <a:ext cx="10058400" cy="4717473"/>
          </a:xfrm>
        </p:spPr>
        <p:txBody>
          <a:bodyPr>
            <a:normAutofit fontScale="47500" lnSpcReduction="20000"/>
          </a:bodyPr>
          <a:lstStyle/>
          <a:p>
            <a:r>
              <a:rPr lang="en-US" b="1" dirty="0"/>
              <a:t>🔷 What is a UML Class Diagram?</a:t>
            </a:r>
          </a:p>
          <a:p>
            <a:r>
              <a:rPr lang="en-US" dirty="0"/>
              <a:t>A </a:t>
            </a:r>
            <a:r>
              <a:rPr lang="en-US" b="1" dirty="0"/>
              <a:t>UML (Unified Modeling Language) Class Diagram</a:t>
            </a:r>
            <a:r>
              <a:rPr lang="en-US" dirty="0"/>
              <a:t> is a visual representation of:</a:t>
            </a:r>
          </a:p>
          <a:p>
            <a:r>
              <a:rPr lang="en-US" dirty="0"/>
              <a:t>Classes </a:t>
            </a:r>
          </a:p>
          <a:p>
            <a:r>
              <a:rPr lang="en-US" dirty="0"/>
              <a:t>Attributes (data) </a:t>
            </a:r>
          </a:p>
          <a:p>
            <a:r>
              <a:rPr lang="en-US" dirty="0"/>
              <a:t>Methods (functions) </a:t>
            </a:r>
          </a:p>
          <a:p>
            <a:r>
              <a:rPr lang="en-US" dirty="0"/>
              <a:t>Relationships between classes </a:t>
            </a:r>
          </a:p>
          <a:p>
            <a:r>
              <a:rPr lang="en-US" dirty="0"/>
              <a:t>-------------------------</a:t>
            </a:r>
          </a:p>
          <a:p>
            <a:r>
              <a:rPr lang="en-US" dirty="0"/>
              <a:t>|      </a:t>
            </a:r>
            <a:r>
              <a:rPr lang="en-US" dirty="0" err="1"/>
              <a:t>ClassName</a:t>
            </a:r>
            <a:r>
              <a:rPr lang="en-US" dirty="0"/>
              <a:t>        |</a:t>
            </a:r>
          </a:p>
          <a:p>
            <a:r>
              <a:rPr lang="en-US" dirty="0"/>
              <a:t>-------------------------</a:t>
            </a:r>
          </a:p>
          <a:p>
            <a:r>
              <a:rPr lang="en-US" dirty="0"/>
              <a:t>| - attribute1          |</a:t>
            </a:r>
          </a:p>
          <a:p>
            <a:r>
              <a:rPr lang="en-US" dirty="0"/>
              <a:t>| - attribute2          |</a:t>
            </a:r>
          </a:p>
          <a:p>
            <a:r>
              <a:rPr lang="en-US" dirty="0"/>
              <a:t>-------------------------</a:t>
            </a:r>
          </a:p>
          <a:p>
            <a:r>
              <a:rPr lang="en-US" dirty="0"/>
              <a:t>| + method1()           |</a:t>
            </a:r>
          </a:p>
          <a:p>
            <a:r>
              <a:rPr lang="en-US" dirty="0"/>
              <a:t>| + method2()           |</a:t>
            </a:r>
          </a:p>
          <a:p>
            <a:r>
              <a:rPr lang="en-US" dirty="0"/>
              <a:t>-------------------------</a:t>
            </a:r>
          </a:p>
          <a:p>
            <a:r>
              <a:rPr lang="en-US" b="1" dirty="0"/>
              <a:t>Symbols:</a:t>
            </a:r>
          </a:p>
          <a:p>
            <a:r>
              <a:rPr lang="en-US" dirty="0"/>
              <a:t>+ → Public </a:t>
            </a:r>
          </a:p>
          <a:p>
            <a:r>
              <a:rPr lang="en-US" dirty="0"/>
              <a:t>- → Private</a:t>
            </a:r>
          </a:p>
          <a:p>
            <a:endParaRPr lang="en-US" dirty="0"/>
          </a:p>
        </p:txBody>
      </p:sp>
    </p:spTree>
    <p:extLst>
      <p:ext uri="{BB962C8B-B14F-4D97-AF65-F5344CB8AC3E}">
        <p14:creationId xmlns:p14="http://schemas.microsoft.com/office/powerpoint/2010/main" val="324296831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0AF3B8B-D087-5141-6D9A-795E1C66429F}"/>
              </a:ext>
            </a:extLst>
          </p:cNvPr>
          <p:cNvSpPr txBox="1"/>
          <p:nvPr/>
        </p:nvSpPr>
        <p:spPr>
          <a:xfrm>
            <a:off x="2178424" y="2133600"/>
            <a:ext cx="4114800" cy="5355312"/>
          </a:xfrm>
          <a:prstGeom prst="rect">
            <a:avLst/>
          </a:prstGeom>
          <a:noFill/>
        </p:spPr>
        <p:txBody>
          <a:bodyPr wrap="square">
            <a:spAutoFit/>
          </a:bodyPr>
          <a:lstStyle/>
          <a:p>
            <a:pPr algn="l">
              <a:buNone/>
            </a:pPr>
            <a:r>
              <a:rPr lang="en-US" b="0" i="0" dirty="0">
                <a:solidFill>
                  <a:srgbClr val="1D1C1D"/>
                </a:solidFill>
                <a:effectLst/>
                <a:latin typeface="Arial" panose="020B0604020202020204" pitchFamily="34" charset="0"/>
              </a:rPr>
              <a:t>Conceptual Questions (20 Marks)</a:t>
            </a:r>
            <a:br>
              <a:rPr lang="en-US" b="0" i="0" dirty="0">
                <a:solidFill>
                  <a:srgbClr val="1D1C1D"/>
                </a:solidFill>
                <a:effectLst/>
                <a:latin typeface="Slack-Lato"/>
              </a:rPr>
            </a:br>
            <a:r>
              <a:rPr lang="en-US" b="0" i="0" dirty="0">
                <a:solidFill>
                  <a:srgbClr val="1D1C1D"/>
                </a:solidFill>
                <a:effectLst/>
                <a:latin typeface="Arial" panose="020B0604020202020204" pitchFamily="34" charset="0"/>
              </a:rPr>
              <a:t>1. Why are data members declared private?</a:t>
            </a:r>
            <a:br>
              <a:rPr lang="en-US" b="0" i="0" dirty="0">
                <a:solidFill>
                  <a:srgbClr val="1D1C1D"/>
                </a:solidFill>
                <a:effectLst/>
                <a:latin typeface="Slack-Lato"/>
              </a:rPr>
            </a:br>
            <a:r>
              <a:rPr lang="en-US" b="0" i="0" dirty="0">
                <a:solidFill>
                  <a:srgbClr val="1D1C1D"/>
                </a:solidFill>
                <a:effectLst/>
                <a:latin typeface="Arial" panose="020B0604020202020204" pitchFamily="34" charset="0"/>
              </a:rPr>
              <a:t>2. When is a constructor executed?</a:t>
            </a:r>
            <a:br>
              <a:rPr lang="en-US" b="0" i="0" dirty="0">
                <a:solidFill>
                  <a:srgbClr val="1D1C1D"/>
                </a:solidFill>
                <a:effectLst/>
                <a:latin typeface="Slack-Lato"/>
              </a:rPr>
            </a:br>
            <a:r>
              <a:rPr lang="en-US" b="0" i="0" dirty="0">
                <a:solidFill>
                  <a:srgbClr val="1D1C1D"/>
                </a:solidFill>
                <a:effectLst/>
                <a:latin typeface="Arial" panose="020B0604020202020204" pitchFamily="34" charset="0"/>
              </a:rPr>
              <a:t>3. What is the purpose of the scope resolution operator?</a:t>
            </a:r>
            <a:br>
              <a:rPr lang="en-US" b="0" i="0" dirty="0">
                <a:solidFill>
                  <a:srgbClr val="1D1C1D"/>
                </a:solidFill>
                <a:effectLst/>
                <a:latin typeface="Slack-Lato"/>
              </a:rPr>
            </a:br>
            <a:r>
              <a:rPr lang="en-US" b="0" i="0" dirty="0">
                <a:solidFill>
                  <a:srgbClr val="1D1C1D"/>
                </a:solidFill>
                <a:effectLst/>
                <a:latin typeface="Arial" panose="020B0604020202020204" pitchFamily="34" charset="0"/>
              </a:rPr>
              <a:t>4. Difference between function and member function?</a:t>
            </a:r>
            <a:br>
              <a:rPr lang="en-US" b="0" i="0" dirty="0">
                <a:solidFill>
                  <a:srgbClr val="1D1C1D"/>
                </a:solidFill>
                <a:effectLst/>
                <a:latin typeface="Slack-Lato"/>
              </a:rPr>
            </a:br>
            <a:r>
              <a:rPr lang="en-US" b="0" i="0" dirty="0">
                <a:solidFill>
                  <a:srgbClr val="1D1C1D"/>
                </a:solidFill>
                <a:effectLst/>
                <a:latin typeface="Arial" panose="020B0604020202020204" pitchFamily="34" charset="0"/>
              </a:rPr>
              <a:t>Answer Guide:</a:t>
            </a:r>
            <a:br>
              <a:rPr lang="en-US" b="0" i="0" dirty="0">
                <a:solidFill>
                  <a:srgbClr val="1D1C1D"/>
                </a:solidFill>
                <a:effectLst/>
                <a:latin typeface="Slack-Lato"/>
              </a:rPr>
            </a:br>
            <a:r>
              <a:rPr lang="en-US" b="0" i="0" dirty="0">
                <a:solidFill>
                  <a:srgbClr val="1D1C1D"/>
                </a:solidFill>
                <a:effectLst/>
                <a:latin typeface="Arial" panose="020B0604020202020204" pitchFamily="34" charset="0"/>
              </a:rPr>
              <a:t>1. To enforce encapsulation and prevent unauthorized direct access.</a:t>
            </a:r>
            <a:br>
              <a:rPr lang="en-US" b="0" i="0" dirty="0">
                <a:solidFill>
                  <a:srgbClr val="1D1C1D"/>
                </a:solidFill>
                <a:effectLst/>
                <a:latin typeface="Slack-Lato"/>
              </a:rPr>
            </a:br>
            <a:r>
              <a:rPr lang="en-US" b="0" i="0" dirty="0">
                <a:solidFill>
                  <a:srgbClr val="1D1C1D"/>
                </a:solidFill>
                <a:effectLst/>
                <a:latin typeface="Arial" panose="020B0604020202020204" pitchFamily="34" charset="0"/>
              </a:rPr>
              <a:t>2. Automatically when an object is created.</a:t>
            </a:r>
            <a:br>
              <a:rPr lang="en-US" b="0" i="0" dirty="0">
                <a:solidFill>
                  <a:srgbClr val="1D1C1D"/>
                </a:solidFill>
                <a:effectLst/>
                <a:latin typeface="Slack-Lato"/>
              </a:rPr>
            </a:br>
            <a:r>
              <a:rPr lang="en-US" b="0" i="0" dirty="0">
                <a:solidFill>
                  <a:srgbClr val="1D1C1D"/>
                </a:solidFill>
                <a:effectLst/>
                <a:latin typeface="Arial" panose="020B0604020202020204" pitchFamily="34" charset="0"/>
              </a:rPr>
              <a:t>3. To define a member function outside the class definition.</a:t>
            </a:r>
            <a:br>
              <a:rPr lang="en-US" b="0" i="0" dirty="0">
                <a:solidFill>
                  <a:srgbClr val="1D1C1D"/>
                </a:solidFill>
                <a:effectLst/>
                <a:latin typeface="Slack-Lato"/>
              </a:rPr>
            </a:br>
            <a:r>
              <a:rPr lang="en-US" b="0" i="0" dirty="0">
                <a:solidFill>
                  <a:srgbClr val="1D1C1D"/>
                </a:solidFill>
                <a:effectLst/>
                <a:latin typeface="Arial" panose="020B0604020202020204" pitchFamily="34" charset="0"/>
              </a:rPr>
              <a:t>4. A member function belongs to a class and operates on its data.</a:t>
            </a:r>
            <a:endParaRPr lang="en-US" b="0" i="0" dirty="0">
              <a:solidFill>
                <a:srgbClr val="1D1C1D"/>
              </a:solidFill>
              <a:effectLst/>
              <a:latin typeface="Slack-Lato"/>
            </a:endParaRPr>
          </a:p>
          <a:p>
            <a:pPr>
              <a:buNone/>
            </a:pPr>
            <a:br>
              <a:rPr lang="en-US" dirty="0"/>
            </a:br>
            <a:endParaRPr lang="en-US" dirty="0"/>
          </a:p>
        </p:txBody>
      </p:sp>
      <p:sp>
        <p:nvSpPr>
          <p:cNvPr id="5" name="TextBox 4">
            <a:extLst>
              <a:ext uri="{FF2B5EF4-FFF2-40B4-BE49-F238E27FC236}">
                <a16:creationId xmlns:a16="http://schemas.microsoft.com/office/drawing/2014/main" id="{C92BFAB7-AB0D-523E-DF35-EEB6B1B0E9F9}"/>
              </a:ext>
            </a:extLst>
          </p:cNvPr>
          <p:cNvSpPr txBox="1"/>
          <p:nvPr/>
        </p:nvSpPr>
        <p:spPr>
          <a:xfrm>
            <a:off x="6822140" y="2173104"/>
            <a:ext cx="2321859" cy="7571303"/>
          </a:xfrm>
          <a:prstGeom prst="rect">
            <a:avLst/>
          </a:prstGeom>
          <a:noFill/>
        </p:spPr>
        <p:txBody>
          <a:bodyPr wrap="square">
            <a:spAutoFit/>
          </a:bodyPr>
          <a:lstStyle/>
          <a:p>
            <a:r>
              <a:rPr lang="en-US" b="0" i="0" dirty="0">
                <a:effectLst/>
                <a:latin typeface="Arial" panose="020B0604020202020204" pitchFamily="34" charset="0"/>
              </a:rPr>
              <a:t>Part 3: Student Task</a:t>
            </a:r>
            <a:br>
              <a:rPr lang="en-US" dirty="0"/>
            </a:br>
            <a:r>
              <a:rPr lang="en-US" b="0" i="0" dirty="0">
                <a:effectLst/>
                <a:latin typeface="Arial" panose="020B0604020202020204" pitchFamily="34" charset="0"/>
              </a:rPr>
              <a:t>1. Create a class named Car</a:t>
            </a:r>
            <a:br>
              <a:rPr lang="en-US" dirty="0"/>
            </a:br>
            <a:r>
              <a:rPr lang="en-US" b="0" i="0" dirty="0">
                <a:effectLst/>
                <a:latin typeface="Arial" panose="020B0604020202020204" pitchFamily="34" charset="0"/>
              </a:rPr>
              <a:t>2. Add data members: model, speed</a:t>
            </a:r>
            <a:br>
              <a:rPr lang="en-US" dirty="0"/>
            </a:br>
            <a:r>
              <a:rPr lang="en-US" b="0" i="0" dirty="0">
                <a:effectLst/>
                <a:latin typeface="Arial" panose="020B0604020202020204" pitchFamily="34" charset="0"/>
              </a:rPr>
              <a:t>3. Add a function display()</a:t>
            </a:r>
            <a:br>
              <a:rPr lang="en-US" dirty="0"/>
            </a:br>
            <a:r>
              <a:rPr lang="en-US" b="0" i="0" dirty="0">
                <a:effectLst/>
                <a:latin typeface="Arial" panose="020B0604020202020204" pitchFamily="34" charset="0"/>
              </a:rPr>
              <a:t>4. Create an object and display details</a:t>
            </a:r>
            <a:br>
              <a:rPr lang="en-US" dirty="0"/>
            </a:br>
            <a:r>
              <a:rPr lang="en-US" b="0" i="0" dirty="0">
                <a:effectLst/>
                <a:latin typeface="Arial" panose="020B0604020202020204" pitchFamily="34" charset="0"/>
              </a:rPr>
              <a:t>Viva Questions</a:t>
            </a:r>
            <a:br>
              <a:rPr lang="en-US" dirty="0"/>
            </a:br>
            <a:r>
              <a:rPr lang="en-US" b="0" i="0" dirty="0">
                <a:effectLst/>
                <a:latin typeface="Arial" panose="020B0604020202020204" pitchFamily="34" charset="0"/>
              </a:rPr>
              <a:t>- What is OOP?</a:t>
            </a:r>
            <a:br>
              <a:rPr lang="en-US" dirty="0"/>
            </a:br>
            <a:r>
              <a:rPr lang="en-US" b="0" i="0" dirty="0">
                <a:effectLst/>
                <a:latin typeface="Arial" panose="020B0604020202020204" pitchFamily="34" charset="0"/>
              </a:rPr>
              <a:t>- What is a class?</a:t>
            </a:r>
            <a:br>
              <a:rPr lang="en-US" dirty="0"/>
            </a:br>
            <a:r>
              <a:rPr lang="en-US" b="0" i="0" dirty="0">
                <a:effectLst/>
                <a:latin typeface="Arial" panose="020B0604020202020204" pitchFamily="34" charset="0"/>
              </a:rPr>
              <a:t>- What is an object?</a:t>
            </a:r>
            <a:br>
              <a:rPr lang="en-US" dirty="0"/>
            </a:br>
            <a:r>
              <a:rPr lang="en-US" b="0" i="0" dirty="0">
                <a:effectLst/>
                <a:latin typeface="Arial" panose="020B0604020202020204" pitchFamily="34" charset="0"/>
              </a:rPr>
              <a:t>- Why do we use OOP?</a:t>
            </a:r>
          </a:p>
          <a:p>
            <a:r>
              <a:rPr lang="en-US" dirty="0"/>
              <a:t>Define a Rectangle class with width and height attributes. Implement a </a:t>
            </a:r>
            <a:r>
              <a:rPr lang="en-US" dirty="0" err="1"/>
              <a:t>calculateArea</a:t>
            </a:r>
            <a:r>
              <a:rPr lang="en-US" dirty="0"/>
              <a:t>()</a:t>
            </a:r>
            <a:br>
              <a:rPr lang="en-US" dirty="0"/>
            </a:br>
            <a:r>
              <a:rPr lang="en-US" dirty="0"/>
              <a:t>method that returns the area of the rectangle.</a:t>
            </a:r>
            <a:br>
              <a:rPr lang="en-US" dirty="0"/>
            </a:br>
            <a:br>
              <a:rPr lang="en-US" dirty="0"/>
            </a:br>
            <a:endParaRPr lang="en-US" dirty="0"/>
          </a:p>
        </p:txBody>
      </p:sp>
    </p:spTree>
    <p:extLst>
      <p:ext uri="{BB962C8B-B14F-4D97-AF65-F5344CB8AC3E}">
        <p14:creationId xmlns:p14="http://schemas.microsoft.com/office/powerpoint/2010/main" val="192009978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0152C-249A-CD44-A146-A97237059925}"/>
              </a:ext>
            </a:extLst>
          </p:cNvPr>
          <p:cNvSpPr>
            <a:spLocks noGrp="1"/>
          </p:cNvSpPr>
          <p:nvPr>
            <p:ph type="title"/>
          </p:nvPr>
        </p:nvSpPr>
        <p:spPr>
          <a:xfrm>
            <a:off x="1069848" y="484632"/>
            <a:ext cx="10058400" cy="824975"/>
          </a:xfrm>
          <a:effectLst>
            <a:outerShdw blurRad="50800" dist="50800" dir="5400000" algn="ctr" rotWithShape="0">
              <a:srgbClr val="0070C0"/>
            </a:outerShdw>
          </a:effectLst>
        </p:spPr>
        <p:txBody>
          <a:bodyPr>
            <a:normAutofit fontScale="90000"/>
          </a:bodyPr>
          <a:lstStyle/>
          <a:p>
            <a:r>
              <a:rPr lang="en-US" dirty="0"/>
              <a:t>Pass by value</a:t>
            </a:r>
          </a:p>
        </p:txBody>
      </p:sp>
      <p:sp>
        <p:nvSpPr>
          <p:cNvPr id="3" name="Content Placeholder 2">
            <a:extLst>
              <a:ext uri="{FF2B5EF4-FFF2-40B4-BE49-F238E27FC236}">
                <a16:creationId xmlns:a16="http://schemas.microsoft.com/office/drawing/2014/main" id="{2411F3B3-F487-3847-218A-59397CB85753}"/>
              </a:ext>
            </a:extLst>
          </p:cNvPr>
          <p:cNvSpPr>
            <a:spLocks noGrp="1"/>
          </p:cNvSpPr>
          <p:nvPr>
            <p:ph idx="1"/>
          </p:nvPr>
        </p:nvSpPr>
        <p:spPr>
          <a:xfrm>
            <a:off x="1069848" y="1309607"/>
            <a:ext cx="10058400" cy="4862593"/>
          </a:xfrm>
        </p:spPr>
        <p:txBody>
          <a:bodyPr>
            <a:normAutofit fontScale="85000" lnSpcReduction="20000"/>
          </a:bodyPr>
          <a:lstStyle/>
          <a:p>
            <a:r>
              <a:rPr lang="en-US" b="1" dirty="0"/>
              <a:t>Pass by value</a:t>
            </a:r>
            <a:r>
              <a:rPr lang="en-US" dirty="0"/>
              <a:t> is a concept in programming where a </a:t>
            </a:r>
            <a:r>
              <a:rPr lang="en-US" b="1" dirty="0"/>
              <a:t>copy of a variable’s value</a:t>
            </a:r>
            <a:r>
              <a:rPr lang="en-US" dirty="0"/>
              <a:t> is passed to a function, rather than the original variable itself.</a:t>
            </a:r>
          </a:p>
          <a:p>
            <a:r>
              <a:rPr lang="en-US" b="1" dirty="0"/>
              <a:t>Simple explanation</a:t>
            </a:r>
          </a:p>
          <a:p>
            <a:r>
              <a:rPr lang="en-US" dirty="0"/>
              <a:t>When you pass a variable by value:</a:t>
            </a:r>
          </a:p>
          <a:p>
            <a:r>
              <a:rPr lang="en-US" dirty="0"/>
              <a:t>The function gets its </a:t>
            </a:r>
            <a:r>
              <a:rPr lang="en-US" b="1" dirty="0"/>
              <a:t>own separate copy</a:t>
            </a:r>
            <a:r>
              <a:rPr lang="en-US" dirty="0"/>
              <a:t> </a:t>
            </a:r>
          </a:p>
          <a:p>
            <a:r>
              <a:rPr lang="en-US" dirty="0"/>
              <a:t>Any changes made inside the function </a:t>
            </a:r>
            <a:r>
              <a:rPr lang="en-US" b="1" dirty="0"/>
              <a:t>do NOT affect the original variable</a:t>
            </a:r>
            <a:endParaRPr lang="en-US" dirty="0"/>
          </a:p>
          <a:p>
            <a:r>
              <a:rPr lang="en-US" dirty="0"/>
              <a:t>void </a:t>
            </a:r>
            <a:r>
              <a:rPr lang="en-US" dirty="0" err="1"/>
              <a:t>changeValue</a:t>
            </a:r>
            <a:r>
              <a:rPr lang="en-US" dirty="0"/>
              <a:t>(int x) {</a:t>
            </a:r>
          </a:p>
          <a:p>
            <a:r>
              <a:rPr lang="en-US" dirty="0"/>
              <a:t>    x = 10;</a:t>
            </a:r>
          </a:p>
          <a:p>
            <a:r>
              <a:rPr lang="en-US" dirty="0"/>
              <a:t>}</a:t>
            </a:r>
          </a:p>
          <a:p>
            <a:endParaRPr lang="en-US" dirty="0"/>
          </a:p>
          <a:p>
            <a:r>
              <a:rPr lang="en-US" dirty="0"/>
              <a:t>int main() {</a:t>
            </a:r>
          </a:p>
          <a:p>
            <a:r>
              <a:rPr lang="en-US" dirty="0"/>
              <a:t>    int a = 5;</a:t>
            </a:r>
          </a:p>
          <a:p>
            <a:r>
              <a:rPr lang="en-US" dirty="0"/>
              <a:t>    </a:t>
            </a:r>
            <a:r>
              <a:rPr lang="en-US" dirty="0" err="1"/>
              <a:t>changeValue</a:t>
            </a:r>
            <a:r>
              <a:rPr lang="en-US" dirty="0"/>
              <a:t>(a);</a:t>
            </a:r>
          </a:p>
          <a:p>
            <a:r>
              <a:rPr lang="en-US" dirty="0"/>
              <a:t>    // a is still 5, not 10</a:t>
            </a:r>
          </a:p>
          <a:p>
            <a:r>
              <a:rPr lang="en-US" dirty="0"/>
              <a:t>}</a:t>
            </a:r>
          </a:p>
        </p:txBody>
      </p:sp>
    </p:spTree>
    <p:extLst>
      <p:ext uri="{BB962C8B-B14F-4D97-AF65-F5344CB8AC3E}">
        <p14:creationId xmlns:p14="http://schemas.microsoft.com/office/powerpoint/2010/main" val="136631341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36233-287B-3CB7-4447-C108CE14E1F4}"/>
              </a:ext>
            </a:extLst>
          </p:cNvPr>
          <p:cNvSpPr>
            <a:spLocks noGrp="1"/>
          </p:cNvSpPr>
          <p:nvPr>
            <p:ph type="title"/>
          </p:nvPr>
        </p:nvSpPr>
        <p:spPr/>
        <p:txBody>
          <a:bodyPr/>
          <a:lstStyle/>
          <a:p>
            <a:r>
              <a:rPr lang="en-US" dirty="0"/>
              <a:t>…</a:t>
            </a:r>
          </a:p>
        </p:txBody>
      </p:sp>
      <p:sp>
        <p:nvSpPr>
          <p:cNvPr id="3" name="Content Placeholder 2">
            <a:extLst>
              <a:ext uri="{FF2B5EF4-FFF2-40B4-BE49-F238E27FC236}">
                <a16:creationId xmlns:a16="http://schemas.microsoft.com/office/drawing/2014/main" id="{836413D6-80FF-EAA8-A6DE-2709A811837F}"/>
              </a:ext>
            </a:extLst>
          </p:cNvPr>
          <p:cNvSpPr>
            <a:spLocks noGrp="1"/>
          </p:cNvSpPr>
          <p:nvPr>
            <p:ph idx="1"/>
          </p:nvPr>
        </p:nvSpPr>
        <p:spPr/>
        <p:txBody>
          <a:bodyPr/>
          <a:lstStyle/>
          <a:p>
            <a:r>
              <a:rPr lang="en-US" b="1" dirty="0"/>
              <a:t>What’s happening?</a:t>
            </a:r>
          </a:p>
          <a:p>
            <a:r>
              <a:rPr lang="en-US" dirty="0"/>
              <a:t>a is 5 </a:t>
            </a:r>
          </a:p>
          <a:p>
            <a:r>
              <a:rPr lang="en-US" dirty="0" err="1"/>
              <a:t>changeValue</a:t>
            </a:r>
            <a:r>
              <a:rPr lang="en-US" dirty="0"/>
              <a:t>(a) sends a </a:t>
            </a:r>
            <a:r>
              <a:rPr lang="en-US" b="1" dirty="0"/>
              <a:t>copy</a:t>
            </a:r>
            <a:r>
              <a:rPr lang="en-US" dirty="0"/>
              <a:t> of a to x </a:t>
            </a:r>
          </a:p>
          <a:p>
            <a:r>
              <a:rPr lang="en-US" dirty="0"/>
              <a:t>Inside the function, x becomes 10 </a:t>
            </a:r>
          </a:p>
          <a:p>
            <a:r>
              <a:rPr lang="en-US" dirty="0"/>
              <a:t>But a remains unchanged because it was never directly modified </a:t>
            </a:r>
          </a:p>
          <a:p>
            <a:r>
              <a:rPr lang="en-US" b="1" dirty="0"/>
              <a:t>Key idea</a:t>
            </a:r>
          </a:p>
          <a:p>
            <a:r>
              <a:rPr lang="en-US" dirty="0"/>
              <a:t>👉 </a:t>
            </a:r>
            <a:r>
              <a:rPr lang="en-US" b="1" dirty="0"/>
              <a:t>Pass by value = copy is used, original stays safe</a:t>
            </a:r>
            <a:endParaRPr lang="en-US" dirty="0"/>
          </a:p>
          <a:p>
            <a:endParaRPr lang="en-US" dirty="0"/>
          </a:p>
        </p:txBody>
      </p:sp>
    </p:spTree>
    <p:extLst>
      <p:ext uri="{BB962C8B-B14F-4D97-AF65-F5344CB8AC3E}">
        <p14:creationId xmlns:p14="http://schemas.microsoft.com/office/powerpoint/2010/main" val="343241945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55506-4F1C-FD9A-2075-E752A58B15AA}"/>
              </a:ext>
            </a:extLst>
          </p:cNvPr>
          <p:cNvSpPr>
            <a:spLocks noGrp="1"/>
          </p:cNvSpPr>
          <p:nvPr>
            <p:ph type="title"/>
          </p:nvPr>
        </p:nvSpPr>
        <p:spPr>
          <a:xfrm>
            <a:off x="1069848" y="484633"/>
            <a:ext cx="10058400" cy="1017596"/>
          </a:xfrm>
          <a:effectLst>
            <a:glow>
              <a:srgbClr val="FFFF00">
                <a:alpha val="32000"/>
              </a:srgbClr>
            </a:glow>
            <a:outerShdw blurRad="50800" dist="50800" dir="5400000" algn="ctr" rotWithShape="0">
              <a:srgbClr val="0070C0"/>
            </a:outerShdw>
            <a:reflection endPos="65000" dist="50800" dir="5400000" sy="-100000" algn="bl" rotWithShape="0"/>
            <a:softEdge rad="0"/>
          </a:effectLst>
          <a:scene3d>
            <a:camera prst="orthographicFront"/>
            <a:lightRig rig="threePt" dir="t"/>
          </a:scene3d>
          <a:sp3d extrusionH="76200" contourW="12700">
            <a:extrusionClr>
              <a:srgbClr val="00B0F0"/>
            </a:extrusionClr>
            <a:contourClr>
              <a:srgbClr val="002060"/>
            </a:contourClr>
          </a:sp3d>
        </p:spPr>
        <p:txBody>
          <a:bodyPr>
            <a:normAutofit/>
          </a:bodyPr>
          <a:lstStyle/>
          <a:p>
            <a:r>
              <a:rPr lang="en-US" dirty="0"/>
              <a:t>Copy constructor</a:t>
            </a:r>
          </a:p>
        </p:txBody>
      </p:sp>
      <p:sp>
        <p:nvSpPr>
          <p:cNvPr id="3" name="Content Placeholder 2">
            <a:extLst>
              <a:ext uri="{FF2B5EF4-FFF2-40B4-BE49-F238E27FC236}">
                <a16:creationId xmlns:a16="http://schemas.microsoft.com/office/drawing/2014/main" id="{81867CC8-D3EF-FA43-201B-E25CE7B482E8}"/>
              </a:ext>
            </a:extLst>
          </p:cNvPr>
          <p:cNvSpPr>
            <a:spLocks noGrp="1"/>
          </p:cNvSpPr>
          <p:nvPr>
            <p:ph idx="1"/>
          </p:nvPr>
        </p:nvSpPr>
        <p:spPr>
          <a:xfrm>
            <a:off x="1069848" y="1502229"/>
            <a:ext cx="10058400" cy="5355771"/>
          </a:xfrm>
          <a:noFill/>
          <a:effectLst>
            <a:softEdge rad="63500"/>
          </a:effectLst>
        </p:spPr>
        <p:txBody>
          <a:bodyPr>
            <a:normAutofit fontScale="40000" lnSpcReduction="20000"/>
          </a:bodyPr>
          <a:lstStyle/>
          <a:p>
            <a:r>
              <a:rPr lang="en-US" dirty="0"/>
              <a:t>Definition: A constructor that initializes an object using </a:t>
            </a:r>
            <a:r>
              <a:rPr lang="en-US" b="1" dirty="0"/>
              <a:t>another object of the same class</a:t>
            </a:r>
          </a:p>
          <a:p>
            <a:r>
              <a:rPr lang="en-US" dirty="0"/>
              <a:t>A </a:t>
            </a:r>
            <a:r>
              <a:rPr lang="en-US" b="1" dirty="0"/>
              <a:t>copy constructor</a:t>
            </a:r>
            <a:r>
              <a:rPr lang="en-US" dirty="0"/>
              <a:t> is a special constructor that creates a new object by copying the contents of an existing object.</a:t>
            </a:r>
          </a:p>
          <a:p>
            <a:r>
              <a:rPr lang="en-US" b="1" dirty="0"/>
              <a:t>Syntax in C++</a:t>
            </a:r>
          </a:p>
          <a:p>
            <a:r>
              <a:rPr lang="en-US" dirty="0" err="1"/>
              <a:t>ClassName</a:t>
            </a:r>
            <a:r>
              <a:rPr lang="en-US" dirty="0"/>
              <a:t>(const </a:t>
            </a:r>
            <a:r>
              <a:rPr lang="en-US" dirty="0" err="1"/>
              <a:t>ClassName</a:t>
            </a:r>
            <a:r>
              <a:rPr lang="en-US" dirty="0"/>
              <a:t>&amp; obj);</a:t>
            </a:r>
          </a:p>
          <a:p>
            <a:r>
              <a:rPr lang="en-US" dirty="0"/>
              <a:t>#include &lt;iostream&gt;</a:t>
            </a:r>
          </a:p>
          <a:p>
            <a:r>
              <a:rPr lang="en-US" dirty="0"/>
              <a:t>using namespace std;</a:t>
            </a:r>
          </a:p>
          <a:p>
            <a:r>
              <a:rPr lang="en-US" dirty="0"/>
              <a:t>class Student {</a:t>
            </a:r>
          </a:p>
          <a:p>
            <a:r>
              <a:rPr lang="en-US" dirty="0"/>
              <a:t>public:</a:t>
            </a:r>
          </a:p>
          <a:p>
            <a:r>
              <a:rPr lang="en-US" dirty="0"/>
              <a:t>    string name;</a:t>
            </a:r>
          </a:p>
          <a:p>
            <a:r>
              <a:rPr lang="en-US" dirty="0"/>
              <a:t>    Student(string n) {</a:t>
            </a:r>
          </a:p>
          <a:p>
            <a:r>
              <a:rPr lang="en-US" dirty="0"/>
              <a:t>        name = n;</a:t>
            </a:r>
          </a:p>
          <a:p>
            <a:r>
              <a:rPr lang="en-US" dirty="0"/>
              <a:t>    }</a:t>
            </a:r>
          </a:p>
          <a:p>
            <a:r>
              <a:rPr lang="en-US" dirty="0"/>
              <a:t>    // Copy constructor</a:t>
            </a:r>
          </a:p>
          <a:p>
            <a:r>
              <a:rPr lang="en-US" dirty="0"/>
              <a:t>    Student(const Student&amp; s) {</a:t>
            </a:r>
          </a:p>
          <a:p>
            <a:r>
              <a:rPr lang="en-US" dirty="0"/>
              <a:t>        name = s.name;</a:t>
            </a:r>
          </a:p>
          <a:p>
            <a:r>
              <a:rPr lang="en-US" dirty="0"/>
              <a:t>    }</a:t>
            </a:r>
          </a:p>
          <a:p>
            <a:r>
              <a:rPr lang="en-US" dirty="0"/>
              <a:t>};</a:t>
            </a:r>
          </a:p>
          <a:p>
            <a:r>
              <a:rPr lang="en-US" dirty="0"/>
              <a:t>int main() {</a:t>
            </a:r>
          </a:p>
          <a:p>
            <a:r>
              <a:rPr lang="en-US" dirty="0"/>
              <a:t>    Student s1("Ali");</a:t>
            </a:r>
          </a:p>
          <a:p>
            <a:r>
              <a:rPr lang="en-US" dirty="0"/>
              <a:t>    Student s2 = s1;  // Copy constructor is called</a:t>
            </a:r>
          </a:p>
          <a:p>
            <a:r>
              <a:rPr lang="en-US" dirty="0"/>
              <a:t>    </a:t>
            </a:r>
            <a:r>
              <a:rPr lang="en-US" dirty="0" err="1"/>
              <a:t>cout</a:t>
            </a:r>
            <a:r>
              <a:rPr lang="en-US" dirty="0"/>
              <a:t> &lt;&lt; s2.name &lt;&lt; </a:t>
            </a:r>
            <a:r>
              <a:rPr lang="en-US" dirty="0" err="1"/>
              <a:t>endl</a:t>
            </a:r>
            <a:r>
              <a:rPr lang="en-US" dirty="0"/>
              <a:t>;  // Output: Ali</a:t>
            </a:r>
          </a:p>
          <a:p>
            <a:r>
              <a:rPr lang="en-US" dirty="0"/>
              <a:t>}</a:t>
            </a:r>
            <a:endParaRPr lang="en-US" b="1" dirty="0"/>
          </a:p>
          <a:p>
            <a:endParaRPr lang="en-US" dirty="0"/>
          </a:p>
        </p:txBody>
      </p:sp>
    </p:spTree>
    <p:extLst>
      <p:ext uri="{BB962C8B-B14F-4D97-AF65-F5344CB8AC3E}">
        <p14:creationId xmlns:p14="http://schemas.microsoft.com/office/powerpoint/2010/main" val="60728214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B9492-F64F-90E3-218F-68BC992817C6}"/>
              </a:ext>
            </a:extLst>
          </p:cNvPr>
          <p:cNvSpPr>
            <a:spLocks noGrp="1"/>
          </p:cNvSpPr>
          <p:nvPr>
            <p:ph type="title"/>
          </p:nvPr>
        </p:nvSpPr>
        <p:spPr>
          <a:xfrm>
            <a:off x="1069848" y="484632"/>
            <a:ext cx="10058400" cy="878804"/>
          </a:xfrm>
          <a:effectLst>
            <a:glow rad="127000">
              <a:srgbClr val="0070C0"/>
            </a:glow>
            <a:outerShdw blurRad="50800" dist="50800" dir="5400000" algn="ctr" rotWithShape="0">
              <a:srgbClr val="0070C0"/>
            </a:outerShdw>
            <a:reflection blurRad="6350" stA="52000" endA="300" endPos="35000" dist="38100" dir="5400000" sy="-100000" algn="bl" rotWithShape="0"/>
          </a:effectLst>
          <a:scene3d>
            <a:camera prst="orthographicFront"/>
            <a:lightRig rig="threePt" dir="t"/>
          </a:scene3d>
          <a:sp3d contourW="6350" prstMaterial="matte">
            <a:bevelT w="88900"/>
            <a:bevelB w="6350"/>
            <a:contourClr>
              <a:srgbClr val="0070C0"/>
            </a:contourClr>
          </a:sp3d>
        </p:spPr>
        <p:txBody>
          <a:bodyPr/>
          <a:lstStyle/>
          <a:p>
            <a:r>
              <a:rPr lang="en-US" dirty="0"/>
              <a:t>Copy constructor…</a:t>
            </a:r>
          </a:p>
        </p:txBody>
      </p:sp>
      <p:sp>
        <p:nvSpPr>
          <p:cNvPr id="3" name="Content Placeholder 2">
            <a:extLst>
              <a:ext uri="{FF2B5EF4-FFF2-40B4-BE49-F238E27FC236}">
                <a16:creationId xmlns:a16="http://schemas.microsoft.com/office/drawing/2014/main" id="{F7D377C0-8AF1-EB48-6A9A-934A495B30D3}"/>
              </a:ext>
            </a:extLst>
          </p:cNvPr>
          <p:cNvSpPr>
            <a:spLocks noGrp="1"/>
          </p:cNvSpPr>
          <p:nvPr>
            <p:ph idx="1"/>
          </p:nvPr>
        </p:nvSpPr>
        <p:spPr>
          <a:xfrm>
            <a:off x="1069848" y="1363436"/>
            <a:ext cx="10058400" cy="5494564"/>
          </a:xfrm>
        </p:spPr>
        <p:txBody>
          <a:bodyPr/>
          <a:lstStyle/>
          <a:p>
            <a:r>
              <a:rPr lang="en-US" b="1" dirty="0"/>
              <a:t>How it works</a:t>
            </a:r>
          </a:p>
          <a:p>
            <a:r>
              <a:rPr lang="en-US" dirty="0"/>
              <a:t>s1 is created with the name "Ali". </a:t>
            </a:r>
          </a:p>
          <a:p>
            <a:r>
              <a:rPr lang="en-US" dirty="0"/>
              <a:t>s2 = s1 creates a new object s2. </a:t>
            </a:r>
          </a:p>
          <a:p>
            <a:r>
              <a:rPr lang="en-US" dirty="0"/>
              <a:t>The copy constructor copies the data from s1 into s2. </a:t>
            </a:r>
          </a:p>
          <a:p>
            <a:r>
              <a:rPr lang="en-US" b="1" dirty="0"/>
              <a:t>When is a copy constructor called?</a:t>
            </a:r>
          </a:p>
          <a:p>
            <a:r>
              <a:rPr lang="en-US" dirty="0"/>
              <a:t>A copy constructor is typically invoked:</a:t>
            </a:r>
          </a:p>
          <a:p>
            <a:r>
              <a:rPr lang="en-US" dirty="0"/>
              <a:t>When an object is initialized from another object:</a:t>
            </a:r>
          </a:p>
          <a:p>
            <a:r>
              <a:rPr lang="en-US" dirty="0"/>
              <a:t>Student s2 = s1;</a:t>
            </a:r>
          </a:p>
          <a:p>
            <a:r>
              <a:rPr lang="en-US" dirty="0"/>
              <a:t>When an object is passed to a function </a:t>
            </a:r>
            <a:r>
              <a:rPr lang="en-US" b="1" dirty="0"/>
              <a:t>by value</a:t>
            </a:r>
            <a:r>
              <a:rPr lang="en-US" dirty="0"/>
              <a:t>:</a:t>
            </a:r>
          </a:p>
          <a:p>
            <a:r>
              <a:rPr lang="en-US" dirty="0"/>
              <a:t>void display(Student s);</a:t>
            </a:r>
          </a:p>
          <a:p>
            <a:r>
              <a:rPr lang="en-US" dirty="0"/>
              <a:t>When an object is returned from a function by value</a:t>
            </a:r>
          </a:p>
          <a:p>
            <a:endParaRPr lang="en-US" dirty="0"/>
          </a:p>
        </p:txBody>
      </p:sp>
    </p:spTree>
    <p:extLst>
      <p:ext uri="{BB962C8B-B14F-4D97-AF65-F5344CB8AC3E}">
        <p14:creationId xmlns:p14="http://schemas.microsoft.com/office/powerpoint/2010/main" val="92858176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96B49-7B41-51CD-C254-001E5DF16CD6}"/>
              </a:ext>
            </a:extLst>
          </p:cNvPr>
          <p:cNvSpPr>
            <a:spLocks noGrp="1"/>
          </p:cNvSpPr>
          <p:nvPr>
            <p:ph type="title"/>
          </p:nvPr>
        </p:nvSpPr>
        <p:spPr>
          <a:effectLst>
            <a:outerShdw blurRad="50800" dist="50800" dir="5400000" algn="ctr" rotWithShape="0">
              <a:srgbClr val="0070C0"/>
            </a:outerShdw>
          </a:effectLst>
        </p:spPr>
        <p:txBody>
          <a:bodyPr/>
          <a:lstStyle/>
          <a:p>
            <a:r>
              <a:rPr lang="en-US" dirty="0"/>
              <a:t>Copy constructor…</a:t>
            </a:r>
          </a:p>
        </p:txBody>
      </p:sp>
      <p:sp>
        <p:nvSpPr>
          <p:cNvPr id="3" name="Content Placeholder 2">
            <a:extLst>
              <a:ext uri="{FF2B5EF4-FFF2-40B4-BE49-F238E27FC236}">
                <a16:creationId xmlns:a16="http://schemas.microsoft.com/office/drawing/2014/main" id="{38A7F9D7-92F3-0AE8-8074-8A8B618CAA0C}"/>
              </a:ext>
            </a:extLst>
          </p:cNvPr>
          <p:cNvSpPr>
            <a:spLocks noGrp="1"/>
          </p:cNvSpPr>
          <p:nvPr>
            <p:ph idx="1"/>
          </p:nvPr>
        </p:nvSpPr>
        <p:spPr/>
        <p:txBody>
          <a:bodyPr>
            <a:normAutofit lnSpcReduction="10000"/>
          </a:bodyPr>
          <a:lstStyle/>
          <a:p>
            <a:r>
              <a:rPr lang="en-US" b="1" dirty="0"/>
              <a:t>Default vs. User-Defined Copy Constructor</a:t>
            </a:r>
          </a:p>
          <a:p>
            <a:r>
              <a:rPr lang="en-US" b="1" dirty="0"/>
              <a:t>Default Copy Constructor</a:t>
            </a:r>
          </a:p>
          <a:p>
            <a:r>
              <a:rPr lang="en-US" dirty="0"/>
              <a:t>If you don't write one, C++ automatically provides a copy constructor that performs a </a:t>
            </a:r>
            <a:r>
              <a:rPr lang="en-US" b="1" dirty="0"/>
              <a:t>member-wise copy</a:t>
            </a:r>
            <a:r>
              <a:rPr lang="en-US" dirty="0"/>
              <a:t>.</a:t>
            </a:r>
          </a:p>
          <a:p>
            <a:r>
              <a:rPr lang="en-US" dirty="0"/>
              <a:t>Student s2 = s1;</a:t>
            </a:r>
          </a:p>
          <a:p>
            <a:r>
              <a:rPr lang="en-US" b="1" dirty="0"/>
              <a:t>User-Defined Copy Constructor</a:t>
            </a:r>
          </a:p>
          <a:p>
            <a:r>
              <a:rPr lang="en-US" dirty="0"/>
              <a:t>You write your own when the class manages resources such as:</a:t>
            </a:r>
          </a:p>
          <a:p>
            <a:r>
              <a:rPr lang="en-US" dirty="0"/>
              <a:t>Dynamic memory (new/delete) </a:t>
            </a:r>
          </a:p>
          <a:p>
            <a:r>
              <a:rPr lang="en-US" dirty="0"/>
              <a:t>File handles </a:t>
            </a:r>
          </a:p>
          <a:p>
            <a:r>
              <a:rPr lang="en-US" dirty="0"/>
              <a:t>Network connections </a:t>
            </a:r>
          </a:p>
          <a:p>
            <a:endParaRPr lang="en-US" dirty="0"/>
          </a:p>
        </p:txBody>
      </p:sp>
    </p:spTree>
    <p:extLst>
      <p:ext uri="{BB962C8B-B14F-4D97-AF65-F5344CB8AC3E}">
        <p14:creationId xmlns:p14="http://schemas.microsoft.com/office/powerpoint/2010/main" val="140010968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EB376-3260-614B-611E-99598A711179}"/>
              </a:ext>
            </a:extLst>
          </p:cNvPr>
          <p:cNvSpPr>
            <a:spLocks noGrp="1"/>
          </p:cNvSpPr>
          <p:nvPr>
            <p:ph type="title"/>
          </p:nvPr>
        </p:nvSpPr>
        <p:spPr>
          <a:effectLst>
            <a:outerShdw blurRad="50800" dist="50800" dir="5400000" algn="ctr" rotWithShape="0">
              <a:srgbClr val="0070C0"/>
            </a:outerShdw>
          </a:effectLst>
        </p:spPr>
        <p:txBody>
          <a:bodyPr/>
          <a:lstStyle/>
          <a:p>
            <a:r>
              <a:rPr lang="en-US" dirty="0"/>
              <a:t>Ways to invoke copy constructor</a:t>
            </a:r>
          </a:p>
        </p:txBody>
      </p:sp>
      <p:sp>
        <p:nvSpPr>
          <p:cNvPr id="3" name="Content Placeholder 2">
            <a:extLst>
              <a:ext uri="{FF2B5EF4-FFF2-40B4-BE49-F238E27FC236}">
                <a16:creationId xmlns:a16="http://schemas.microsoft.com/office/drawing/2014/main" id="{553CE074-E05F-87B2-36CC-C65F1246F0A4}"/>
              </a:ext>
            </a:extLst>
          </p:cNvPr>
          <p:cNvSpPr>
            <a:spLocks noGrp="1"/>
          </p:cNvSpPr>
          <p:nvPr>
            <p:ph idx="1"/>
          </p:nvPr>
        </p:nvSpPr>
        <p:spPr/>
        <p:txBody>
          <a:bodyPr/>
          <a:lstStyle/>
          <a:p>
            <a:endParaRPr lang="en-US" dirty="0"/>
          </a:p>
          <a:p>
            <a:r>
              <a:rPr lang="en-US" dirty="0"/>
              <a:t>1. Object initialization from another object</a:t>
            </a:r>
          </a:p>
          <a:p>
            <a:r>
              <a:rPr lang="en-US" dirty="0">
                <a:solidFill>
                  <a:srgbClr val="4A5568"/>
                </a:solidFill>
                <a:latin typeface="Montserrat" pitchFamily="34" charset="0"/>
                <a:ea typeface="Montserrat" pitchFamily="34" charset="-122"/>
                <a:cs typeface="Montserrat" pitchFamily="34" charset="-120"/>
              </a:rPr>
              <a:t>When a new object is created and initialized using an existing object of the same type.</a:t>
            </a:r>
            <a:endParaRPr lang="en-US" dirty="0"/>
          </a:p>
          <a:p>
            <a:r>
              <a:rPr lang="en-US" b="1" dirty="0"/>
              <a:t>2. Passing by value</a:t>
            </a:r>
          </a:p>
          <a:p>
            <a:r>
              <a:rPr lang="en-US" dirty="0">
                <a:solidFill>
                  <a:srgbClr val="4A5568"/>
                </a:solidFill>
                <a:latin typeface="Montserrat" pitchFamily="34" charset="0"/>
                <a:ea typeface="Montserrat" pitchFamily="34" charset="-122"/>
                <a:cs typeface="Montserrat" pitchFamily="34" charset="-120"/>
              </a:rPr>
              <a:t>When an object is passed as an argument to a function by value (not by reference).</a:t>
            </a:r>
            <a:endParaRPr lang="en-US" b="1" dirty="0"/>
          </a:p>
          <a:p>
            <a:r>
              <a:rPr lang="en-US" b="1" dirty="0"/>
              <a:t>3. Return-by-value</a:t>
            </a:r>
          </a:p>
          <a:p>
            <a:r>
              <a:rPr lang="en-US" dirty="0">
                <a:solidFill>
                  <a:srgbClr val="4A5568"/>
                </a:solidFill>
                <a:latin typeface="Montserrat" pitchFamily="34" charset="0"/>
                <a:ea typeface="Montserrat" pitchFamily="34" charset="-122"/>
                <a:cs typeface="Montserrat" pitchFamily="34" charset="-120"/>
              </a:rPr>
              <a:t>When a function returns an object by value to the caller.</a:t>
            </a:r>
            <a:endParaRPr lang="en-US" dirty="0"/>
          </a:p>
          <a:p>
            <a:endParaRPr lang="en-US" b="1" dirty="0"/>
          </a:p>
          <a:p>
            <a:endParaRPr lang="en-US" dirty="0"/>
          </a:p>
        </p:txBody>
      </p:sp>
    </p:spTree>
    <p:extLst>
      <p:ext uri="{BB962C8B-B14F-4D97-AF65-F5344CB8AC3E}">
        <p14:creationId xmlns:p14="http://schemas.microsoft.com/office/powerpoint/2010/main" val="361817546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60130-A1C0-664B-A515-3DC14333A036}"/>
              </a:ext>
            </a:extLst>
          </p:cNvPr>
          <p:cNvSpPr>
            <a:spLocks noGrp="1"/>
          </p:cNvSpPr>
          <p:nvPr>
            <p:ph type="title"/>
          </p:nvPr>
        </p:nvSpPr>
        <p:spPr>
          <a:xfrm>
            <a:off x="1004534" y="367392"/>
            <a:ext cx="10058400" cy="1943101"/>
          </a:xfrm>
          <a:effectLst>
            <a:outerShdw blurRad="50800" dist="50800" dir="5400000" algn="ctr" rotWithShape="0">
              <a:srgbClr val="0070C0"/>
            </a:outerShdw>
          </a:effectLst>
        </p:spPr>
        <p:txBody>
          <a:bodyPr>
            <a:normAutofit fontScale="90000"/>
          </a:bodyPr>
          <a:lstStyle/>
          <a:p>
            <a:r>
              <a:rPr lang="en-US" b="1" dirty="0"/>
              <a:t>1. Object initialization from another object</a:t>
            </a:r>
            <a:br>
              <a:rPr lang="en-US" b="1" dirty="0"/>
            </a:br>
            <a:endParaRPr lang="en-US" dirty="0"/>
          </a:p>
        </p:txBody>
      </p:sp>
      <p:sp>
        <p:nvSpPr>
          <p:cNvPr id="3" name="Content Placeholder 2">
            <a:extLst>
              <a:ext uri="{FF2B5EF4-FFF2-40B4-BE49-F238E27FC236}">
                <a16:creationId xmlns:a16="http://schemas.microsoft.com/office/drawing/2014/main" id="{66DEE31A-C15A-9C39-F53E-AE43945F673A}"/>
              </a:ext>
            </a:extLst>
          </p:cNvPr>
          <p:cNvSpPr>
            <a:spLocks noGrp="1"/>
          </p:cNvSpPr>
          <p:nvPr>
            <p:ph idx="1"/>
          </p:nvPr>
        </p:nvSpPr>
        <p:spPr>
          <a:xfrm>
            <a:off x="1069848" y="2310493"/>
            <a:ext cx="10058400" cy="3627970"/>
          </a:xfrm>
        </p:spPr>
        <p:txBody>
          <a:bodyPr/>
          <a:lstStyle/>
          <a:p>
            <a:r>
              <a:rPr lang="en-US" b="1" dirty="0"/>
              <a:t>1. Object initialization from another object</a:t>
            </a:r>
          </a:p>
          <a:p>
            <a:r>
              <a:rPr lang="en-US" dirty="0"/>
              <a:t>Teacher t1("Nimra", "CS", 1200.23, 12345);</a:t>
            </a:r>
            <a:br>
              <a:rPr lang="en-US" dirty="0"/>
            </a:br>
            <a:br>
              <a:rPr lang="en-US" dirty="0"/>
            </a:br>
            <a:r>
              <a:rPr lang="en-US" dirty="0"/>
              <a:t>Teacher t2(t1);     // copy constructor</a:t>
            </a:r>
            <a:br>
              <a:rPr lang="en-US" dirty="0"/>
            </a:br>
            <a:r>
              <a:rPr lang="en-US" dirty="0"/>
              <a:t>Teacher t3 = t1;    // copy constructor</a:t>
            </a:r>
          </a:p>
          <a:p>
            <a:r>
              <a:rPr lang="en-US" dirty="0"/>
              <a:t>Both create a new object by copying an existing one.</a:t>
            </a:r>
          </a:p>
          <a:p>
            <a:endParaRPr lang="en-US" dirty="0"/>
          </a:p>
        </p:txBody>
      </p:sp>
    </p:spTree>
    <p:extLst>
      <p:ext uri="{BB962C8B-B14F-4D97-AF65-F5344CB8AC3E}">
        <p14:creationId xmlns:p14="http://schemas.microsoft.com/office/powerpoint/2010/main" val="274082353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876EB-1336-AC2B-9CE2-A4447F05A4BB}"/>
              </a:ext>
            </a:extLst>
          </p:cNvPr>
          <p:cNvSpPr>
            <a:spLocks noGrp="1"/>
          </p:cNvSpPr>
          <p:nvPr>
            <p:ph type="title"/>
          </p:nvPr>
        </p:nvSpPr>
        <p:spPr>
          <a:xfrm>
            <a:off x="1069848" y="484632"/>
            <a:ext cx="10058400" cy="1336004"/>
          </a:xfrm>
          <a:effectLst>
            <a:outerShdw blurRad="50800" dist="50800" dir="5400000" algn="ctr" rotWithShape="0">
              <a:srgbClr val="0070C0"/>
            </a:outerShdw>
          </a:effectLst>
        </p:spPr>
        <p:txBody>
          <a:bodyPr>
            <a:normAutofit fontScale="90000"/>
          </a:bodyPr>
          <a:lstStyle/>
          <a:p>
            <a:r>
              <a:rPr lang="en-US" b="1" dirty="0"/>
              <a:t>2. Pass-by-value</a:t>
            </a:r>
            <a:br>
              <a:rPr lang="en-US" b="1" dirty="0"/>
            </a:br>
            <a:endParaRPr lang="en-US" dirty="0"/>
          </a:p>
        </p:txBody>
      </p:sp>
      <p:sp>
        <p:nvSpPr>
          <p:cNvPr id="3" name="Content Placeholder 2">
            <a:extLst>
              <a:ext uri="{FF2B5EF4-FFF2-40B4-BE49-F238E27FC236}">
                <a16:creationId xmlns:a16="http://schemas.microsoft.com/office/drawing/2014/main" id="{7B2072E2-5B90-6A7F-5650-CF9E193AECEB}"/>
              </a:ext>
            </a:extLst>
          </p:cNvPr>
          <p:cNvSpPr>
            <a:spLocks noGrp="1"/>
          </p:cNvSpPr>
          <p:nvPr>
            <p:ph idx="1"/>
          </p:nvPr>
        </p:nvSpPr>
        <p:spPr/>
        <p:txBody>
          <a:bodyPr/>
          <a:lstStyle/>
          <a:p>
            <a:r>
              <a:rPr lang="en-US" dirty="0"/>
              <a:t>When an object is passed to a function by value, a copy of the object is created.</a:t>
            </a:r>
          </a:p>
          <a:p>
            <a:r>
              <a:rPr lang="en-US" dirty="0"/>
              <a:t>void </a:t>
            </a:r>
            <a:r>
              <a:rPr lang="en-US" dirty="0" err="1"/>
              <a:t>printTeacher</a:t>
            </a:r>
            <a:r>
              <a:rPr lang="en-US" dirty="0"/>
              <a:t>(Teacher t) {</a:t>
            </a:r>
            <a:br>
              <a:rPr lang="en-US" dirty="0"/>
            </a:br>
            <a:r>
              <a:rPr lang="en-US" dirty="0"/>
              <a:t>    </a:t>
            </a:r>
            <a:r>
              <a:rPr lang="en-US" dirty="0" err="1"/>
              <a:t>t.displayinfo</a:t>
            </a:r>
            <a:r>
              <a:rPr lang="en-US" dirty="0"/>
              <a:t>();</a:t>
            </a:r>
            <a:br>
              <a:rPr lang="en-US" dirty="0"/>
            </a:br>
            <a:r>
              <a:rPr lang="en-US" dirty="0"/>
              <a:t>}</a:t>
            </a:r>
            <a:br>
              <a:rPr lang="en-US" dirty="0"/>
            </a:br>
            <a:br>
              <a:rPr lang="en-US" dirty="0"/>
            </a:br>
            <a:r>
              <a:rPr lang="en-US" dirty="0"/>
              <a:t>int main() {</a:t>
            </a:r>
            <a:br>
              <a:rPr lang="en-US" dirty="0"/>
            </a:br>
            <a:r>
              <a:rPr lang="en-US" dirty="0"/>
              <a:t>    Teacher t1("Nimra", "CS", 1200.23, 12345);</a:t>
            </a:r>
            <a:br>
              <a:rPr lang="en-US" dirty="0"/>
            </a:br>
            <a:r>
              <a:rPr lang="en-US" dirty="0"/>
              <a:t>    </a:t>
            </a:r>
            <a:r>
              <a:rPr lang="en-US" dirty="0" err="1"/>
              <a:t>printTeacher</a:t>
            </a:r>
            <a:r>
              <a:rPr lang="en-US" dirty="0"/>
              <a:t>(t1);   // copy constructor called</a:t>
            </a:r>
            <a:br>
              <a:rPr lang="en-US" dirty="0"/>
            </a:br>
            <a:r>
              <a:rPr lang="en-US" dirty="0"/>
              <a:t>}</a:t>
            </a:r>
          </a:p>
          <a:p>
            <a:r>
              <a:rPr lang="en-US" dirty="0"/>
              <a:t>Here t is a copy of t1.</a:t>
            </a:r>
          </a:p>
          <a:p>
            <a:endParaRPr lang="en-US" dirty="0"/>
          </a:p>
        </p:txBody>
      </p:sp>
    </p:spTree>
    <p:extLst>
      <p:ext uri="{BB962C8B-B14F-4D97-AF65-F5344CB8AC3E}">
        <p14:creationId xmlns:p14="http://schemas.microsoft.com/office/powerpoint/2010/main" val="168039486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B13BC-E6F1-F09B-CBDB-6ECA666C4C7D}"/>
              </a:ext>
            </a:extLst>
          </p:cNvPr>
          <p:cNvSpPr>
            <a:spLocks noGrp="1"/>
          </p:cNvSpPr>
          <p:nvPr>
            <p:ph type="title"/>
          </p:nvPr>
        </p:nvSpPr>
        <p:spPr>
          <a:effectLst>
            <a:outerShdw blurRad="50800" dist="50800" dir="5400000" algn="ctr" rotWithShape="0">
              <a:srgbClr val="0070C0"/>
            </a:outerShdw>
          </a:effectLst>
        </p:spPr>
        <p:txBody>
          <a:bodyPr/>
          <a:lstStyle/>
          <a:p>
            <a:r>
              <a:rPr lang="en-US" dirty="0"/>
              <a:t>Returning by value </a:t>
            </a:r>
          </a:p>
        </p:txBody>
      </p:sp>
      <p:sp>
        <p:nvSpPr>
          <p:cNvPr id="3" name="Content Placeholder 2">
            <a:extLst>
              <a:ext uri="{FF2B5EF4-FFF2-40B4-BE49-F238E27FC236}">
                <a16:creationId xmlns:a16="http://schemas.microsoft.com/office/drawing/2014/main" id="{9861BC43-81BD-0521-C972-C13264A4B9C3}"/>
              </a:ext>
            </a:extLst>
          </p:cNvPr>
          <p:cNvSpPr>
            <a:spLocks noGrp="1"/>
          </p:cNvSpPr>
          <p:nvPr>
            <p:ph idx="1"/>
          </p:nvPr>
        </p:nvSpPr>
        <p:spPr/>
        <p:txBody>
          <a:bodyPr/>
          <a:lstStyle/>
          <a:p>
            <a:r>
              <a:rPr lang="en-US" b="1" dirty="0"/>
              <a:t>3. Return-by-value</a:t>
            </a:r>
          </a:p>
          <a:p>
            <a:r>
              <a:rPr lang="en-US" dirty="0"/>
              <a:t>When a function returns an object by value, the copy constructor may be involved.</a:t>
            </a:r>
          </a:p>
          <a:p>
            <a:r>
              <a:rPr lang="en-US" dirty="0"/>
              <a:t>Teacher </a:t>
            </a:r>
            <a:r>
              <a:rPr lang="en-US" dirty="0" err="1"/>
              <a:t>createTeacher</a:t>
            </a:r>
            <a:r>
              <a:rPr lang="en-US" dirty="0"/>
              <a:t>() {</a:t>
            </a:r>
            <a:br>
              <a:rPr lang="en-US" dirty="0"/>
            </a:br>
            <a:r>
              <a:rPr lang="en-US" dirty="0"/>
              <a:t>    Teacher t("Nimra", "CS", 1200.23, 12345);</a:t>
            </a:r>
            <a:br>
              <a:rPr lang="en-US" dirty="0"/>
            </a:br>
            <a:r>
              <a:rPr lang="en-US" dirty="0"/>
              <a:t>    return t;</a:t>
            </a:r>
            <a:br>
              <a:rPr lang="en-US" dirty="0"/>
            </a:br>
            <a:r>
              <a:rPr lang="en-US" dirty="0"/>
              <a:t>}</a:t>
            </a:r>
          </a:p>
          <a:p>
            <a:r>
              <a:rPr lang="en-US" dirty="0"/>
              <a:t>In modern C++ (C++17 and later), the compiler often performs </a:t>
            </a:r>
            <a:r>
              <a:rPr lang="en-US" b="1" dirty="0"/>
              <a:t>copy elision</a:t>
            </a:r>
            <a:r>
              <a:rPr lang="en-US" dirty="0"/>
              <a:t> or uses a </a:t>
            </a:r>
            <a:r>
              <a:rPr lang="en-US" b="1" dirty="0"/>
              <a:t>move constructor</a:t>
            </a:r>
            <a:r>
              <a:rPr lang="en-US" dirty="0"/>
              <a:t>, so you may not actually see the copy constructor run even though the code logically returns by value.</a:t>
            </a:r>
          </a:p>
          <a:p>
            <a:endParaRPr lang="en-US" dirty="0"/>
          </a:p>
        </p:txBody>
      </p:sp>
    </p:spTree>
    <p:extLst>
      <p:ext uri="{BB962C8B-B14F-4D97-AF65-F5344CB8AC3E}">
        <p14:creationId xmlns:p14="http://schemas.microsoft.com/office/powerpoint/2010/main" val="38594601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61D1879-D0F2-47AD-C599-CAFB5E561AF2}"/>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36433075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5CF50F8-A290-BC39-A423-ABF5010928CB}"/>
              </a:ext>
            </a:extLst>
          </p:cNvPr>
          <p:cNvPicPr>
            <a:picLocks noChangeAspect="1"/>
          </p:cNvPicPr>
          <p:nvPr/>
        </p:nvPicPr>
        <p:blipFill>
          <a:blip r:embed="rId2"/>
          <a:stretch>
            <a:fillRect/>
          </a:stretch>
        </p:blipFill>
        <p:spPr>
          <a:xfrm>
            <a:off x="0" y="0"/>
            <a:ext cx="12191999" cy="6858000"/>
          </a:xfrm>
          <a:prstGeom prst="rect">
            <a:avLst/>
          </a:prstGeom>
        </p:spPr>
      </p:pic>
    </p:spTree>
    <p:extLst>
      <p:ext uri="{BB962C8B-B14F-4D97-AF65-F5344CB8AC3E}">
        <p14:creationId xmlns:p14="http://schemas.microsoft.com/office/powerpoint/2010/main" val="211104487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BC10139-AB13-B279-B53B-7818E89014B6}"/>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40694734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21BD7-6E54-C33F-46EA-309CD3EA828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569C22C-C34B-D25B-60AA-1CEC2C450903}"/>
              </a:ext>
            </a:extLst>
          </p:cNvPr>
          <p:cNvSpPr>
            <a:spLocks noGrp="1"/>
          </p:cNvSpPr>
          <p:nvPr>
            <p:ph idx="1"/>
          </p:nvPr>
        </p:nvSpPr>
        <p:spPr/>
        <p:txBody>
          <a:bodyPr/>
          <a:lstStyle/>
          <a:p>
            <a:r>
              <a:rPr lang="en-US" dirty="0"/>
              <a:t>Operator overloading </a:t>
            </a:r>
          </a:p>
          <a:p>
            <a:r>
              <a:rPr lang="en-US" dirty="0"/>
              <a:t>Function/method overriding</a:t>
            </a:r>
          </a:p>
          <a:p>
            <a:r>
              <a:rPr lang="en-US" dirty="0"/>
              <a:t>Exception handling and polymorphism</a:t>
            </a:r>
          </a:p>
          <a:p>
            <a:r>
              <a:rPr lang="en-US" dirty="0"/>
              <a:t>Inheritance and polymorphism</a:t>
            </a:r>
          </a:p>
        </p:txBody>
      </p:sp>
      <p:pic>
        <p:nvPicPr>
          <p:cNvPr id="5" name="Picture 4">
            <a:extLst>
              <a:ext uri="{FF2B5EF4-FFF2-40B4-BE49-F238E27FC236}">
                <a16:creationId xmlns:a16="http://schemas.microsoft.com/office/drawing/2014/main" id="{B237DB37-54C5-50B2-FB3D-27ED17301E72}"/>
              </a:ext>
            </a:extLst>
          </p:cNvPr>
          <p:cNvPicPr>
            <a:picLocks noChangeAspect="1"/>
          </p:cNvPicPr>
          <p:nvPr/>
        </p:nvPicPr>
        <p:blipFill>
          <a:blip r:embed="rId2"/>
          <a:stretch>
            <a:fillRect/>
          </a:stretch>
        </p:blipFill>
        <p:spPr>
          <a:xfrm>
            <a:off x="4161064" y="2121408"/>
            <a:ext cx="655864" cy="302079"/>
          </a:xfrm>
          <a:prstGeom prst="rect">
            <a:avLst/>
          </a:prstGeom>
        </p:spPr>
      </p:pic>
    </p:spTree>
    <p:extLst>
      <p:ext uri="{BB962C8B-B14F-4D97-AF65-F5344CB8AC3E}">
        <p14:creationId xmlns:p14="http://schemas.microsoft.com/office/powerpoint/2010/main" val="288389097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22037-C16F-39E5-204E-985F4DCA42EC}"/>
              </a:ext>
            </a:extLst>
          </p:cNvPr>
          <p:cNvSpPr>
            <a:spLocks noGrp="1"/>
          </p:cNvSpPr>
          <p:nvPr>
            <p:ph type="title"/>
          </p:nvPr>
        </p:nvSpPr>
        <p:spPr/>
        <p:txBody>
          <a:bodyPr/>
          <a:lstStyle/>
          <a:p>
            <a:r>
              <a:rPr lang="en-US" dirty="0"/>
              <a:t>Operator overloading</a:t>
            </a:r>
          </a:p>
        </p:txBody>
      </p:sp>
      <p:sp>
        <p:nvSpPr>
          <p:cNvPr id="3" name="Content Placeholder 2">
            <a:extLst>
              <a:ext uri="{FF2B5EF4-FFF2-40B4-BE49-F238E27FC236}">
                <a16:creationId xmlns:a16="http://schemas.microsoft.com/office/drawing/2014/main" id="{0B085BCF-DD22-EEFA-8840-2F10E4B5E03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09281440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E2DEA-7BFA-7A05-E85E-422201D6FDD9}"/>
              </a:ext>
            </a:extLst>
          </p:cNvPr>
          <p:cNvSpPr>
            <a:spLocks noGrp="1"/>
          </p:cNvSpPr>
          <p:nvPr>
            <p:ph type="title"/>
          </p:nvPr>
        </p:nvSpPr>
        <p:spPr/>
        <p:txBody>
          <a:bodyPr/>
          <a:lstStyle/>
          <a:p>
            <a:r>
              <a:rPr lang="en-US" dirty="0"/>
              <a:t>Operator overriding</a:t>
            </a:r>
          </a:p>
        </p:txBody>
      </p:sp>
      <p:sp>
        <p:nvSpPr>
          <p:cNvPr id="3" name="Content Placeholder 2">
            <a:extLst>
              <a:ext uri="{FF2B5EF4-FFF2-40B4-BE49-F238E27FC236}">
                <a16:creationId xmlns:a16="http://schemas.microsoft.com/office/drawing/2014/main" id="{D6604557-DEFC-D73E-37EF-F8B15CE62ABE}"/>
              </a:ext>
            </a:extLst>
          </p:cNvPr>
          <p:cNvSpPr>
            <a:spLocks noGrp="1"/>
          </p:cNvSpPr>
          <p:nvPr>
            <p:ph idx="1"/>
          </p:nvPr>
        </p:nvSpPr>
        <p:spPr/>
        <p:txBody>
          <a:bodyPr/>
          <a:lstStyle/>
          <a:p>
            <a:pPr marL="0" indent="0">
              <a:buNone/>
            </a:pPr>
            <a:r>
              <a:rPr lang="en-US" dirty="0"/>
              <a:t>Function overriding is an OOP feature in which a derived class provides its own implementation of a function that is already defined in the base class using the same name, return type, and parameter list.</a:t>
            </a:r>
          </a:p>
          <a:p>
            <a:r>
              <a:rPr lang="en-US" b="1" dirty="0"/>
              <a:t>Important Condition</a:t>
            </a:r>
          </a:p>
          <a:p>
            <a:r>
              <a:rPr lang="en-US" dirty="0"/>
              <a:t>For overriding:</a:t>
            </a:r>
          </a:p>
          <a:p>
            <a:r>
              <a:rPr lang="en-US" b="1" dirty="0"/>
              <a:t>Function name must be same (in both parent and child class) </a:t>
            </a:r>
          </a:p>
          <a:p>
            <a:r>
              <a:rPr lang="en-US" b="1" dirty="0"/>
              <a:t>Parameters must be same( same as above)</a:t>
            </a:r>
          </a:p>
          <a:p>
            <a:r>
              <a:rPr lang="en-US" dirty="0"/>
              <a:t>Return type should be compatible( ,, )</a:t>
            </a:r>
          </a:p>
          <a:p>
            <a:br>
              <a:rPr lang="en-US" dirty="0"/>
            </a:br>
            <a:endParaRPr lang="en-US" dirty="0"/>
          </a:p>
          <a:p>
            <a:pPr marL="0" indent="0">
              <a:buNone/>
            </a:pPr>
            <a:endParaRPr lang="en-US" dirty="0"/>
          </a:p>
          <a:p>
            <a:pPr marL="0" indent="0">
              <a:buNone/>
            </a:pPr>
            <a:endParaRPr lang="en-US" b="1" dirty="0"/>
          </a:p>
        </p:txBody>
      </p:sp>
    </p:spTree>
    <p:extLst>
      <p:ext uri="{BB962C8B-B14F-4D97-AF65-F5344CB8AC3E}">
        <p14:creationId xmlns:p14="http://schemas.microsoft.com/office/powerpoint/2010/main" val="1923160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AA641-73E8-D746-B06A-6D3CD074BA40}"/>
              </a:ext>
            </a:extLst>
          </p:cNvPr>
          <p:cNvSpPr>
            <a:spLocks noGrp="1"/>
          </p:cNvSpPr>
          <p:nvPr>
            <p:ph type="title"/>
          </p:nvPr>
        </p:nvSpPr>
        <p:spPr/>
        <p:txBody>
          <a:bodyPr/>
          <a:lstStyle/>
          <a:p>
            <a:r>
              <a:rPr lang="en-US" dirty="0"/>
              <a:t>…</a:t>
            </a:r>
          </a:p>
        </p:txBody>
      </p:sp>
      <p:sp>
        <p:nvSpPr>
          <p:cNvPr id="3" name="Content Placeholder 2">
            <a:extLst>
              <a:ext uri="{FF2B5EF4-FFF2-40B4-BE49-F238E27FC236}">
                <a16:creationId xmlns:a16="http://schemas.microsoft.com/office/drawing/2014/main" id="{BA157E20-F3E3-3C98-50B1-091630E325AE}"/>
              </a:ext>
            </a:extLst>
          </p:cNvPr>
          <p:cNvSpPr>
            <a:spLocks noGrp="1"/>
          </p:cNvSpPr>
          <p:nvPr>
            <p:ph idx="1"/>
          </p:nvPr>
        </p:nvSpPr>
        <p:spPr/>
        <p:txBody>
          <a:bodyPr/>
          <a:lstStyle/>
          <a:p>
            <a:r>
              <a:rPr lang="en-US" dirty="0"/>
              <a:t>Ask yourself:</a:t>
            </a:r>
          </a:p>
          <a:p>
            <a:r>
              <a:rPr lang="en-US" dirty="0"/>
              <a:t>Does the parent already have a function? ✔ </a:t>
            </a:r>
          </a:p>
          <a:p>
            <a:r>
              <a:rPr lang="en-US" dirty="0"/>
              <a:t>Does the child define a function with the same signature? ✔ </a:t>
            </a:r>
          </a:p>
          <a:p>
            <a:r>
              <a:rPr lang="en-US" dirty="0"/>
              <a:t>Does the child want different behavior? ✔ </a:t>
            </a:r>
          </a:p>
          <a:p>
            <a:r>
              <a:rPr lang="en-US" dirty="0"/>
              <a:t>If all three answers are yes, then </a:t>
            </a:r>
            <a:r>
              <a:rPr lang="en-US" b="1" dirty="0"/>
              <a:t>function overriding</a:t>
            </a:r>
            <a:r>
              <a:rPr lang="en-US" dirty="0"/>
              <a:t> is taking place.</a:t>
            </a:r>
          </a:p>
          <a:p>
            <a:endParaRPr lang="en-US" dirty="0"/>
          </a:p>
        </p:txBody>
      </p:sp>
    </p:spTree>
    <p:extLst>
      <p:ext uri="{BB962C8B-B14F-4D97-AF65-F5344CB8AC3E}">
        <p14:creationId xmlns:p14="http://schemas.microsoft.com/office/powerpoint/2010/main" val="213040965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0070C0"/>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3622228-7FBA-8890-97A3-5395E3CB98FB}"/>
              </a:ext>
            </a:extLst>
          </p:cNvPr>
          <p:cNvPicPr>
            <a:picLocks noChangeAspect="1"/>
          </p:cNvPicPr>
          <p:nvPr/>
        </p:nvPicPr>
        <p:blipFill>
          <a:blip r:embed="rId2"/>
          <a:stretch>
            <a:fillRect/>
          </a:stretch>
        </p:blipFill>
        <p:spPr>
          <a:xfrm>
            <a:off x="2918459" y="1363435"/>
            <a:ext cx="6782107" cy="4408715"/>
          </a:xfrm>
          <a:prstGeom prst="rect">
            <a:avLst/>
          </a:prstGeom>
        </p:spPr>
      </p:pic>
    </p:spTree>
    <p:extLst>
      <p:ext uri="{BB962C8B-B14F-4D97-AF65-F5344CB8AC3E}">
        <p14:creationId xmlns:p14="http://schemas.microsoft.com/office/powerpoint/2010/main" val="331437392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18D2B-5E87-61C3-602B-65109D5C01E7}"/>
              </a:ext>
            </a:extLst>
          </p:cNvPr>
          <p:cNvSpPr>
            <a:spLocks noGrp="1"/>
          </p:cNvSpPr>
          <p:nvPr>
            <p:ph type="title"/>
          </p:nvPr>
        </p:nvSpPr>
        <p:spPr>
          <a:xfrm>
            <a:off x="1069848" y="484632"/>
            <a:ext cx="10058400" cy="674697"/>
          </a:xfrm>
        </p:spPr>
        <p:txBody>
          <a:bodyPr>
            <a:normAutofit fontScale="90000"/>
          </a:bodyPr>
          <a:lstStyle/>
          <a:p>
            <a:r>
              <a:rPr lang="en-US" dirty="0"/>
              <a:t>association— "Knows-a" Relationship</a:t>
            </a:r>
          </a:p>
        </p:txBody>
      </p:sp>
      <p:sp>
        <p:nvSpPr>
          <p:cNvPr id="3" name="Content Placeholder 2">
            <a:extLst>
              <a:ext uri="{FF2B5EF4-FFF2-40B4-BE49-F238E27FC236}">
                <a16:creationId xmlns:a16="http://schemas.microsoft.com/office/drawing/2014/main" id="{FFB405D3-9945-52FD-8401-D44A8FB8F0E6}"/>
              </a:ext>
            </a:extLst>
          </p:cNvPr>
          <p:cNvSpPr>
            <a:spLocks noGrp="1"/>
          </p:cNvSpPr>
          <p:nvPr>
            <p:ph idx="1"/>
          </p:nvPr>
        </p:nvSpPr>
        <p:spPr>
          <a:xfrm>
            <a:off x="1069848" y="1159329"/>
            <a:ext cx="10058400" cy="5633357"/>
          </a:xfrm>
        </p:spPr>
        <p:txBody>
          <a:bodyPr>
            <a:normAutofit fontScale="85000" lnSpcReduction="20000"/>
          </a:bodyPr>
          <a:lstStyle/>
          <a:p>
            <a:r>
              <a:rPr lang="en-US" b="1" dirty="0"/>
              <a:t>Definition</a:t>
            </a:r>
          </a:p>
          <a:p>
            <a:r>
              <a:rPr lang="en-US" dirty="0"/>
              <a:t>Association is a relationship where </a:t>
            </a:r>
            <a:r>
              <a:rPr lang="en-US" b="1" dirty="0"/>
              <a:t>one object knows about or uses another object</a:t>
            </a:r>
            <a:r>
              <a:rPr lang="en-US" dirty="0"/>
              <a:t>, but neither owns the other.</a:t>
            </a:r>
          </a:p>
          <a:p>
            <a:r>
              <a:rPr lang="en-US" dirty="0"/>
              <a:t>Both objects can exist independently.</a:t>
            </a:r>
          </a:p>
          <a:p>
            <a:r>
              <a:rPr lang="en-US" b="1" dirty="0"/>
              <a:t>Real-Life Example</a:t>
            </a:r>
          </a:p>
          <a:p>
            <a:r>
              <a:rPr lang="en-US" b="1" dirty="0"/>
              <a:t>Doctor and Patient</a:t>
            </a:r>
          </a:p>
          <a:p>
            <a:r>
              <a:rPr lang="en-US" dirty="0"/>
              <a:t>Doctor treats Patient. </a:t>
            </a:r>
          </a:p>
          <a:p>
            <a:r>
              <a:rPr lang="en-US" dirty="0"/>
              <a:t>Patient visits Doctor. </a:t>
            </a:r>
          </a:p>
          <a:p>
            <a:r>
              <a:rPr lang="en-US" dirty="0"/>
              <a:t>Doctor can exist without Patient. </a:t>
            </a:r>
          </a:p>
          <a:p>
            <a:r>
              <a:rPr lang="en-US" dirty="0"/>
              <a:t>Patient can exist without Doctor. </a:t>
            </a:r>
          </a:p>
          <a:p>
            <a:r>
              <a:rPr lang="en-US" dirty="0"/>
              <a:t>They only interact.</a:t>
            </a:r>
          </a:p>
          <a:p>
            <a:r>
              <a:rPr lang="en-US" dirty="0"/>
              <a:t>Doctor  &lt;-------&gt;  Patient</a:t>
            </a:r>
          </a:p>
          <a:p>
            <a:r>
              <a:rPr lang="en-US" dirty="0"/>
              <a:t>void treat(Patient* p);</a:t>
            </a:r>
            <a:br>
              <a:rPr lang="en-US" dirty="0"/>
            </a:br>
            <a:r>
              <a:rPr lang="en-US" dirty="0"/>
              <a:t>void visit(Doctor* d);</a:t>
            </a:r>
          </a:p>
          <a:p>
            <a:r>
              <a:rPr lang="en-US" dirty="0"/>
              <a:t>Doctor knows about Patient. </a:t>
            </a:r>
          </a:p>
          <a:p>
            <a:r>
              <a:rPr lang="en-US" dirty="0"/>
              <a:t>Patient knows about Doctor. </a:t>
            </a:r>
          </a:p>
          <a:p>
            <a:r>
              <a:rPr lang="en-US" dirty="0"/>
              <a:t>Both communicate using </a:t>
            </a:r>
            <a:r>
              <a:rPr lang="en-US" b="1" dirty="0"/>
              <a:t>pointers</a:t>
            </a:r>
            <a:r>
              <a:rPr lang="en-US" dirty="0"/>
              <a:t>.</a:t>
            </a:r>
          </a:p>
          <a:p>
            <a:endParaRPr lang="en-US" dirty="0"/>
          </a:p>
          <a:p>
            <a:endParaRPr lang="en-US" dirty="0"/>
          </a:p>
          <a:p>
            <a:endParaRPr lang="en-US" dirty="0"/>
          </a:p>
        </p:txBody>
      </p:sp>
    </p:spTree>
    <p:extLst>
      <p:ext uri="{BB962C8B-B14F-4D97-AF65-F5344CB8AC3E}">
        <p14:creationId xmlns:p14="http://schemas.microsoft.com/office/powerpoint/2010/main" val="290001957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A67B6-69AE-CF06-6C3E-3F086A893EA1}"/>
              </a:ext>
            </a:extLst>
          </p:cNvPr>
          <p:cNvSpPr>
            <a:spLocks noGrp="1"/>
          </p:cNvSpPr>
          <p:nvPr>
            <p:ph type="title"/>
          </p:nvPr>
        </p:nvSpPr>
        <p:spPr/>
        <p:txBody>
          <a:bodyPr/>
          <a:lstStyle/>
          <a:p>
            <a:r>
              <a:rPr lang="en-US" dirty="0"/>
              <a:t>Association (Bidirectional or Unidirectional)</a:t>
            </a:r>
          </a:p>
        </p:txBody>
      </p:sp>
      <p:sp>
        <p:nvSpPr>
          <p:cNvPr id="7" name="Text Placeholder 6">
            <a:extLst>
              <a:ext uri="{FF2B5EF4-FFF2-40B4-BE49-F238E27FC236}">
                <a16:creationId xmlns:a16="http://schemas.microsoft.com/office/drawing/2014/main" id="{29265693-007F-FF1E-DED8-1F7C82217894}"/>
              </a:ext>
            </a:extLst>
          </p:cNvPr>
          <p:cNvSpPr>
            <a:spLocks noGrp="1"/>
          </p:cNvSpPr>
          <p:nvPr>
            <p:ph type="body" idx="1"/>
          </p:nvPr>
        </p:nvSpPr>
        <p:spPr/>
        <p:txBody>
          <a:bodyPr/>
          <a:lstStyle/>
          <a:p>
            <a:r>
              <a:rPr lang="en-US" dirty="0"/>
              <a:t>type</a:t>
            </a:r>
          </a:p>
        </p:txBody>
      </p:sp>
      <p:sp>
        <p:nvSpPr>
          <p:cNvPr id="8" name="Content Placeholder 7">
            <a:extLst>
              <a:ext uri="{FF2B5EF4-FFF2-40B4-BE49-F238E27FC236}">
                <a16:creationId xmlns:a16="http://schemas.microsoft.com/office/drawing/2014/main" id="{1E5B1265-C81B-5A4D-237A-5F04D34F6387}"/>
              </a:ext>
            </a:extLst>
          </p:cNvPr>
          <p:cNvSpPr>
            <a:spLocks noGrp="1"/>
          </p:cNvSpPr>
          <p:nvPr>
            <p:ph sz="half" idx="2"/>
          </p:nvPr>
        </p:nvSpPr>
        <p:spPr>
          <a:xfrm>
            <a:off x="1069848" y="2743200"/>
            <a:ext cx="4754880" cy="1609344"/>
          </a:xfrm>
        </p:spPr>
        <p:txBody>
          <a:bodyPr/>
          <a:lstStyle/>
          <a:p>
            <a:r>
              <a:rPr lang="en-US" dirty="0"/>
              <a:t>Unidirectional Association</a:t>
            </a:r>
          </a:p>
          <a:p>
            <a:r>
              <a:rPr lang="en-US" dirty="0"/>
              <a:t>Bidirectional Association</a:t>
            </a:r>
          </a:p>
        </p:txBody>
      </p:sp>
      <p:sp>
        <p:nvSpPr>
          <p:cNvPr id="9" name="Text Placeholder 8">
            <a:extLst>
              <a:ext uri="{FF2B5EF4-FFF2-40B4-BE49-F238E27FC236}">
                <a16:creationId xmlns:a16="http://schemas.microsoft.com/office/drawing/2014/main" id="{43396F37-1159-C2B3-3593-38EE51442BA5}"/>
              </a:ext>
            </a:extLst>
          </p:cNvPr>
          <p:cNvSpPr>
            <a:spLocks noGrp="1"/>
          </p:cNvSpPr>
          <p:nvPr>
            <p:ph type="body" sz="quarter" idx="3"/>
          </p:nvPr>
        </p:nvSpPr>
        <p:spPr/>
        <p:txBody>
          <a:bodyPr/>
          <a:lstStyle/>
          <a:p>
            <a:r>
              <a:rPr lang="en-US" dirty="0"/>
              <a:t>meaning</a:t>
            </a:r>
          </a:p>
        </p:txBody>
      </p:sp>
      <p:sp>
        <p:nvSpPr>
          <p:cNvPr id="10" name="Content Placeholder 9">
            <a:extLst>
              <a:ext uri="{FF2B5EF4-FFF2-40B4-BE49-F238E27FC236}">
                <a16:creationId xmlns:a16="http://schemas.microsoft.com/office/drawing/2014/main" id="{DD320923-736F-45E3-8358-17157BA059E9}"/>
              </a:ext>
            </a:extLst>
          </p:cNvPr>
          <p:cNvSpPr>
            <a:spLocks noGrp="1"/>
          </p:cNvSpPr>
          <p:nvPr>
            <p:ph sz="quarter" idx="4"/>
          </p:nvPr>
        </p:nvSpPr>
        <p:spPr>
          <a:xfrm>
            <a:off x="6364224" y="2743200"/>
            <a:ext cx="4754880" cy="1143000"/>
          </a:xfrm>
        </p:spPr>
        <p:txBody>
          <a:bodyPr/>
          <a:lstStyle/>
          <a:p>
            <a:r>
              <a:rPr lang="en-US" dirty="0"/>
              <a:t>One object knows about another object</a:t>
            </a:r>
          </a:p>
          <a:p>
            <a:r>
              <a:rPr lang="en-US" dirty="0"/>
              <a:t>Both objects know about each other</a:t>
            </a:r>
          </a:p>
        </p:txBody>
      </p:sp>
      <p:sp>
        <p:nvSpPr>
          <p:cNvPr id="12" name="TextBox 11">
            <a:extLst>
              <a:ext uri="{FF2B5EF4-FFF2-40B4-BE49-F238E27FC236}">
                <a16:creationId xmlns:a16="http://schemas.microsoft.com/office/drawing/2014/main" id="{ADFF8AF7-B28F-9178-C74D-500C010CE8EA}"/>
              </a:ext>
            </a:extLst>
          </p:cNvPr>
          <p:cNvSpPr txBox="1"/>
          <p:nvPr/>
        </p:nvSpPr>
        <p:spPr>
          <a:xfrm>
            <a:off x="981756" y="4352544"/>
            <a:ext cx="5114244" cy="1477328"/>
          </a:xfrm>
          <a:prstGeom prst="rect">
            <a:avLst/>
          </a:prstGeom>
          <a:noFill/>
        </p:spPr>
        <p:txBody>
          <a:bodyPr wrap="square">
            <a:spAutoFit/>
          </a:bodyPr>
          <a:lstStyle/>
          <a:p>
            <a:pPr>
              <a:buNone/>
            </a:pPr>
            <a:r>
              <a:rPr lang="en-US" b="1" dirty="0"/>
              <a:t>One-line Definition</a:t>
            </a:r>
          </a:p>
          <a:p>
            <a:pPr>
              <a:buNone/>
            </a:pPr>
            <a:r>
              <a:rPr lang="en-US" b="1" dirty="0"/>
              <a:t>Unidirectional Association:</a:t>
            </a:r>
            <a:r>
              <a:rPr lang="en-US" dirty="0"/>
              <a:t> One class has a reference/pointer to another class.</a:t>
            </a:r>
          </a:p>
          <a:p>
            <a:pPr>
              <a:buNone/>
            </a:pPr>
            <a:r>
              <a:rPr lang="en-US" b="1" dirty="0"/>
              <a:t>Bidirectional Association:</a:t>
            </a:r>
            <a:r>
              <a:rPr lang="en-US" dirty="0"/>
              <a:t> Both classes have references/pointers to each other.</a:t>
            </a:r>
          </a:p>
        </p:txBody>
      </p:sp>
      <p:sp>
        <p:nvSpPr>
          <p:cNvPr id="14" name="TextBox 13">
            <a:extLst>
              <a:ext uri="{FF2B5EF4-FFF2-40B4-BE49-F238E27FC236}">
                <a16:creationId xmlns:a16="http://schemas.microsoft.com/office/drawing/2014/main" id="{4A33F2B9-99A5-EE8A-A2C2-16F26F447927}"/>
              </a:ext>
            </a:extLst>
          </p:cNvPr>
          <p:cNvSpPr txBox="1"/>
          <p:nvPr/>
        </p:nvSpPr>
        <p:spPr>
          <a:xfrm>
            <a:off x="6174241" y="4755861"/>
            <a:ext cx="6094638" cy="1200329"/>
          </a:xfrm>
          <a:prstGeom prst="rect">
            <a:avLst/>
          </a:prstGeom>
          <a:noFill/>
        </p:spPr>
        <p:txBody>
          <a:bodyPr wrap="square">
            <a:spAutoFit/>
          </a:bodyPr>
          <a:lstStyle/>
          <a:p>
            <a:r>
              <a:rPr lang="en-US" dirty="0"/>
              <a:t>Key Implementation: Uses pointers or references to link objects.</a:t>
            </a:r>
          </a:p>
          <a:p>
            <a:r>
              <a:rPr lang="en-US" dirty="0"/>
              <a:t> Lifecycle: Neither object "owns" the other; they are created and destroyed independently.</a:t>
            </a:r>
          </a:p>
        </p:txBody>
      </p:sp>
    </p:spTree>
    <p:extLst>
      <p:ext uri="{BB962C8B-B14F-4D97-AF65-F5344CB8AC3E}">
        <p14:creationId xmlns:p14="http://schemas.microsoft.com/office/powerpoint/2010/main" val="303510742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B4064-E342-F73A-EB47-9FBB9D5A1739}"/>
              </a:ext>
            </a:extLst>
          </p:cNvPr>
          <p:cNvSpPr>
            <a:spLocks noGrp="1"/>
          </p:cNvSpPr>
          <p:nvPr>
            <p:ph type="title"/>
          </p:nvPr>
        </p:nvSpPr>
        <p:spPr/>
        <p:txBody>
          <a:bodyPr/>
          <a:lstStyle/>
          <a:p>
            <a:r>
              <a:rPr lang="en-US" dirty="0"/>
              <a:t>2. Aggregation — "Has-a" Weak Relationship</a:t>
            </a:r>
          </a:p>
        </p:txBody>
      </p:sp>
      <p:sp>
        <p:nvSpPr>
          <p:cNvPr id="3" name="Content Placeholder 2">
            <a:extLst>
              <a:ext uri="{FF2B5EF4-FFF2-40B4-BE49-F238E27FC236}">
                <a16:creationId xmlns:a16="http://schemas.microsoft.com/office/drawing/2014/main" id="{41DC920D-1993-AAFF-652B-CBE23E52C56F}"/>
              </a:ext>
            </a:extLst>
          </p:cNvPr>
          <p:cNvSpPr>
            <a:spLocks noGrp="1"/>
          </p:cNvSpPr>
          <p:nvPr>
            <p:ph idx="1"/>
          </p:nvPr>
        </p:nvSpPr>
        <p:spPr>
          <a:xfrm>
            <a:off x="1069848" y="2121407"/>
            <a:ext cx="10058400" cy="4653465"/>
          </a:xfrm>
        </p:spPr>
        <p:txBody>
          <a:bodyPr>
            <a:normAutofit fontScale="85000" lnSpcReduction="10000"/>
          </a:bodyPr>
          <a:lstStyle/>
          <a:p>
            <a:r>
              <a:rPr lang="en-US" b="1" dirty="0"/>
              <a:t>Definition</a:t>
            </a:r>
          </a:p>
          <a:p>
            <a:r>
              <a:rPr lang="en-US" dirty="0"/>
              <a:t>Aggregation is a special type of association where one object contains another object, but does NOT own it.</a:t>
            </a:r>
          </a:p>
          <a:p>
            <a:r>
              <a:rPr lang="en-US" dirty="0"/>
              <a:t>The contained object can exist independently.</a:t>
            </a:r>
          </a:p>
          <a:p>
            <a:r>
              <a:rPr lang="en-US" dirty="0"/>
              <a:t>Department has-a Professor</a:t>
            </a:r>
          </a:p>
          <a:p>
            <a:r>
              <a:rPr lang="en-US" b="1" dirty="0"/>
              <a:t>Aggregation</a:t>
            </a:r>
          </a:p>
          <a:p>
            <a:r>
              <a:rPr lang="en-US" dirty="0"/>
              <a:t>Department --------&gt; Professor</a:t>
            </a:r>
          </a:p>
          <a:p>
            <a:r>
              <a:rPr lang="en-US" dirty="0"/>
              <a:t>The Department contains or uses Professors, but does </a:t>
            </a:r>
            <a:r>
              <a:rPr lang="en-US" b="1" dirty="0"/>
              <a:t>not own</a:t>
            </a:r>
            <a:r>
              <a:rPr lang="en-US" dirty="0"/>
              <a:t> them.</a:t>
            </a:r>
          </a:p>
          <a:p>
            <a:r>
              <a:rPr lang="en-US" dirty="0"/>
              <a:t>👉 </a:t>
            </a:r>
            <a:r>
              <a:rPr lang="en-US" b="1" dirty="0"/>
              <a:t>Aggregation is a weak "has-a" relationship where the contained object can exist independently of the container, meaning there is no strong lifetime dependency.</a:t>
            </a:r>
          </a:p>
          <a:p>
            <a:r>
              <a:rPr lang="en-US" dirty="0"/>
              <a:t>Aggregation = Weak = independent life</a:t>
            </a:r>
          </a:p>
          <a:p>
            <a:r>
              <a:rPr lang="en-US" b="1" dirty="0"/>
              <a:t>Composition = Strong = dependent life</a:t>
            </a:r>
            <a:r>
              <a:rPr lang="en-US" dirty="0"/>
              <a:t> </a:t>
            </a:r>
          </a:p>
          <a:p>
            <a:r>
              <a:rPr lang="en-US" b="1" dirty="0"/>
              <a:t>Aggregation is a weak Has-a relationship in which the part can exist independently of the whole.</a:t>
            </a:r>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93924244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06091-B88C-46A0-63D9-DDB9D87C6CC5}"/>
              </a:ext>
            </a:extLst>
          </p:cNvPr>
          <p:cNvSpPr>
            <a:spLocks noGrp="1"/>
          </p:cNvSpPr>
          <p:nvPr>
            <p:ph type="title"/>
          </p:nvPr>
        </p:nvSpPr>
        <p:spPr>
          <a:xfrm>
            <a:off x="1069848" y="484632"/>
            <a:ext cx="10058400" cy="1531947"/>
          </a:xfrm>
        </p:spPr>
        <p:txBody>
          <a:bodyPr>
            <a:normAutofit fontScale="90000"/>
          </a:bodyPr>
          <a:lstStyle/>
          <a:p>
            <a:r>
              <a:rPr lang="en-US" b="1" dirty="0"/>
              <a:t>Aggregation (Special Type of Association)</a:t>
            </a:r>
            <a:endParaRPr lang="en-US" dirty="0"/>
          </a:p>
        </p:txBody>
      </p:sp>
      <p:sp>
        <p:nvSpPr>
          <p:cNvPr id="3" name="Content Placeholder 2">
            <a:extLst>
              <a:ext uri="{FF2B5EF4-FFF2-40B4-BE49-F238E27FC236}">
                <a16:creationId xmlns:a16="http://schemas.microsoft.com/office/drawing/2014/main" id="{DBB59BCE-EE71-AF00-12D8-44976284EAAC}"/>
              </a:ext>
            </a:extLst>
          </p:cNvPr>
          <p:cNvSpPr>
            <a:spLocks noGrp="1"/>
          </p:cNvSpPr>
          <p:nvPr>
            <p:ph idx="1"/>
          </p:nvPr>
        </p:nvSpPr>
        <p:spPr>
          <a:xfrm>
            <a:off x="1069848" y="2016580"/>
            <a:ext cx="10058400" cy="4841420"/>
          </a:xfrm>
        </p:spPr>
        <p:txBody>
          <a:bodyPr>
            <a:normAutofit fontScale="55000" lnSpcReduction="20000"/>
          </a:bodyPr>
          <a:lstStyle/>
          <a:p>
            <a:r>
              <a:rPr lang="en-US" dirty="0"/>
              <a:t>Aggregation means:</a:t>
            </a:r>
          </a:p>
          <a:p>
            <a:r>
              <a:rPr lang="en-US" dirty="0"/>
              <a:t>One object has another object as a part/member, but does not own it.</a:t>
            </a:r>
          </a:p>
          <a:p>
            <a:r>
              <a:rPr lang="en-US" dirty="0"/>
              <a:t>Department &lt;&gt;------ Professor</a:t>
            </a:r>
          </a:p>
          <a:p>
            <a:r>
              <a:rPr lang="en-US" dirty="0"/>
              <a:t>(UML uses a hollow diamond ◇ on the Department side.)</a:t>
            </a:r>
          </a:p>
          <a:p>
            <a:r>
              <a:rPr lang="en-US" dirty="0"/>
              <a:t>Characteristics:</a:t>
            </a:r>
          </a:p>
          <a:p>
            <a:r>
              <a:rPr lang="en-US" dirty="0"/>
              <a:t>Objects are independent. </a:t>
            </a:r>
          </a:p>
          <a:p>
            <a:r>
              <a:rPr lang="en-US" dirty="0"/>
              <a:t>No ownership. </a:t>
            </a:r>
          </a:p>
          <a:p>
            <a:r>
              <a:rPr lang="en-US" dirty="0"/>
              <a:t>Whole–Part relationship exists. </a:t>
            </a:r>
          </a:p>
          <a:p>
            <a:r>
              <a:rPr lang="en-US" dirty="0"/>
              <a:t>The contained object can exist without the container.</a:t>
            </a:r>
          </a:p>
          <a:p>
            <a:r>
              <a:rPr lang="en-US" dirty="0"/>
              <a:t>class Department</a:t>
            </a:r>
            <a:br>
              <a:rPr lang="en-US" dirty="0"/>
            </a:br>
            <a:r>
              <a:rPr lang="en-US" dirty="0"/>
              <a:t>{</a:t>
            </a:r>
            <a:br>
              <a:rPr lang="en-US" dirty="0"/>
            </a:br>
            <a:r>
              <a:rPr lang="en-US" dirty="0"/>
              <a:t>    Professor* prof;</a:t>
            </a:r>
            <a:br>
              <a:rPr lang="en-US" dirty="0"/>
            </a:br>
            <a:r>
              <a:rPr lang="en-US" dirty="0"/>
              <a:t>};</a:t>
            </a:r>
          </a:p>
          <a:p>
            <a:r>
              <a:rPr lang="en-US" dirty="0"/>
              <a:t>A Department </a:t>
            </a:r>
            <a:r>
              <a:rPr lang="en-US" b="1" dirty="0"/>
              <a:t>has a</a:t>
            </a:r>
            <a:r>
              <a:rPr lang="en-US" dirty="0"/>
              <a:t> Professor.</a:t>
            </a:r>
          </a:p>
          <a:p>
            <a:r>
              <a:rPr lang="en-US" dirty="0"/>
              <a:t>The Professor can still exist if the Department is destroyed.</a:t>
            </a:r>
          </a:p>
          <a:p>
            <a:r>
              <a:rPr lang="en-US" dirty="0"/>
              <a:t>Aggregation</a:t>
            </a:r>
          </a:p>
          <a:p>
            <a:r>
              <a:rPr lang="en-US" dirty="0"/>
              <a:t>Even though both are independent, Aggregation additionally says:</a:t>
            </a:r>
          </a:p>
          <a:p>
            <a:r>
              <a:rPr lang="en-US" dirty="0"/>
              <a:t>"One object contains or is made up of the other object."</a:t>
            </a:r>
          </a:p>
          <a:p>
            <a:r>
              <a:rPr lang="en-US" dirty="0"/>
              <a:t>That </a:t>
            </a:r>
            <a:r>
              <a:rPr lang="en-US" b="1" dirty="0"/>
              <a:t>whole-part ("has-a") idea</a:t>
            </a:r>
            <a:r>
              <a:rPr lang="en-US" dirty="0"/>
              <a:t> is the main difference between Association and Aggregation.</a:t>
            </a:r>
          </a:p>
          <a:p>
            <a:endParaRPr lang="en-US" dirty="0"/>
          </a:p>
          <a:p>
            <a:endParaRPr lang="en-US" dirty="0"/>
          </a:p>
          <a:p>
            <a:endParaRPr lang="en-US" dirty="0"/>
          </a:p>
        </p:txBody>
      </p:sp>
    </p:spTree>
    <p:extLst>
      <p:ext uri="{BB962C8B-B14F-4D97-AF65-F5344CB8AC3E}">
        <p14:creationId xmlns:p14="http://schemas.microsoft.com/office/powerpoint/2010/main" val="71060304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1A1DC-883F-279C-E6C8-3A484F165241}"/>
              </a:ext>
            </a:extLst>
          </p:cNvPr>
          <p:cNvSpPr>
            <a:spLocks noGrp="1"/>
          </p:cNvSpPr>
          <p:nvPr>
            <p:ph type="title"/>
          </p:nvPr>
        </p:nvSpPr>
        <p:spPr>
          <a:xfrm>
            <a:off x="1069848" y="484632"/>
            <a:ext cx="10058400" cy="878804"/>
          </a:xfrm>
        </p:spPr>
        <p:txBody>
          <a:bodyPr/>
          <a:lstStyle/>
          <a:p>
            <a:r>
              <a:rPr lang="en-US" b="1" dirty="0"/>
              <a:t>Key Difference</a:t>
            </a:r>
            <a:endParaRPr lang="en-US" dirty="0"/>
          </a:p>
        </p:txBody>
      </p:sp>
      <p:sp>
        <p:nvSpPr>
          <p:cNvPr id="3" name="Content Placeholder 2">
            <a:extLst>
              <a:ext uri="{FF2B5EF4-FFF2-40B4-BE49-F238E27FC236}">
                <a16:creationId xmlns:a16="http://schemas.microsoft.com/office/drawing/2014/main" id="{9055E736-EA79-22C3-47BA-A3312F83C616}"/>
              </a:ext>
            </a:extLst>
          </p:cNvPr>
          <p:cNvSpPr>
            <a:spLocks noGrp="1"/>
          </p:cNvSpPr>
          <p:nvPr>
            <p:ph idx="1"/>
          </p:nvPr>
        </p:nvSpPr>
        <p:spPr>
          <a:xfrm>
            <a:off x="1069848" y="1208313"/>
            <a:ext cx="10058400" cy="5568043"/>
          </a:xfrm>
        </p:spPr>
        <p:txBody>
          <a:bodyPr>
            <a:normAutofit fontScale="62500" lnSpcReduction="20000"/>
          </a:bodyPr>
          <a:lstStyle/>
          <a:p>
            <a:endParaRPr lang="en-US" b="1" dirty="0"/>
          </a:p>
          <a:p>
            <a:r>
              <a:rPr lang="en-US" b="1" dirty="0"/>
              <a:t>Association = "Uses/Knows"</a:t>
            </a:r>
          </a:p>
          <a:p>
            <a:r>
              <a:rPr lang="en-US" dirty="0"/>
              <a:t>Doctor -------&gt; Patient</a:t>
            </a:r>
          </a:p>
          <a:p>
            <a:r>
              <a:rPr lang="en-US" dirty="0"/>
              <a:t>Doctor interacts with Patient.</a:t>
            </a:r>
          </a:p>
          <a:p>
            <a:r>
              <a:rPr lang="en-US" dirty="0"/>
              <a:t>Patient is not really a part of Doctor.</a:t>
            </a:r>
          </a:p>
          <a:p>
            <a:r>
              <a:rPr lang="en-US" b="1" dirty="0"/>
              <a:t>Aggregation = "Has-a"</a:t>
            </a:r>
          </a:p>
          <a:p>
            <a:r>
              <a:rPr lang="en-US" dirty="0"/>
              <a:t>Department &lt;&gt;------ Professor</a:t>
            </a:r>
          </a:p>
          <a:p>
            <a:r>
              <a:rPr lang="en-US" dirty="0"/>
              <a:t>Professor is considered part of the Department structure, but is not owned by it.</a:t>
            </a:r>
          </a:p>
          <a:p>
            <a:r>
              <a:rPr lang="en-US" b="1" dirty="0"/>
              <a:t>Real-Life Examples</a:t>
            </a:r>
          </a:p>
          <a:p>
            <a:r>
              <a:rPr lang="en-US" b="1" dirty="0"/>
              <a:t>Association</a:t>
            </a:r>
          </a:p>
          <a:p>
            <a:r>
              <a:rPr lang="en-US" dirty="0"/>
              <a:t>Teacher -------&gt; Student</a:t>
            </a:r>
          </a:p>
          <a:p>
            <a:r>
              <a:rPr lang="en-US" dirty="0"/>
              <a:t>Teacher teaches Student.</a:t>
            </a:r>
          </a:p>
          <a:p>
            <a:r>
              <a:rPr lang="en-US" dirty="0"/>
              <a:t>Student is not a part of Teacher.</a:t>
            </a:r>
          </a:p>
          <a:p>
            <a:r>
              <a:rPr lang="en-US" b="1" dirty="0"/>
              <a:t>Aggregation</a:t>
            </a:r>
          </a:p>
          <a:p>
            <a:r>
              <a:rPr lang="en-US" dirty="0"/>
              <a:t>Library &lt;&gt;------ Book</a:t>
            </a:r>
          </a:p>
          <a:p>
            <a:r>
              <a:rPr lang="en-US" dirty="0"/>
              <a:t>(or Department–Professor)</a:t>
            </a:r>
          </a:p>
          <a:p>
            <a:r>
              <a:rPr lang="en-US" dirty="0"/>
              <a:t>Library has books.</a:t>
            </a:r>
          </a:p>
          <a:p>
            <a:r>
              <a:rPr lang="en-US" dirty="0"/>
              <a:t>Books can exist outside the library.</a:t>
            </a:r>
          </a:p>
          <a:p>
            <a:r>
              <a:rPr lang="en-US" dirty="0"/>
              <a:t>There is a whole-part relationship.</a:t>
            </a:r>
          </a:p>
        </p:txBody>
      </p:sp>
    </p:spTree>
    <p:extLst>
      <p:ext uri="{BB962C8B-B14F-4D97-AF65-F5344CB8AC3E}">
        <p14:creationId xmlns:p14="http://schemas.microsoft.com/office/powerpoint/2010/main" val="154408643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325C7-FAC9-9BF5-7F2D-F5A7D9E319D0}"/>
              </a:ext>
            </a:extLst>
          </p:cNvPr>
          <p:cNvSpPr>
            <a:spLocks noGrp="1"/>
          </p:cNvSpPr>
          <p:nvPr>
            <p:ph type="title"/>
          </p:nvPr>
        </p:nvSpPr>
        <p:spPr>
          <a:xfrm>
            <a:off x="1069848" y="484632"/>
            <a:ext cx="10058400" cy="429768"/>
          </a:xfrm>
        </p:spPr>
        <p:txBody>
          <a:bodyPr>
            <a:normAutofit fontScale="90000"/>
          </a:bodyPr>
          <a:lstStyle/>
          <a:p>
            <a:r>
              <a:rPr lang="en-US" dirty="0"/>
              <a:t>Key concept summary</a:t>
            </a:r>
          </a:p>
        </p:txBody>
      </p:sp>
      <p:sp>
        <p:nvSpPr>
          <p:cNvPr id="3" name="Content Placeholder 2">
            <a:extLst>
              <a:ext uri="{FF2B5EF4-FFF2-40B4-BE49-F238E27FC236}">
                <a16:creationId xmlns:a16="http://schemas.microsoft.com/office/drawing/2014/main" id="{34E8DBD4-5413-670C-C0BD-3B1DB2FA28FF}"/>
              </a:ext>
            </a:extLst>
          </p:cNvPr>
          <p:cNvSpPr>
            <a:spLocks noGrp="1"/>
          </p:cNvSpPr>
          <p:nvPr>
            <p:ph idx="1"/>
          </p:nvPr>
        </p:nvSpPr>
        <p:spPr>
          <a:xfrm>
            <a:off x="1069848" y="914400"/>
            <a:ext cx="10058400" cy="5943600"/>
          </a:xfrm>
        </p:spPr>
        <p:txBody>
          <a:bodyPr>
            <a:normAutofit fontScale="25000" lnSpcReduction="20000"/>
          </a:bodyPr>
          <a:lstStyle/>
          <a:p>
            <a:r>
              <a:rPr lang="en-US" b="1" dirty="0"/>
              <a:t>Key Concept Summary</a:t>
            </a:r>
          </a:p>
          <a:p>
            <a:r>
              <a:rPr lang="en-US" b="1" dirty="0"/>
              <a:t>1. Arrow Direction ≠ Ownership</a:t>
            </a:r>
          </a:p>
          <a:p>
            <a:r>
              <a:rPr lang="en-US" dirty="0"/>
              <a:t>The arrow shows </a:t>
            </a:r>
            <a:r>
              <a:rPr lang="en-US" b="1" dirty="0"/>
              <a:t>who knows about whom</a:t>
            </a:r>
            <a:r>
              <a:rPr lang="en-US" dirty="0"/>
              <a:t>, not who owns whom.</a:t>
            </a:r>
          </a:p>
          <a:p>
            <a:r>
              <a:rPr lang="en-US" dirty="0"/>
              <a:t>Department -----&gt; Professor</a:t>
            </a:r>
          </a:p>
          <a:p>
            <a:r>
              <a:rPr lang="en-US" dirty="0"/>
              <a:t>means:</a:t>
            </a:r>
          </a:p>
          <a:p>
            <a:r>
              <a:rPr lang="en-US" dirty="0"/>
              <a:t>✅ Department can access Professor</a:t>
            </a:r>
            <a:br>
              <a:rPr lang="en-US" dirty="0"/>
            </a:br>
            <a:r>
              <a:rPr lang="en-US" dirty="0"/>
              <a:t>❌ Professor cannot directly access Department</a:t>
            </a:r>
          </a:p>
          <a:p>
            <a:r>
              <a:rPr lang="en-US" b="1" dirty="0"/>
              <a:t>2. Single Arrow = Unidirectional</a:t>
            </a:r>
          </a:p>
          <a:p>
            <a:r>
              <a:rPr lang="en-US" dirty="0"/>
              <a:t>Department -----&gt; Professor</a:t>
            </a:r>
          </a:p>
          <a:p>
            <a:r>
              <a:rPr lang="en-US" dirty="0"/>
              <a:t>Only one side knows the other.</a:t>
            </a:r>
          </a:p>
          <a:p>
            <a:r>
              <a:rPr lang="en-US" b="1" dirty="0"/>
              <a:t>3. Double Arrow = Bidirectional</a:t>
            </a:r>
          </a:p>
          <a:p>
            <a:r>
              <a:rPr lang="en-US" dirty="0"/>
              <a:t>Department &lt;-----&gt; Professor</a:t>
            </a:r>
          </a:p>
          <a:p>
            <a:r>
              <a:rPr lang="en-US" dirty="0"/>
              <a:t>Both sides know each other.</a:t>
            </a:r>
          </a:p>
          <a:p>
            <a:r>
              <a:rPr lang="en-US" b="1" dirty="0"/>
              <a:t>4. Independence = Lifecycle</a:t>
            </a:r>
          </a:p>
          <a:p>
            <a:r>
              <a:rPr lang="en-US" dirty="0"/>
              <a:t>When we say objects are independent:</a:t>
            </a:r>
          </a:p>
          <a:p>
            <a:r>
              <a:rPr lang="en-US" dirty="0"/>
              <a:t>Destroy Department → Professor survives</a:t>
            </a:r>
            <a:br>
              <a:rPr lang="en-US" dirty="0"/>
            </a:br>
            <a:r>
              <a:rPr lang="en-US" dirty="0"/>
              <a:t>Destroy Professor  → Department survives</a:t>
            </a:r>
          </a:p>
          <a:p>
            <a:r>
              <a:rPr lang="en-US" dirty="0"/>
              <a:t>This is about </a:t>
            </a:r>
            <a:r>
              <a:rPr lang="en-US" b="1" dirty="0"/>
              <a:t>lifecycle</a:t>
            </a:r>
            <a:r>
              <a:rPr lang="en-US" dirty="0"/>
              <a:t>, not arrows.</a:t>
            </a:r>
          </a:p>
          <a:p>
            <a:r>
              <a:rPr lang="en-US" b="1" dirty="0"/>
              <a:t>5. Aggregation's Main Idea</a:t>
            </a:r>
          </a:p>
          <a:p>
            <a:r>
              <a:rPr lang="en-US" dirty="0"/>
              <a:t>Department has-a Professor</a:t>
            </a:r>
          </a:p>
          <a:p>
            <a:r>
              <a:rPr lang="en-US" dirty="0"/>
              <a:t>Department contains/uses Professor. </a:t>
            </a:r>
          </a:p>
          <a:p>
            <a:r>
              <a:rPr lang="en-US" dirty="0"/>
              <a:t>Department does NOT own Professor. </a:t>
            </a:r>
          </a:p>
          <a:p>
            <a:r>
              <a:rPr lang="en-US" dirty="0"/>
              <a:t>Both can exist independently. </a:t>
            </a:r>
          </a:p>
          <a:p>
            <a:r>
              <a:rPr lang="en-US" b="1" dirty="0"/>
              <a:t>One-Line Exam Rule</a:t>
            </a:r>
          </a:p>
          <a:p>
            <a:r>
              <a:rPr lang="en-US" b="1" dirty="0"/>
              <a:t>Arrow = navigability (who knows whom).</a:t>
            </a:r>
            <a:br>
              <a:rPr lang="en-US" b="1" dirty="0"/>
            </a:br>
            <a:r>
              <a:rPr lang="en-US" b="1" dirty="0"/>
              <a:t>Aggregation = independent lifecycles with a has-a (whole-part) relationship.</a:t>
            </a:r>
            <a:endParaRPr lang="en-US" dirty="0"/>
          </a:p>
          <a:p>
            <a:r>
              <a:rPr lang="en-US" dirty="0"/>
              <a:t>So:</a:t>
            </a:r>
          </a:p>
          <a:p>
            <a:r>
              <a:rPr lang="en-US" dirty="0"/>
              <a:t>Department -----&gt; Professor</a:t>
            </a:r>
          </a:p>
          <a:p>
            <a:r>
              <a:rPr lang="en-US" dirty="0"/>
              <a:t>means:</a:t>
            </a:r>
          </a:p>
          <a:p>
            <a:r>
              <a:rPr lang="en-US" dirty="0"/>
              <a:t>Department knows Professor (unidirectional aggregation), while both objects remain independent.</a:t>
            </a:r>
          </a:p>
        </p:txBody>
      </p:sp>
    </p:spTree>
    <p:extLst>
      <p:ext uri="{BB962C8B-B14F-4D97-AF65-F5344CB8AC3E}">
        <p14:creationId xmlns:p14="http://schemas.microsoft.com/office/powerpoint/2010/main" val="406032339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ABBC1504-ED7A-8273-AA63-B5B5910C2B14}"/>
              </a:ext>
            </a:extLst>
          </p:cNvPr>
          <p:cNvGraphicFramePr>
            <a:graphicFrameLocks noGrp="1"/>
          </p:cNvGraphicFramePr>
          <p:nvPr>
            <p:extLst>
              <p:ext uri="{D42A27DB-BD31-4B8C-83A1-F6EECF244321}">
                <p14:modId xmlns:p14="http://schemas.microsoft.com/office/powerpoint/2010/main" val="452104643"/>
              </p:ext>
            </p:extLst>
          </p:nvPr>
        </p:nvGraphicFramePr>
        <p:xfrm>
          <a:off x="122324" y="98251"/>
          <a:ext cx="10058400" cy="2194560"/>
        </p:xfrm>
        <a:graphic>
          <a:graphicData uri="http://schemas.openxmlformats.org/drawingml/2006/table">
            <a:tbl>
              <a:tblPr/>
              <a:tblGrid>
                <a:gridCol w="5029200">
                  <a:extLst>
                    <a:ext uri="{9D8B030D-6E8A-4147-A177-3AD203B41FA5}">
                      <a16:colId xmlns:a16="http://schemas.microsoft.com/office/drawing/2014/main" val="171738426"/>
                    </a:ext>
                  </a:extLst>
                </a:gridCol>
                <a:gridCol w="5029200">
                  <a:extLst>
                    <a:ext uri="{9D8B030D-6E8A-4147-A177-3AD203B41FA5}">
                      <a16:colId xmlns:a16="http://schemas.microsoft.com/office/drawing/2014/main" val="1986728516"/>
                    </a:ext>
                  </a:extLst>
                </a:gridCol>
              </a:tblGrid>
              <a:tr h="0">
                <a:tc>
                  <a:txBody>
                    <a:bodyPr/>
                    <a:lstStyle/>
                    <a:p>
                      <a:pPr>
                        <a:buNone/>
                      </a:pPr>
                      <a:r>
                        <a:rPr lang="en-US"/>
                        <a:t>Concept</a:t>
                      </a:r>
                    </a:p>
                  </a:txBody>
                  <a:tcPr anchor="ctr">
                    <a:lnL>
                      <a:noFill/>
                    </a:lnL>
                    <a:lnR>
                      <a:noFill/>
                    </a:lnR>
                    <a:lnT>
                      <a:noFill/>
                    </a:lnT>
                    <a:lnB>
                      <a:noFill/>
                    </a:lnB>
                    <a:noFill/>
                  </a:tcPr>
                </a:tc>
                <a:tc>
                  <a:txBody>
                    <a:bodyPr/>
                    <a:lstStyle/>
                    <a:p>
                      <a:pPr>
                        <a:buNone/>
                      </a:pPr>
                      <a:r>
                        <a:rPr lang="en-US"/>
                        <a:t>Meaning</a:t>
                      </a:r>
                    </a:p>
                  </a:txBody>
                  <a:tcPr anchor="ctr">
                    <a:lnL>
                      <a:noFill/>
                    </a:lnL>
                    <a:lnR>
                      <a:noFill/>
                    </a:lnR>
                    <a:lnT>
                      <a:noFill/>
                    </a:lnT>
                    <a:lnB>
                      <a:noFill/>
                    </a:lnB>
                    <a:noFill/>
                  </a:tcPr>
                </a:tc>
                <a:extLst>
                  <a:ext uri="{0D108BD9-81ED-4DB2-BD59-A6C34878D82A}">
                    <a16:rowId xmlns:a16="http://schemas.microsoft.com/office/drawing/2014/main" val="3515407605"/>
                  </a:ext>
                </a:extLst>
              </a:tr>
              <a:tr h="0">
                <a:tc>
                  <a:txBody>
                    <a:bodyPr/>
                    <a:lstStyle/>
                    <a:p>
                      <a:pPr>
                        <a:buNone/>
                      </a:pPr>
                      <a:r>
                        <a:rPr lang="en-US"/>
                        <a:t>Arrow direction</a:t>
                      </a:r>
                    </a:p>
                  </a:txBody>
                  <a:tcPr anchor="ctr">
                    <a:lnL>
                      <a:noFill/>
                    </a:lnL>
                    <a:lnR>
                      <a:noFill/>
                    </a:lnR>
                    <a:lnT>
                      <a:noFill/>
                    </a:lnT>
                    <a:lnB>
                      <a:noFill/>
                    </a:lnB>
                    <a:noFill/>
                  </a:tcPr>
                </a:tc>
                <a:tc>
                  <a:txBody>
                    <a:bodyPr/>
                    <a:lstStyle/>
                    <a:p>
                      <a:pPr>
                        <a:buNone/>
                      </a:pPr>
                      <a:r>
                        <a:rPr lang="en-US"/>
                        <a:t>Who knows/uses whom</a:t>
                      </a:r>
                    </a:p>
                  </a:txBody>
                  <a:tcPr anchor="ctr">
                    <a:lnL>
                      <a:noFill/>
                    </a:lnL>
                    <a:lnR>
                      <a:noFill/>
                    </a:lnR>
                    <a:lnT>
                      <a:noFill/>
                    </a:lnT>
                    <a:lnB>
                      <a:noFill/>
                    </a:lnB>
                    <a:noFill/>
                  </a:tcPr>
                </a:tc>
                <a:extLst>
                  <a:ext uri="{0D108BD9-81ED-4DB2-BD59-A6C34878D82A}">
                    <a16:rowId xmlns:a16="http://schemas.microsoft.com/office/drawing/2014/main" val="193049621"/>
                  </a:ext>
                </a:extLst>
              </a:tr>
              <a:tr h="0">
                <a:tc>
                  <a:txBody>
                    <a:bodyPr/>
                    <a:lstStyle/>
                    <a:p>
                      <a:pPr>
                        <a:buNone/>
                      </a:pPr>
                      <a:r>
                        <a:rPr lang="en-US"/>
                        <a:t>Aggregation</a:t>
                      </a:r>
                    </a:p>
                  </a:txBody>
                  <a:tcPr anchor="ctr">
                    <a:lnL>
                      <a:noFill/>
                    </a:lnL>
                    <a:lnR>
                      <a:noFill/>
                    </a:lnR>
                    <a:lnT>
                      <a:noFill/>
                    </a:lnT>
                    <a:lnB>
                      <a:noFill/>
                    </a:lnB>
                    <a:noFill/>
                  </a:tcPr>
                </a:tc>
                <a:tc>
                  <a:txBody>
                    <a:bodyPr/>
                    <a:lstStyle/>
                    <a:p>
                      <a:pPr>
                        <a:buNone/>
                      </a:pPr>
                      <a:r>
                        <a:rPr lang="en-US"/>
                        <a:t>Independent lifecycles</a:t>
                      </a:r>
                    </a:p>
                  </a:txBody>
                  <a:tcPr anchor="ctr">
                    <a:lnL>
                      <a:noFill/>
                    </a:lnL>
                    <a:lnR>
                      <a:noFill/>
                    </a:lnR>
                    <a:lnT>
                      <a:noFill/>
                    </a:lnT>
                    <a:lnB>
                      <a:noFill/>
                    </a:lnB>
                    <a:noFill/>
                  </a:tcPr>
                </a:tc>
                <a:extLst>
                  <a:ext uri="{0D108BD9-81ED-4DB2-BD59-A6C34878D82A}">
                    <a16:rowId xmlns:a16="http://schemas.microsoft.com/office/drawing/2014/main" val="4251144810"/>
                  </a:ext>
                </a:extLst>
              </a:tr>
              <a:tr h="0">
                <a:tc>
                  <a:txBody>
                    <a:bodyPr/>
                    <a:lstStyle/>
                    <a:p>
                      <a:pPr>
                        <a:buNone/>
                      </a:pPr>
                      <a:r>
                        <a:rPr lang="en-US"/>
                        <a:t>Composition</a:t>
                      </a:r>
                    </a:p>
                  </a:txBody>
                  <a:tcPr anchor="ctr">
                    <a:lnL>
                      <a:noFill/>
                    </a:lnL>
                    <a:lnR>
                      <a:noFill/>
                    </a:lnR>
                    <a:lnT>
                      <a:noFill/>
                    </a:lnT>
                    <a:lnB>
                      <a:noFill/>
                    </a:lnB>
                    <a:noFill/>
                  </a:tcPr>
                </a:tc>
                <a:tc>
                  <a:txBody>
                    <a:bodyPr/>
                    <a:lstStyle/>
                    <a:p>
                      <a:pPr>
                        <a:buNone/>
                      </a:pPr>
                      <a:r>
                        <a:rPr lang="en-US"/>
                        <a:t>Dependent lifecycles</a:t>
                      </a:r>
                    </a:p>
                  </a:txBody>
                  <a:tcPr anchor="ctr">
                    <a:lnL>
                      <a:noFill/>
                    </a:lnL>
                    <a:lnR>
                      <a:noFill/>
                    </a:lnR>
                    <a:lnT>
                      <a:noFill/>
                    </a:lnT>
                    <a:lnB>
                      <a:noFill/>
                    </a:lnB>
                    <a:noFill/>
                  </a:tcPr>
                </a:tc>
                <a:extLst>
                  <a:ext uri="{0D108BD9-81ED-4DB2-BD59-A6C34878D82A}">
                    <a16:rowId xmlns:a16="http://schemas.microsoft.com/office/drawing/2014/main" val="892630180"/>
                  </a:ext>
                </a:extLst>
              </a:tr>
              <a:tr h="0">
                <a:tc>
                  <a:txBody>
                    <a:bodyPr/>
                    <a:lstStyle/>
                    <a:p>
                      <a:pPr>
                        <a:buNone/>
                      </a:pPr>
                      <a:r>
                        <a:rPr lang="en-US"/>
                        <a:t>Single arrow</a:t>
                      </a:r>
                    </a:p>
                  </a:txBody>
                  <a:tcPr anchor="ctr">
                    <a:lnL>
                      <a:noFill/>
                    </a:lnL>
                    <a:lnR>
                      <a:noFill/>
                    </a:lnR>
                    <a:lnT>
                      <a:noFill/>
                    </a:lnT>
                    <a:lnB>
                      <a:noFill/>
                    </a:lnB>
                    <a:noFill/>
                  </a:tcPr>
                </a:tc>
                <a:tc>
                  <a:txBody>
                    <a:bodyPr/>
                    <a:lstStyle/>
                    <a:p>
                      <a:pPr>
                        <a:buNone/>
                      </a:pPr>
                      <a:r>
                        <a:rPr lang="en-US"/>
                        <a:t>Unidirectional relationship</a:t>
                      </a:r>
                    </a:p>
                  </a:txBody>
                  <a:tcPr anchor="ctr">
                    <a:lnL>
                      <a:noFill/>
                    </a:lnL>
                    <a:lnR>
                      <a:noFill/>
                    </a:lnR>
                    <a:lnT>
                      <a:noFill/>
                    </a:lnT>
                    <a:lnB>
                      <a:noFill/>
                    </a:lnB>
                    <a:noFill/>
                  </a:tcPr>
                </a:tc>
                <a:extLst>
                  <a:ext uri="{0D108BD9-81ED-4DB2-BD59-A6C34878D82A}">
                    <a16:rowId xmlns:a16="http://schemas.microsoft.com/office/drawing/2014/main" val="4082820800"/>
                  </a:ext>
                </a:extLst>
              </a:tr>
              <a:tr h="0">
                <a:tc>
                  <a:txBody>
                    <a:bodyPr/>
                    <a:lstStyle/>
                    <a:p>
                      <a:pPr>
                        <a:buNone/>
                      </a:pPr>
                      <a:r>
                        <a:rPr lang="en-US"/>
                        <a:t>Double arrow</a:t>
                      </a:r>
                    </a:p>
                  </a:txBody>
                  <a:tcPr anchor="ctr">
                    <a:lnL>
                      <a:noFill/>
                    </a:lnL>
                    <a:lnR>
                      <a:noFill/>
                    </a:lnR>
                    <a:lnT>
                      <a:noFill/>
                    </a:lnT>
                    <a:lnB>
                      <a:noFill/>
                    </a:lnB>
                    <a:noFill/>
                  </a:tcPr>
                </a:tc>
                <a:tc>
                  <a:txBody>
                    <a:bodyPr/>
                    <a:lstStyle/>
                    <a:p>
                      <a:pPr>
                        <a:buNone/>
                      </a:pPr>
                      <a:r>
                        <a:rPr lang="en-US" dirty="0"/>
                        <a:t>Bidirectional relationship</a:t>
                      </a:r>
                    </a:p>
                  </a:txBody>
                  <a:tcPr anchor="ctr">
                    <a:lnL>
                      <a:noFill/>
                    </a:lnL>
                    <a:lnR>
                      <a:noFill/>
                    </a:lnR>
                    <a:lnT>
                      <a:noFill/>
                    </a:lnT>
                    <a:lnB>
                      <a:noFill/>
                    </a:lnB>
                    <a:noFill/>
                  </a:tcPr>
                </a:tc>
                <a:extLst>
                  <a:ext uri="{0D108BD9-81ED-4DB2-BD59-A6C34878D82A}">
                    <a16:rowId xmlns:a16="http://schemas.microsoft.com/office/drawing/2014/main" val="3787361139"/>
                  </a:ext>
                </a:extLst>
              </a:tr>
            </a:tbl>
          </a:graphicData>
        </a:graphic>
      </p:graphicFrame>
      <p:graphicFrame>
        <p:nvGraphicFramePr>
          <p:cNvPr id="3" name="Table 2">
            <a:extLst>
              <a:ext uri="{FF2B5EF4-FFF2-40B4-BE49-F238E27FC236}">
                <a16:creationId xmlns:a16="http://schemas.microsoft.com/office/drawing/2014/main" id="{94EFD287-12E1-8A9E-025B-AC688965E5A2}"/>
              </a:ext>
            </a:extLst>
          </p:cNvPr>
          <p:cNvGraphicFramePr>
            <a:graphicFrameLocks noGrp="1"/>
          </p:cNvGraphicFramePr>
          <p:nvPr>
            <p:extLst>
              <p:ext uri="{D42A27DB-BD31-4B8C-83A1-F6EECF244321}">
                <p14:modId xmlns:p14="http://schemas.microsoft.com/office/powerpoint/2010/main" val="3547886453"/>
              </p:ext>
            </p:extLst>
          </p:nvPr>
        </p:nvGraphicFramePr>
        <p:xfrm>
          <a:off x="255328" y="4138237"/>
          <a:ext cx="10058400" cy="2194560"/>
        </p:xfrm>
        <a:graphic>
          <a:graphicData uri="http://schemas.openxmlformats.org/drawingml/2006/table">
            <a:tbl>
              <a:tblPr/>
              <a:tblGrid>
                <a:gridCol w="3352800">
                  <a:extLst>
                    <a:ext uri="{9D8B030D-6E8A-4147-A177-3AD203B41FA5}">
                      <a16:colId xmlns:a16="http://schemas.microsoft.com/office/drawing/2014/main" val="2622527126"/>
                    </a:ext>
                  </a:extLst>
                </a:gridCol>
                <a:gridCol w="3352800">
                  <a:extLst>
                    <a:ext uri="{9D8B030D-6E8A-4147-A177-3AD203B41FA5}">
                      <a16:colId xmlns:a16="http://schemas.microsoft.com/office/drawing/2014/main" val="3123815408"/>
                    </a:ext>
                  </a:extLst>
                </a:gridCol>
                <a:gridCol w="3352800">
                  <a:extLst>
                    <a:ext uri="{9D8B030D-6E8A-4147-A177-3AD203B41FA5}">
                      <a16:colId xmlns:a16="http://schemas.microsoft.com/office/drawing/2014/main" val="1622366885"/>
                    </a:ext>
                  </a:extLst>
                </a:gridCol>
              </a:tblGrid>
              <a:tr h="0">
                <a:tc>
                  <a:txBody>
                    <a:bodyPr/>
                    <a:lstStyle/>
                    <a:p>
                      <a:pPr>
                        <a:buNone/>
                      </a:pPr>
                      <a:r>
                        <a:rPr lang="en-US"/>
                        <a:t>Feature</a:t>
                      </a:r>
                    </a:p>
                  </a:txBody>
                  <a:tcPr anchor="ctr">
                    <a:lnL>
                      <a:noFill/>
                    </a:lnL>
                    <a:lnR>
                      <a:noFill/>
                    </a:lnR>
                    <a:lnT>
                      <a:noFill/>
                    </a:lnT>
                    <a:lnB>
                      <a:noFill/>
                    </a:lnB>
                    <a:noFill/>
                  </a:tcPr>
                </a:tc>
                <a:tc>
                  <a:txBody>
                    <a:bodyPr/>
                    <a:lstStyle/>
                    <a:p>
                      <a:pPr>
                        <a:buNone/>
                      </a:pPr>
                      <a:r>
                        <a:rPr lang="en-US"/>
                        <a:t>Association</a:t>
                      </a:r>
                    </a:p>
                  </a:txBody>
                  <a:tcPr anchor="ctr">
                    <a:lnL>
                      <a:noFill/>
                    </a:lnL>
                    <a:lnR>
                      <a:noFill/>
                    </a:lnR>
                    <a:lnT>
                      <a:noFill/>
                    </a:lnT>
                    <a:lnB>
                      <a:noFill/>
                    </a:lnB>
                    <a:noFill/>
                  </a:tcPr>
                </a:tc>
                <a:tc>
                  <a:txBody>
                    <a:bodyPr/>
                    <a:lstStyle/>
                    <a:p>
                      <a:pPr>
                        <a:buNone/>
                      </a:pPr>
                      <a:r>
                        <a:rPr lang="en-US"/>
                        <a:t>Aggregation</a:t>
                      </a:r>
                    </a:p>
                  </a:txBody>
                  <a:tcPr anchor="ctr">
                    <a:lnL>
                      <a:noFill/>
                    </a:lnL>
                    <a:lnR>
                      <a:noFill/>
                    </a:lnR>
                    <a:lnT>
                      <a:noFill/>
                    </a:lnT>
                    <a:lnB>
                      <a:noFill/>
                    </a:lnB>
                    <a:noFill/>
                  </a:tcPr>
                </a:tc>
                <a:extLst>
                  <a:ext uri="{0D108BD9-81ED-4DB2-BD59-A6C34878D82A}">
                    <a16:rowId xmlns:a16="http://schemas.microsoft.com/office/drawing/2014/main" val="2928459235"/>
                  </a:ext>
                </a:extLst>
              </a:tr>
              <a:tr h="0">
                <a:tc>
                  <a:txBody>
                    <a:bodyPr/>
                    <a:lstStyle/>
                    <a:p>
                      <a:pPr>
                        <a:buNone/>
                      </a:pPr>
                      <a:r>
                        <a:rPr lang="en-US"/>
                        <a:t>Relationship</a:t>
                      </a:r>
                    </a:p>
                  </a:txBody>
                  <a:tcPr anchor="ctr">
                    <a:lnL>
                      <a:noFill/>
                    </a:lnL>
                    <a:lnR>
                      <a:noFill/>
                    </a:lnR>
                    <a:lnT>
                      <a:noFill/>
                    </a:lnT>
                    <a:lnB>
                      <a:noFill/>
                    </a:lnB>
                    <a:noFill/>
                  </a:tcPr>
                </a:tc>
                <a:tc>
                  <a:txBody>
                    <a:bodyPr/>
                    <a:lstStyle/>
                    <a:p>
                      <a:pPr>
                        <a:buNone/>
                      </a:pPr>
                      <a:r>
                        <a:rPr lang="en-US"/>
                        <a:t>Knows-a / Uses-a</a:t>
                      </a:r>
                    </a:p>
                  </a:txBody>
                  <a:tcPr anchor="ctr">
                    <a:lnL>
                      <a:noFill/>
                    </a:lnL>
                    <a:lnR>
                      <a:noFill/>
                    </a:lnR>
                    <a:lnT>
                      <a:noFill/>
                    </a:lnT>
                    <a:lnB>
                      <a:noFill/>
                    </a:lnB>
                    <a:noFill/>
                  </a:tcPr>
                </a:tc>
                <a:tc>
                  <a:txBody>
                    <a:bodyPr/>
                    <a:lstStyle/>
                    <a:p>
                      <a:pPr>
                        <a:buNone/>
                      </a:pPr>
                      <a:r>
                        <a:rPr lang="en-US"/>
                        <a:t>Has-a</a:t>
                      </a:r>
                    </a:p>
                  </a:txBody>
                  <a:tcPr anchor="ctr">
                    <a:lnL>
                      <a:noFill/>
                    </a:lnL>
                    <a:lnR>
                      <a:noFill/>
                    </a:lnR>
                    <a:lnT>
                      <a:noFill/>
                    </a:lnT>
                    <a:lnB>
                      <a:noFill/>
                    </a:lnB>
                    <a:noFill/>
                  </a:tcPr>
                </a:tc>
                <a:extLst>
                  <a:ext uri="{0D108BD9-81ED-4DB2-BD59-A6C34878D82A}">
                    <a16:rowId xmlns:a16="http://schemas.microsoft.com/office/drawing/2014/main" val="3876465382"/>
                  </a:ext>
                </a:extLst>
              </a:tr>
              <a:tr h="0">
                <a:tc>
                  <a:txBody>
                    <a:bodyPr/>
                    <a:lstStyle/>
                    <a:p>
                      <a:pPr>
                        <a:buNone/>
                      </a:pPr>
                      <a:r>
                        <a:rPr lang="en-US"/>
                        <a:t>Ownership</a:t>
                      </a:r>
                    </a:p>
                  </a:txBody>
                  <a:tcPr anchor="ctr">
                    <a:lnL>
                      <a:noFill/>
                    </a:lnL>
                    <a:lnR>
                      <a:noFill/>
                    </a:lnR>
                    <a:lnT>
                      <a:noFill/>
                    </a:lnT>
                    <a:lnB>
                      <a:noFill/>
                    </a:lnB>
                    <a:noFill/>
                  </a:tcPr>
                </a:tc>
                <a:tc>
                  <a:txBody>
                    <a:bodyPr/>
                    <a:lstStyle/>
                    <a:p>
                      <a:pPr>
                        <a:buNone/>
                      </a:pPr>
                      <a:r>
                        <a:rPr lang="en-US"/>
                        <a:t>No</a:t>
                      </a:r>
                    </a:p>
                  </a:txBody>
                  <a:tcPr anchor="ctr">
                    <a:lnL>
                      <a:noFill/>
                    </a:lnL>
                    <a:lnR>
                      <a:noFill/>
                    </a:lnR>
                    <a:lnT>
                      <a:noFill/>
                    </a:lnT>
                    <a:lnB>
                      <a:noFill/>
                    </a:lnB>
                    <a:noFill/>
                  </a:tcPr>
                </a:tc>
                <a:tc>
                  <a:txBody>
                    <a:bodyPr/>
                    <a:lstStyle/>
                    <a:p>
                      <a:pPr>
                        <a:buNone/>
                      </a:pPr>
                      <a:r>
                        <a:rPr lang="en-US"/>
                        <a:t>No</a:t>
                      </a:r>
                    </a:p>
                  </a:txBody>
                  <a:tcPr anchor="ctr">
                    <a:lnL>
                      <a:noFill/>
                    </a:lnL>
                    <a:lnR>
                      <a:noFill/>
                    </a:lnR>
                    <a:lnT>
                      <a:noFill/>
                    </a:lnT>
                    <a:lnB>
                      <a:noFill/>
                    </a:lnB>
                    <a:noFill/>
                  </a:tcPr>
                </a:tc>
                <a:extLst>
                  <a:ext uri="{0D108BD9-81ED-4DB2-BD59-A6C34878D82A}">
                    <a16:rowId xmlns:a16="http://schemas.microsoft.com/office/drawing/2014/main" val="2278529008"/>
                  </a:ext>
                </a:extLst>
              </a:tr>
              <a:tr h="0">
                <a:tc>
                  <a:txBody>
                    <a:bodyPr/>
                    <a:lstStyle/>
                    <a:p>
                      <a:pPr>
                        <a:buNone/>
                      </a:pPr>
                      <a:r>
                        <a:rPr lang="en-US"/>
                        <a:t>Lifecycle</a:t>
                      </a:r>
                    </a:p>
                  </a:txBody>
                  <a:tcPr anchor="ctr">
                    <a:lnL>
                      <a:noFill/>
                    </a:lnL>
                    <a:lnR>
                      <a:noFill/>
                    </a:lnR>
                    <a:lnT>
                      <a:noFill/>
                    </a:lnT>
                    <a:lnB>
                      <a:noFill/>
                    </a:lnB>
                    <a:noFill/>
                  </a:tcPr>
                </a:tc>
                <a:tc>
                  <a:txBody>
                    <a:bodyPr/>
                    <a:lstStyle/>
                    <a:p>
                      <a:pPr>
                        <a:buNone/>
                      </a:pPr>
                      <a:r>
                        <a:rPr lang="en-US"/>
                        <a:t>Independent</a:t>
                      </a:r>
                    </a:p>
                  </a:txBody>
                  <a:tcPr anchor="ctr">
                    <a:lnL>
                      <a:noFill/>
                    </a:lnL>
                    <a:lnR>
                      <a:noFill/>
                    </a:lnR>
                    <a:lnT>
                      <a:noFill/>
                    </a:lnT>
                    <a:lnB>
                      <a:noFill/>
                    </a:lnB>
                    <a:noFill/>
                  </a:tcPr>
                </a:tc>
                <a:tc>
                  <a:txBody>
                    <a:bodyPr/>
                    <a:lstStyle/>
                    <a:p>
                      <a:pPr>
                        <a:buNone/>
                      </a:pPr>
                      <a:r>
                        <a:rPr lang="en-US"/>
                        <a:t>Independent</a:t>
                      </a:r>
                    </a:p>
                  </a:txBody>
                  <a:tcPr anchor="ctr">
                    <a:lnL>
                      <a:noFill/>
                    </a:lnL>
                    <a:lnR>
                      <a:noFill/>
                    </a:lnR>
                    <a:lnT>
                      <a:noFill/>
                    </a:lnT>
                    <a:lnB>
                      <a:noFill/>
                    </a:lnB>
                    <a:noFill/>
                  </a:tcPr>
                </a:tc>
                <a:extLst>
                  <a:ext uri="{0D108BD9-81ED-4DB2-BD59-A6C34878D82A}">
                    <a16:rowId xmlns:a16="http://schemas.microsoft.com/office/drawing/2014/main" val="1899107524"/>
                  </a:ext>
                </a:extLst>
              </a:tr>
              <a:tr h="0">
                <a:tc>
                  <a:txBody>
                    <a:bodyPr/>
                    <a:lstStyle/>
                    <a:p>
                      <a:pPr>
                        <a:buNone/>
                      </a:pPr>
                      <a:r>
                        <a:rPr lang="en-US"/>
                        <a:t>Whole-Part Relationship</a:t>
                      </a:r>
                    </a:p>
                  </a:txBody>
                  <a:tcPr anchor="ctr">
                    <a:lnL>
                      <a:noFill/>
                    </a:lnL>
                    <a:lnR>
                      <a:noFill/>
                    </a:lnR>
                    <a:lnT>
                      <a:noFill/>
                    </a:lnT>
                    <a:lnB>
                      <a:noFill/>
                    </a:lnB>
                    <a:noFill/>
                  </a:tcPr>
                </a:tc>
                <a:tc>
                  <a:txBody>
                    <a:bodyPr/>
                    <a:lstStyle/>
                    <a:p>
                      <a:pPr>
                        <a:buNone/>
                      </a:pPr>
                      <a:r>
                        <a:rPr lang="en-US"/>
                        <a:t>No</a:t>
                      </a:r>
                    </a:p>
                  </a:txBody>
                  <a:tcPr anchor="ctr">
                    <a:lnL>
                      <a:noFill/>
                    </a:lnL>
                    <a:lnR>
                      <a:noFill/>
                    </a:lnR>
                    <a:lnT>
                      <a:noFill/>
                    </a:lnT>
                    <a:lnB>
                      <a:noFill/>
                    </a:lnB>
                    <a:noFill/>
                  </a:tcPr>
                </a:tc>
                <a:tc>
                  <a:txBody>
                    <a:bodyPr/>
                    <a:lstStyle/>
                    <a:p>
                      <a:pPr>
                        <a:buNone/>
                      </a:pPr>
                      <a:r>
                        <a:rPr lang="en-US"/>
                        <a:t>Yes</a:t>
                      </a:r>
                    </a:p>
                  </a:txBody>
                  <a:tcPr anchor="ctr">
                    <a:lnL>
                      <a:noFill/>
                    </a:lnL>
                    <a:lnR>
                      <a:noFill/>
                    </a:lnR>
                    <a:lnT>
                      <a:noFill/>
                    </a:lnT>
                    <a:lnB>
                      <a:noFill/>
                    </a:lnB>
                    <a:noFill/>
                  </a:tcPr>
                </a:tc>
                <a:extLst>
                  <a:ext uri="{0D108BD9-81ED-4DB2-BD59-A6C34878D82A}">
                    <a16:rowId xmlns:a16="http://schemas.microsoft.com/office/drawing/2014/main" val="3609129058"/>
                  </a:ext>
                </a:extLst>
              </a:tr>
              <a:tr h="0">
                <a:tc>
                  <a:txBody>
                    <a:bodyPr/>
                    <a:lstStyle/>
                    <a:p>
                      <a:pPr>
                        <a:buNone/>
                      </a:pPr>
                      <a:r>
                        <a:rPr lang="en-US"/>
                        <a:t>Example</a:t>
                      </a:r>
                    </a:p>
                  </a:txBody>
                  <a:tcPr anchor="ctr">
                    <a:lnL>
                      <a:noFill/>
                    </a:lnL>
                    <a:lnR>
                      <a:noFill/>
                    </a:lnR>
                    <a:lnT>
                      <a:noFill/>
                    </a:lnT>
                    <a:lnB>
                      <a:noFill/>
                    </a:lnB>
                    <a:noFill/>
                  </a:tcPr>
                </a:tc>
                <a:tc>
                  <a:txBody>
                    <a:bodyPr/>
                    <a:lstStyle/>
                    <a:p>
                      <a:pPr>
                        <a:buNone/>
                      </a:pPr>
                      <a:r>
                        <a:rPr lang="en-US"/>
                        <a:t>Doctor–Patient</a:t>
                      </a:r>
                    </a:p>
                  </a:txBody>
                  <a:tcPr anchor="ctr">
                    <a:lnL>
                      <a:noFill/>
                    </a:lnL>
                    <a:lnR>
                      <a:noFill/>
                    </a:lnR>
                    <a:lnT>
                      <a:noFill/>
                    </a:lnT>
                    <a:lnB>
                      <a:noFill/>
                    </a:lnB>
                    <a:noFill/>
                  </a:tcPr>
                </a:tc>
                <a:tc>
                  <a:txBody>
                    <a:bodyPr/>
                    <a:lstStyle/>
                    <a:p>
                      <a:pPr>
                        <a:buNone/>
                      </a:pPr>
                      <a:r>
                        <a:rPr lang="en-US" dirty="0"/>
                        <a:t>Department–Professor</a:t>
                      </a:r>
                    </a:p>
                  </a:txBody>
                  <a:tcPr anchor="ctr">
                    <a:lnL>
                      <a:noFill/>
                    </a:lnL>
                    <a:lnR>
                      <a:noFill/>
                    </a:lnR>
                    <a:lnT>
                      <a:noFill/>
                    </a:lnT>
                    <a:lnB>
                      <a:noFill/>
                    </a:lnB>
                    <a:noFill/>
                  </a:tcPr>
                </a:tc>
                <a:extLst>
                  <a:ext uri="{0D108BD9-81ED-4DB2-BD59-A6C34878D82A}">
                    <a16:rowId xmlns:a16="http://schemas.microsoft.com/office/drawing/2014/main" val="2937008622"/>
                  </a:ext>
                </a:extLst>
              </a:tr>
            </a:tbl>
          </a:graphicData>
        </a:graphic>
      </p:graphicFrame>
    </p:spTree>
    <p:extLst>
      <p:ext uri="{BB962C8B-B14F-4D97-AF65-F5344CB8AC3E}">
        <p14:creationId xmlns:p14="http://schemas.microsoft.com/office/powerpoint/2010/main" val="287255126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8B2DF-00E8-0B46-4928-39E253A0876C}"/>
              </a:ext>
            </a:extLst>
          </p:cNvPr>
          <p:cNvSpPr>
            <a:spLocks noGrp="1"/>
          </p:cNvSpPr>
          <p:nvPr>
            <p:ph type="title"/>
          </p:nvPr>
        </p:nvSpPr>
        <p:spPr/>
        <p:txBody>
          <a:bodyPr/>
          <a:lstStyle/>
          <a:p>
            <a:r>
              <a:rPr lang="en-US" dirty="0"/>
              <a:t>3. Composition — "Has-a" Strong Relationship</a:t>
            </a:r>
          </a:p>
        </p:txBody>
      </p:sp>
      <p:sp>
        <p:nvSpPr>
          <p:cNvPr id="3" name="Content Placeholder 2">
            <a:extLst>
              <a:ext uri="{FF2B5EF4-FFF2-40B4-BE49-F238E27FC236}">
                <a16:creationId xmlns:a16="http://schemas.microsoft.com/office/drawing/2014/main" id="{C0BAA2D2-0C55-DCAD-0210-58A7F994679D}"/>
              </a:ext>
            </a:extLst>
          </p:cNvPr>
          <p:cNvSpPr>
            <a:spLocks noGrp="1"/>
          </p:cNvSpPr>
          <p:nvPr>
            <p:ph idx="1"/>
          </p:nvPr>
        </p:nvSpPr>
        <p:spPr/>
        <p:txBody>
          <a:bodyPr/>
          <a:lstStyle/>
          <a:p>
            <a:r>
              <a:rPr lang="en-US" b="1" dirty="0"/>
              <a:t>Definition</a:t>
            </a:r>
          </a:p>
          <a:p>
            <a:r>
              <a:rPr lang="en-US" dirty="0"/>
              <a:t>Composition is a strong Has-a relationship where the whole object owns its parts.</a:t>
            </a:r>
          </a:p>
          <a:p>
            <a:r>
              <a:rPr lang="en-US" dirty="0"/>
              <a:t>If the whole dies, the parts die too.</a:t>
            </a:r>
          </a:p>
          <a:p>
            <a:r>
              <a:rPr lang="en-US" b="1" dirty="0"/>
              <a:t>Real-Life Example</a:t>
            </a:r>
          </a:p>
          <a:p>
            <a:r>
              <a:rPr lang="en-US" b="1" dirty="0"/>
              <a:t>House and Room</a:t>
            </a:r>
          </a:p>
          <a:p>
            <a:r>
              <a:rPr lang="en-US" dirty="0"/>
              <a:t>A room belongs to a house.</a:t>
            </a:r>
          </a:p>
          <a:p>
            <a:r>
              <a:rPr lang="en-US" dirty="0"/>
              <a:t>Without the house, the room has no separate existence in this model.</a:t>
            </a:r>
          </a:p>
          <a:p>
            <a:r>
              <a:rPr lang="en-US" dirty="0"/>
              <a:t>House ♦------ Room</a:t>
            </a:r>
          </a:p>
          <a:p>
            <a:r>
              <a:rPr lang="en-US" dirty="0"/>
              <a:t>(Black Diamond = Strong Ownership)</a:t>
            </a:r>
          </a:p>
          <a:p>
            <a:endParaRPr lang="en-US" dirty="0"/>
          </a:p>
        </p:txBody>
      </p:sp>
    </p:spTree>
    <p:extLst>
      <p:ext uri="{BB962C8B-B14F-4D97-AF65-F5344CB8AC3E}">
        <p14:creationId xmlns:p14="http://schemas.microsoft.com/office/powerpoint/2010/main" val="191467189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DCABB-9B8A-3ECC-AB6E-7F92CA644DF9}"/>
              </a:ext>
            </a:extLst>
          </p:cNvPr>
          <p:cNvSpPr>
            <a:spLocks noGrp="1"/>
          </p:cNvSpPr>
          <p:nvPr>
            <p:ph type="title"/>
          </p:nvPr>
        </p:nvSpPr>
        <p:spPr>
          <a:xfrm>
            <a:off x="1069848" y="484632"/>
            <a:ext cx="10058400" cy="446393"/>
          </a:xfrm>
        </p:spPr>
        <p:txBody>
          <a:bodyPr>
            <a:normAutofit fontScale="90000"/>
          </a:bodyPr>
          <a:lstStyle/>
          <a:p>
            <a:r>
              <a:rPr lang="en-US" dirty="0"/>
              <a:t>…</a:t>
            </a:r>
          </a:p>
        </p:txBody>
      </p:sp>
      <p:sp>
        <p:nvSpPr>
          <p:cNvPr id="3" name="Content Placeholder 2">
            <a:extLst>
              <a:ext uri="{FF2B5EF4-FFF2-40B4-BE49-F238E27FC236}">
                <a16:creationId xmlns:a16="http://schemas.microsoft.com/office/drawing/2014/main" id="{E2251196-6600-087A-B4D3-08A53EAAD141}"/>
              </a:ext>
            </a:extLst>
          </p:cNvPr>
          <p:cNvSpPr>
            <a:spLocks noGrp="1"/>
          </p:cNvSpPr>
          <p:nvPr>
            <p:ph idx="1"/>
          </p:nvPr>
        </p:nvSpPr>
        <p:spPr>
          <a:xfrm>
            <a:off x="1069848" y="1014153"/>
            <a:ext cx="10058400" cy="5843847"/>
          </a:xfrm>
        </p:spPr>
        <p:txBody>
          <a:bodyPr>
            <a:normAutofit fontScale="25000" lnSpcReduction="20000"/>
          </a:bodyPr>
          <a:lstStyle/>
          <a:p>
            <a:r>
              <a:rPr lang="en-US" b="1" dirty="0"/>
              <a:t>Teacher's Code</a:t>
            </a:r>
          </a:p>
          <a:p>
            <a:r>
              <a:rPr lang="en-US" dirty="0"/>
              <a:t>class Room {</a:t>
            </a:r>
            <a:br>
              <a:rPr lang="en-US" dirty="0"/>
            </a:br>
            <a:r>
              <a:rPr lang="en-US" dirty="0"/>
              <a:t>public:</a:t>
            </a:r>
            <a:br>
              <a:rPr lang="en-US" dirty="0"/>
            </a:br>
            <a:r>
              <a:rPr lang="en-US" dirty="0"/>
              <a:t>    Room() {</a:t>
            </a:r>
            <a:br>
              <a:rPr lang="en-US" dirty="0"/>
            </a:br>
            <a:r>
              <a:rPr lang="en-US" dirty="0"/>
              <a:t>        </a:t>
            </a:r>
            <a:r>
              <a:rPr lang="en-US" dirty="0" err="1"/>
              <a:t>cout</a:t>
            </a:r>
            <a:r>
              <a:rPr lang="en-US" dirty="0"/>
              <a:t> &lt;&lt; "Room created\n";</a:t>
            </a:r>
            <a:br>
              <a:rPr lang="en-US" dirty="0"/>
            </a:br>
            <a:r>
              <a:rPr lang="en-US" dirty="0"/>
              <a:t>    }</a:t>
            </a:r>
            <a:br>
              <a:rPr lang="en-US" dirty="0"/>
            </a:br>
            <a:br>
              <a:rPr lang="en-US" dirty="0"/>
            </a:br>
            <a:r>
              <a:rPr lang="en-US" dirty="0"/>
              <a:t>    ~Room() {</a:t>
            </a:r>
            <a:br>
              <a:rPr lang="en-US" dirty="0"/>
            </a:br>
            <a:r>
              <a:rPr lang="en-US" dirty="0"/>
              <a:t>        </a:t>
            </a:r>
            <a:r>
              <a:rPr lang="en-US" dirty="0" err="1"/>
              <a:t>cout</a:t>
            </a:r>
            <a:r>
              <a:rPr lang="en-US" dirty="0"/>
              <a:t> &lt;&lt; "Room destroyed\n";</a:t>
            </a:r>
            <a:br>
              <a:rPr lang="en-US" dirty="0"/>
            </a:br>
            <a:r>
              <a:rPr lang="en-US" dirty="0"/>
              <a:t>    }</a:t>
            </a:r>
            <a:br>
              <a:rPr lang="en-US" dirty="0"/>
            </a:br>
            <a:r>
              <a:rPr lang="en-US" dirty="0"/>
              <a:t>};</a:t>
            </a:r>
          </a:p>
          <a:p>
            <a:r>
              <a:rPr lang="en-US" b="1" dirty="0"/>
              <a:t>House</a:t>
            </a:r>
          </a:p>
          <a:p>
            <a:r>
              <a:rPr lang="en-US" dirty="0"/>
              <a:t>class House {</a:t>
            </a:r>
            <a:br>
              <a:rPr lang="en-US" dirty="0"/>
            </a:br>
            <a:r>
              <a:rPr lang="en-US" dirty="0"/>
              <a:t>    Room </a:t>
            </a:r>
            <a:r>
              <a:rPr lang="en-US" dirty="0" err="1"/>
              <a:t>livingRoom</a:t>
            </a:r>
            <a:r>
              <a:rPr lang="en-US" dirty="0"/>
              <a:t>;</a:t>
            </a:r>
            <a:br>
              <a:rPr lang="en-US" dirty="0"/>
            </a:br>
            <a:br>
              <a:rPr lang="en-US" dirty="0"/>
            </a:br>
            <a:r>
              <a:rPr lang="en-US" dirty="0"/>
              <a:t>public:</a:t>
            </a:r>
            <a:br>
              <a:rPr lang="en-US" dirty="0"/>
            </a:br>
            <a:r>
              <a:rPr lang="en-US" dirty="0"/>
              <a:t>    House() {</a:t>
            </a:r>
            <a:br>
              <a:rPr lang="en-US" dirty="0"/>
            </a:br>
            <a:r>
              <a:rPr lang="en-US" dirty="0"/>
              <a:t>        </a:t>
            </a:r>
            <a:r>
              <a:rPr lang="en-US" dirty="0" err="1"/>
              <a:t>cout</a:t>
            </a:r>
            <a:r>
              <a:rPr lang="en-US" dirty="0"/>
              <a:t> &lt;&lt; "House created\n";</a:t>
            </a:r>
            <a:br>
              <a:rPr lang="en-US" dirty="0"/>
            </a:br>
            <a:r>
              <a:rPr lang="en-US" dirty="0"/>
              <a:t>    }</a:t>
            </a:r>
            <a:br>
              <a:rPr lang="en-US" dirty="0"/>
            </a:br>
            <a:br>
              <a:rPr lang="en-US" dirty="0"/>
            </a:br>
            <a:r>
              <a:rPr lang="en-US" dirty="0"/>
              <a:t>    ~House() {</a:t>
            </a:r>
            <a:br>
              <a:rPr lang="en-US" dirty="0"/>
            </a:br>
            <a:r>
              <a:rPr lang="en-US" dirty="0"/>
              <a:t>        </a:t>
            </a:r>
            <a:r>
              <a:rPr lang="en-US" dirty="0" err="1"/>
              <a:t>cout</a:t>
            </a:r>
            <a:r>
              <a:rPr lang="en-US" dirty="0"/>
              <a:t> &lt;&lt; "House destroyed\n";</a:t>
            </a:r>
            <a:br>
              <a:rPr lang="en-US" dirty="0"/>
            </a:br>
            <a:r>
              <a:rPr lang="en-US" dirty="0"/>
              <a:t>    }</a:t>
            </a:r>
            <a:br>
              <a:rPr lang="en-US" dirty="0"/>
            </a:br>
            <a:r>
              <a:rPr lang="en-US" dirty="0"/>
              <a:t>};</a:t>
            </a:r>
          </a:p>
          <a:p>
            <a:r>
              <a:rPr lang="en-US" dirty="0"/>
              <a:t>Notice:</a:t>
            </a:r>
          </a:p>
          <a:p>
            <a:r>
              <a:rPr lang="en-US" dirty="0"/>
              <a:t>Room </a:t>
            </a:r>
            <a:r>
              <a:rPr lang="en-US" dirty="0" err="1"/>
              <a:t>livingRoom</a:t>
            </a:r>
            <a:r>
              <a:rPr lang="en-US" dirty="0"/>
              <a:t>;</a:t>
            </a:r>
          </a:p>
          <a:p>
            <a:r>
              <a:rPr lang="en-US" dirty="0">
                <a:solidFill>
                  <a:srgbClr val="FF0000"/>
                </a:solidFill>
              </a:rPr>
              <a:t>No pointer.</a:t>
            </a:r>
          </a:p>
          <a:p>
            <a:r>
              <a:rPr lang="en-US" dirty="0">
                <a:solidFill>
                  <a:srgbClr val="FF0000"/>
                </a:solidFill>
              </a:rPr>
              <a:t>No reference.</a:t>
            </a:r>
          </a:p>
          <a:p>
            <a:r>
              <a:rPr lang="en-US" dirty="0">
                <a:solidFill>
                  <a:srgbClr val="FF0000"/>
                </a:solidFill>
              </a:rPr>
              <a:t>Actual object is inside House</a:t>
            </a:r>
            <a:r>
              <a:rPr lang="en-US" dirty="0"/>
              <a:t>.</a:t>
            </a:r>
            <a:br>
              <a:rPr lang="en-US" dirty="0"/>
            </a:br>
            <a:endParaRPr lang="en-US" dirty="0"/>
          </a:p>
          <a:p>
            <a:r>
              <a:rPr lang="en-US" b="1" dirty="0"/>
              <a:t>Object Creation</a:t>
            </a:r>
          </a:p>
          <a:p>
            <a:r>
              <a:rPr lang="en-US" dirty="0"/>
              <a:t>House h1;</a:t>
            </a:r>
          </a:p>
          <a:p>
            <a:r>
              <a:rPr lang="en-US" dirty="0"/>
              <a:t>Output:</a:t>
            </a:r>
          </a:p>
          <a:p>
            <a:r>
              <a:rPr lang="en-US" dirty="0"/>
              <a:t>Room created</a:t>
            </a:r>
            <a:br>
              <a:rPr lang="en-US" dirty="0"/>
            </a:br>
            <a:r>
              <a:rPr lang="en-US" dirty="0"/>
              <a:t>House created</a:t>
            </a:r>
          </a:p>
          <a:p>
            <a:r>
              <a:rPr lang="en-US" dirty="0"/>
              <a:t>Room created automatically.</a:t>
            </a:r>
          </a:p>
          <a:p>
            <a:r>
              <a:rPr lang="en-US" b="1" dirty="0">
                <a:solidFill>
                  <a:srgbClr val="0070C0"/>
                </a:solidFill>
              </a:rPr>
              <a:t>Object Destruction</a:t>
            </a:r>
          </a:p>
          <a:p>
            <a:r>
              <a:rPr lang="en-US" dirty="0">
                <a:solidFill>
                  <a:srgbClr val="0070C0"/>
                </a:solidFill>
              </a:rPr>
              <a:t>When:</a:t>
            </a:r>
          </a:p>
          <a:p>
            <a:r>
              <a:rPr lang="en-US" dirty="0">
                <a:solidFill>
                  <a:srgbClr val="0070C0"/>
                </a:solidFill>
              </a:rPr>
              <a:t>h1</a:t>
            </a:r>
          </a:p>
          <a:p>
            <a:r>
              <a:rPr lang="en-US" dirty="0">
                <a:solidFill>
                  <a:srgbClr val="0070C0"/>
                </a:solidFill>
              </a:rPr>
              <a:t>goes out of scope:</a:t>
            </a:r>
          </a:p>
          <a:p>
            <a:r>
              <a:rPr lang="en-US" dirty="0">
                <a:solidFill>
                  <a:srgbClr val="0070C0"/>
                </a:solidFill>
              </a:rPr>
              <a:t>House destroyed</a:t>
            </a:r>
            <a:br>
              <a:rPr lang="en-US" dirty="0">
                <a:solidFill>
                  <a:srgbClr val="0070C0"/>
                </a:solidFill>
              </a:rPr>
            </a:br>
            <a:r>
              <a:rPr lang="en-US" dirty="0">
                <a:solidFill>
                  <a:srgbClr val="0070C0"/>
                </a:solidFill>
              </a:rPr>
              <a:t>Room destroyed</a:t>
            </a:r>
          </a:p>
          <a:p>
            <a:r>
              <a:rPr lang="en-US" dirty="0">
                <a:solidFill>
                  <a:srgbClr val="0070C0"/>
                </a:solidFill>
              </a:rPr>
              <a:t>Room automatically dies with House.</a:t>
            </a:r>
            <a:br>
              <a:rPr lang="en-US" dirty="0">
                <a:solidFill>
                  <a:srgbClr val="0070C0"/>
                </a:solidFill>
              </a:rPr>
            </a:br>
            <a:endParaRPr lang="en-US" dirty="0">
              <a:solidFill>
                <a:srgbClr val="0070C0"/>
              </a:solidFill>
            </a:endParaRPr>
          </a:p>
          <a:p>
            <a:r>
              <a:rPr lang="en-US" b="1" dirty="0"/>
              <a:t>Why Strong Ownership?</a:t>
            </a:r>
          </a:p>
          <a:p>
            <a:r>
              <a:rPr lang="en-US" dirty="0">
                <a:solidFill>
                  <a:srgbClr val="7030A0"/>
                </a:solidFill>
              </a:rPr>
              <a:t>Because House created and owns Room.</a:t>
            </a:r>
          </a:p>
          <a:p>
            <a:r>
              <a:rPr lang="en-US" dirty="0">
                <a:solidFill>
                  <a:srgbClr val="7030A0"/>
                </a:solidFill>
              </a:rPr>
              <a:t>Room cannot be separated</a:t>
            </a:r>
            <a:r>
              <a:rPr lang="en-US" dirty="0"/>
              <a:t>.</a:t>
            </a:r>
          </a:p>
          <a:p>
            <a:r>
              <a:rPr lang="en-US" b="1" dirty="0"/>
              <a:t>Lifecycle</a:t>
            </a:r>
          </a:p>
          <a:p>
            <a:r>
              <a:rPr lang="en-US" dirty="0"/>
              <a:t>House exists</a:t>
            </a:r>
            <a:br>
              <a:rPr lang="en-US" dirty="0"/>
            </a:br>
            <a:r>
              <a:rPr lang="en-US" dirty="0"/>
              <a:t>    ↓</a:t>
            </a:r>
            <a:br>
              <a:rPr lang="en-US" dirty="0"/>
            </a:br>
            <a:r>
              <a:rPr lang="en-US" dirty="0"/>
              <a:t>Room exists</a:t>
            </a:r>
          </a:p>
          <a:p>
            <a:r>
              <a:rPr lang="en-US" dirty="0"/>
              <a:t>Destroy House:</a:t>
            </a:r>
          </a:p>
          <a:p>
            <a:r>
              <a:rPr lang="en-US" dirty="0"/>
              <a:t>House destroyed</a:t>
            </a:r>
            <a:br>
              <a:rPr lang="en-US" dirty="0"/>
            </a:br>
            <a:r>
              <a:rPr lang="en-US" dirty="0"/>
              <a:t>Room destroyed</a:t>
            </a:r>
          </a:p>
          <a:p>
            <a:r>
              <a:rPr lang="en-US" dirty="0"/>
              <a:t>Dependent lifecycle.</a:t>
            </a:r>
          </a:p>
          <a:p>
            <a:endParaRPr lang="en-US" dirty="0"/>
          </a:p>
        </p:txBody>
      </p:sp>
    </p:spTree>
    <p:extLst>
      <p:ext uri="{BB962C8B-B14F-4D97-AF65-F5344CB8AC3E}">
        <p14:creationId xmlns:p14="http://schemas.microsoft.com/office/powerpoint/2010/main" val="786542225"/>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CE58765A-2B7D-AA90-6CF7-93CF9E0368A1}"/>
              </a:ext>
            </a:extLst>
          </p:cNvPr>
          <p:cNvGraphicFramePr>
            <a:graphicFrameLocks noGrp="1"/>
          </p:cNvGraphicFramePr>
          <p:nvPr>
            <p:extLst>
              <p:ext uri="{D42A27DB-BD31-4B8C-83A1-F6EECF244321}">
                <p14:modId xmlns:p14="http://schemas.microsoft.com/office/powerpoint/2010/main" val="2202236209"/>
              </p:ext>
            </p:extLst>
          </p:nvPr>
        </p:nvGraphicFramePr>
        <p:xfrm>
          <a:off x="878589" y="566568"/>
          <a:ext cx="10058400" cy="1737360"/>
        </p:xfrm>
        <a:graphic>
          <a:graphicData uri="http://schemas.openxmlformats.org/drawingml/2006/table">
            <a:tbl>
              <a:tblPr/>
              <a:tblGrid>
                <a:gridCol w="2514600">
                  <a:extLst>
                    <a:ext uri="{9D8B030D-6E8A-4147-A177-3AD203B41FA5}">
                      <a16:colId xmlns:a16="http://schemas.microsoft.com/office/drawing/2014/main" val="1859672836"/>
                    </a:ext>
                  </a:extLst>
                </a:gridCol>
                <a:gridCol w="2514600">
                  <a:extLst>
                    <a:ext uri="{9D8B030D-6E8A-4147-A177-3AD203B41FA5}">
                      <a16:colId xmlns:a16="http://schemas.microsoft.com/office/drawing/2014/main" val="1011744251"/>
                    </a:ext>
                  </a:extLst>
                </a:gridCol>
                <a:gridCol w="2514600">
                  <a:extLst>
                    <a:ext uri="{9D8B030D-6E8A-4147-A177-3AD203B41FA5}">
                      <a16:colId xmlns:a16="http://schemas.microsoft.com/office/drawing/2014/main" val="3431129469"/>
                    </a:ext>
                  </a:extLst>
                </a:gridCol>
                <a:gridCol w="2514600">
                  <a:extLst>
                    <a:ext uri="{9D8B030D-6E8A-4147-A177-3AD203B41FA5}">
                      <a16:colId xmlns:a16="http://schemas.microsoft.com/office/drawing/2014/main" val="2462661548"/>
                    </a:ext>
                  </a:extLst>
                </a:gridCol>
              </a:tblGrid>
              <a:tr h="0">
                <a:tc>
                  <a:txBody>
                    <a:bodyPr/>
                    <a:lstStyle/>
                    <a:p>
                      <a:pPr>
                        <a:buNone/>
                      </a:pPr>
                      <a:r>
                        <a:rPr lang="en-US"/>
                        <a:t>Relationship</a:t>
                      </a:r>
                    </a:p>
                  </a:txBody>
                  <a:tcPr anchor="ctr">
                    <a:lnL>
                      <a:noFill/>
                    </a:lnL>
                    <a:lnR>
                      <a:noFill/>
                    </a:lnR>
                    <a:lnT>
                      <a:noFill/>
                    </a:lnT>
                    <a:lnB>
                      <a:noFill/>
                    </a:lnB>
                    <a:noFill/>
                  </a:tcPr>
                </a:tc>
                <a:tc>
                  <a:txBody>
                    <a:bodyPr/>
                    <a:lstStyle/>
                    <a:p>
                      <a:pPr>
                        <a:buNone/>
                      </a:pPr>
                      <a:r>
                        <a:rPr lang="en-US"/>
                        <a:t>Classification</a:t>
                      </a:r>
                    </a:p>
                  </a:txBody>
                  <a:tcPr anchor="ctr">
                    <a:lnL>
                      <a:noFill/>
                    </a:lnL>
                    <a:lnR>
                      <a:noFill/>
                    </a:lnR>
                    <a:lnT>
                      <a:noFill/>
                    </a:lnT>
                    <a:lnB>
                      <a:noFill/>
                    </a:lnB>
                    <a:noFill/>
                  </a:tcPr>
                </a:tc>
                <a:tc>
                  <a:txBody>
                    <a:bodyPr/>
                    <a:lstStyle/>
                    <a:p>
                      <a:pPr>
                        <a:buNone/>
                      </a:pPr>
                      <a:r>
                        <a:rPr lang="en-US"/>
                        <a:t>Ownership</a:t>
                      </a:r>
                    </a:p>
                  </a:txBody>
                  <a:tcPr anchor="ctr">
                    <a:lnL>
                      <a:noFill/>
                    </a:lnL>
                    <a:lnR>
                      <a:noFill/>
                    </a:lnR>
                    <a:lnT>
                      <a:noFill/>
                    </a:lnT>
                    <a:lnB>
                      <a:noFill/>
                    </a:lnB>
                    <a:noFill/>
                  </a:tcPr>
                </a:tc>
                <a:tc>
                  <a:txBody>
                    <a:bodyPr/>
                    <a:lstStyle/>
                    <a:p>
                      <a:pPr>
                        <a:buNone/>
                      </a:pPr>
                      <a:r>
                        <a:rPr lang="en-US"/>
                        <a:t>Lifetime</a:t>
                      </a:r>
                    </a:p>
                  </a:txBody>
                  <a:tcPr anchor="ctr">
                    <a:lnL>
                      <a:noFill/>
                    </a:lnL>
                    <a:lnR>
                      <a:noFill/>
                    </a:lnR>
                    <a:lnT>
                      <a:noFill/>
                    </a:lnT>
                    <a:lnB>
                      <a:noFill/>
                    </a:lnB>
                    <a:noFill/>
                  </a:tcPr>
                </a:tc>
                <a:extLst>
                  <a:ext uri="{0D108BD9-81ED-4DB2-BD59-A6C34878D82A}">
                    <a16:rowId xmlns:a16="http://schemas.microsoft.com/office/drawing/2014/main" val="384024224"/>
                  </a:ext>
                </a:extLst>
              </a:tr>
              <a:tr h="0">
                <a:tc>
                  <a:txBody>
                    <a:bodyPr/>
                    <a:lstStyle/>
                    <a:p>
                      <a:pPr>
                        <a:buNone/>
                      </a:pPr>
                      <a:r>
                        <a:rPr lang="en-US"/>
                        <a:t>Department – Teacher</a:t>
                      </a:r>
                    </a:p>
                  </a:txBody>
                  <a:tcPr anchor="ctr">
                    <a:lnL>
                      <a:noFill/>
                    </a:lnL>
                    <a:lnR>
                      <a:noFill/>
                    </a:lnR>
                    <a:lnT>
                      <a:noFill/>
                    </a:lnT>
                    <a:lnB>
                      <a:noFill/>
                    </a:lnB>
                    <a:noFill/>
                  </a:tcPr>
                </a:tc>
                <a:tc>
                  <a:txBody>
                    <a:bodyPr/>
                    <a:lstStyle/>
                    <a:p>
                      <a:pPr>
                        <a:buNone/>
                      </a:pPr>
                      <a:r>
                        <a:rPr lang="en-US"/>
                        <a:t>Aggregation</a:t>
                      </a:r>
                    </a:p>
                  </a:txBody>
                  <a:tcPr anchor="ctr">
                    <a:lnL>
                      <a:noFill/>
                    </a:lnL>
                    <a:lnR>
                      <a:noFill/>
                    </a:lnR>
                    <a:lnT>
                      <a:noFill/>
                    </a:lnT>
                    <a:lnB>
                      <a:noFill/>
                    </a:lnB>
                    <a:noFill/>
                  </a:tcPr>
                </a:tc>
                <a:tc>
                  <a:txBody>
                    <a:bodyPr/>
                    <a:lstStyle/>
                    <a:p>
                      <a:pPr>
                        <a:buNone/>
                      </a:pPr>
                      <a:r>
                        <a:rPr lang="en-US"/>
                        <a:t>No ownership</a:t>
                      </a:r>
                    </a:p>
                  </a:txBody>
                  <a:tcPr anchor="ctr">
                    <a:lnL>
                      <a:noFill/>
                    </a:lnL>
                    <a:lnR>
                      <a:noFill/>
                    </a:lnR>
                    <a:lnT>
                      <a:noFill/>
                    </a:lnT>
                    <a:lnB>
                      <a:noFill/>
                    </a:lnB>
                    <a:noFill/>
                  </a:tcPr>
                </a:tc>
                <a:tc>
                  <a:txBody>
                    <a:bodyPr/>
                    <a:lstStyle/>
                    <a:p>
                      <a:pPr>
                        <a:buNone/>
                      </a:pPr>
                      <a:r>
                        <a:rPr lang="en-US"/>
                        <a:t>Independent</a:t>
                      </a:r>
                    </a:p>
                  </a:txBody>
                  <a:tcPr anchor="ctr">
                    <a:lnL>
                      <a:noFill/>
                    </a:lnL>
                    <a:lnR>
                      <a:noFill/>
                    </a:lnR>
                    <a:lnT>
                      <a:noFill/>
                    </a:lnT>
                    <a:lnB>
                      <a:noFill/>
                    </a:lnB>
                    <a:noFill/>
                  </a:tcPr>
                </a:tc>
                <a:extLst>
                  <a:ext uri="{0D108BD9-81ED-4DB2-BD59-A6C34878D82A}">
                    <a16:rowId xmlns:a16="http://schemas.microsoft.com/office/drawing/2014/main" val="2002150064"/>
                  </a:ext>
                </a:extLst>
              </a:tr>
              <a:tr h="0">
                <a:tc>
                  <a:txBody>
                    <a:bodyPr/>
                    <a:lstStyle/>
                    <a:p>
                      <a:pPr>
                        <a:buNone/>
                      </a:pPr>
                      <a:r>
                        <a:rPr lang="en-US"/>
                        <a:t>Department – Office</a:t>
                      </a:r>
                    </a:p>
                  </a:txBody>
                  <a:tcPr anchor="ctr">
                    <a:lnL>
                      <a:noFill/>
                    </a:lnL>
                    <a:lnR>
                      <a:noFill/>
                    </a:lnR>
                    <a:lnT>
                      <a:noFill/>
                    </a:lnT>
                    <a:lnB>
                      <a:noFill/>
                    </a:lnB>
                    <a:noFill/>
                  </a:tcPr>
                </a:tc>
                <a:tc>
                  <a:txBody>
                    <a:bodyPr/>
                    <a:lstStyle/>
                    <a:p>
                      <a:pPr>
                        <a:buNone/>
                      </a:pPr>
                      <a:r>
                        <a:rPr lang="en-US"/>
                        <a:t>Composition</a:t>
                      </a:r>
                    </a:p>
                  </a:txBody>
                  <a:tcPr anchor="ctr">
                    <a:lnL>
                      <a:noFill/>
                    </a:lnL>
                    <a:lnR>
                      <a:noFill/>
                    </a:lnR>
                    <a:lnT>
                      <a:noFill/>
                    </a:lnT>
                    <a:lnB>
                      <a:noFill/>
                    </a:lnB>
                    <a:noFill/>
                  </a:tcPr>
                </a:tc>
                <a:tc>
                  <a:txBody>
                    <a:bodyPr/>
                    <a:lstStyle/>
                    <a:p>
                      <a:pPr>
                        <a:buNone/>
                      </a:pPr>
                      <a:r>
                        <a:rPr lang="en-US"/>
                        <a:t>Department owns Office</a:t>
                      </a:r>
                    </a:p>
                  </a:txBody>
                  <a:tcPr anchor="ctr">
                    <a:lnL>
                      <a:noFill/>
                    </a:lnL>
                    <a:lnR>
                      <a:noFill/>
                    </a:lnR>
                    <a:lnT>
                      <a:noFill/>
                    </a:lnT>
                    <a:lnB>
                      <a:noFill/>
                    </a:lnB>
                    <a:noFill/>
                  </a:tcPr>
                </a:tc>
                <a:tc>
                  <a:txBody>
                    <a:bodyPr/>
                    <a:lstStyle/>
                    <a:p>
                      <a:pPr>
                        <a:buNone/>
                      </a:pPr>
                      <a:r>
                        <a:rPr lang="en-US"/>
                        <a:t>Dependent</a:t>
                      </a:r>
                    </a:p>
                  </a:txBody>
                  <a:tcPr anchor="ctr">
                    <a:lnL>
                      <a:noFill/>
                    </a:lnL>
                    <a:lnR>
                      <a:noFill/>
                    </a:lnR>
                    <a:lnT>
                      <a:noFill/>
                    </a:lnT>
                    <a:lnB>
                      <a:noFill/>
                    </a:lnB>
                    <a:noFill/>
                  </a:tcPr>
                </a:tc>
                <a:extLst>
                  <a:ext uri="{0D108BD9-81ED-4DB2-BD59-A6C34878D82A}">
                    <a16:rowId xmlns:a16="http://schemas.microsoft.com/office/drawing/2014/main" val="247767099"/>
                  </a:ext>
                </a:extLst>
              </a:tr>
              <a:tr h="0">
                <a:tc>
                  <a:txBody>
                    <a:bodyPr/>
                    <a:lstStyle/>
                    <a:p>
                      <a:pPr>
                        <a:buNone/>
                      </a:pPr>
                      <a:r>
                        <a:rPr lang="en-US"/>
                        <a:t>Student – Course</a:t>
                      </a:r>
                    </a:p>
                  </a:txBody>
                  <a:tcPr anchor="ctr">
                    <a:lnL>
                      <a:noFill/>
                    </a:lnL>
                    <a:lnR>
                      <a:noFill/>
                    </a:lnR>
                    <a:lnT>
                      <a:noFill/>
                    </a:lnT>
                    <a:lnB>
                      <a:noFill/>
                    </a:lnB>
                    <a:noFill/>
                  </a:tcPr>
                </a:tc>
                <a:tc>
                  <a:txBody>
                    <a:bodyPr/>
                    <a:lstStyle/>
                    <a:p>
                      <a:pPr>
                        <a:buNone/>
                      </a:pPr>
                      <a:r>
                        <a:rPr lang="en-US"/>
                        <a:t>Aggregation</a:t>
                      </a:r>
                    </a:p>
                  </a:txBody>
                  <a:tcPr anchor="ctr">
                    <a:lnL>
                      <a:noFill/>
                    </a:lnL>
                    <a:lnR>
                      <a:noFill/>
                    </a:lnR>
                    <a:lnT>
                      <a:noFill/>
                    </a:lnT>
                    <a:lnB>
                      <a:noFill/>
                    </a:lnB>
                    <a:noFill/>
                  </a:tcPr>
                </a:tc>
                <a:tc>
                  <a:txBody>
                    <a:bodyPr/>
                    <a:lstStyle/>
                    <a:p>
                      <a:pPr>
                        <a:buNone/>
                      </a:pPr>
                      <a:r>
                        <a:rPr lang="en-US"/>
                        <a:t>No ownership</a:t>
                      </a:r>
                    </a:p>
                  </a:txBody>
                  <a:tcPr anchor="ctr">
                    <a:lnL>
                      <a:noFill/>
                    </a:lnL>
                    <a:lnR>
                      <a:noFill/>
                    </a:lnR>
                    <a:lnT>
                      <a:noFill/>
                    </a:lnT>
                    <a:lnB>
                      <a:noFill/>
                    </a:lnB>
                    <a:noFill/>
                  </a:tcPr>
                </a:tc>
                <a:tc>
                  <a:txBody>
                    <a:bodyPr/>
                    <a:lstStyle/>
                    <a:p>
                      <a:pPr>
                        <a:buNone/>
                      </a:pPr>
                      <a:r>
                        <a:rPr lang="en-US" dirty="0"/>
                        <a:t>Independent</a:t>
                      </a:r>
                    </a:p>
                  </a:txBody>
                  <a:tcPr anchor="ctr">
                    <a:lnL>
                      <a:noFill/>
                    </a:lnL>
                    <a:lnR>
                      <a:noFill/>
                    </a:lnR>
                    <a:lnT>
                      <a:noFill/>
                    </a:lnT>
                    <a:lnB>
                      <a:noFill/>
                    </a:lnB>
                    <a:noFill/>
                  </a:tcPr>
                </a:tc>
                <a:extLst>
                  <a:ext uri="{0D108BD9-81ED-4DB2-BD59-A6C34878D82A}">
                    <a16:rowId xmlns:a16="http://schemas.microsoft.com/office/drawing/2014/main" val="1301727423"/>
                  </a:ext>
                </a:extLst>
              </a:tr>
            </a:tbl>
          </a:graphicData>
        </a:graphic>
      </p:graphicFrame>
      <p:sp>
        <p:nvSpPr>
          <p:cNvPr id="10" name="TextBox 9">
            <a:extLst>
              <a:ext uri="{FF2B5EF4-FFF2-40B4-BE49-F238E27FC236}">
                <a16:creationId xmlns:a16="http://schemas.microsoft.com/office/drawing/2014/main" id="{D06326B6-F469-8062-B174-D4F66BDE838D}"/>
              </a:ext>
            </a:extLst>
          </p:cNvPr>
          <p:cNvSpPr txBox="1"/>
          <p:nvPr/>
        </p:nvSpPr>
        <p:spPr>
          <a:xfrm>
            <a:off x="878589" y="2860456"/>
            <a:ext cx="6097772" cy="1477328"/>
          </a:xfrm>
          <a:prstGeom prst="rect">
            <a:avLst/>
          </a:prstGeom>
          <a:noFill/>
        </p:spPr>
        <p:txBody>
          <a:bodyPr wrap="square">
            <a:spAutoFit/>
          </a:bodyPr>
          <a:lstStyle/>
          <a:p>
            <a:pPr>
              <a:buNone/>
            </a:pPr>
            <a:r>
              <a:rPr lang="en-US" b="1" dirty="0"/>
              <a:t>Exam Keywords</a:t>
            </a:r>
          </a:p>
          <a:p>
            <a:pPr>
              <a:buFont typeface="Arial" panose="020B0604020202020204" pitchFamily="34" charset="0"/>
              <a:buChar char="•"/>
            </a:pPr>
            <a:r>
              <a:rPr lang="en-US" b="1" dirty="0"/>
              <a:t>Aggregation:</a:t>
            </a:r>
            <a:r>
              <a:rPr lang="en-US" dirty="0"/>
              <a:t> Weak relationship, no ownership, independent lifetime. </a:t>
            </a:r>
          </a:p>
          <a:p>
            <a:pPr>
              <a:buFont typeface="Arial" panose="020B0604020202020204" pitchFamily="34" charset="0"/>
              <a:buChar char="•"/>
            </a:pPr>
            <a:r>
              <a:rPr lang="en-US" b="1" dirty="0"/>
              <a:t>Composition:</a:t>
            </a:r>
            <a:r>
              <a:rPr lang="en-US" dirty="0"/>
              <a:t> Strong relationship, ownership exists, dependent lifetime.</a:t>
            </a:r>
          </a:p>
        </p:txBody>
      </p:sp>
    </p:spTree>
    <p:extLst>
      <p:ext uri="{BB962C8B-B14F-4D97-AF65-F5344CB8AC3E}">
        <p14:creationId xmlns:p14="http://schemas.microsoft.com/office/powerpoint/2010/main" val="114669852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4015330-4B45-27E2-F592-A2A8076B402E}"/>
              </a:ext>
            </a:extLst>
          </p:cNvPr>
          <p:cNvGraphicFramePr>
            <a:graphicFrameLocks noGrp="1"/>
          </p:cNvGraphicFramePr>
          <p:nvPr/>
        </p:nvGraphicFramePr>
        <p:xfrm>
          <a:off x="1069975" y="2134870"/>
          <a:ext cx="10058400" cy="4023360"/>
        </p:xfrm>
        <a:graphic>
          <a:graphicData uri="http://schemas.openxmlformats.org/drawingml/2006/table">
            <a:tbl>
              <a:tblPr/>
              <a:tblGrid>
                <a:gridCol w="5029200">
                  <a:extLst>
                    <a:ext uri="{9D8B030D-6E8A-4147-A177-3AD203B41FA5}">
                      <a16:colId xmlns:a16="http://schemas.microsoft.com/office/drawing/2014/main" val="2050288562"/>
                    </a:ext>
                  </a:extLst>
                </a:gridCol>
                <a:gridCol w="5029200">
                  <a:extLst>
                    <a:ext uri="{9D8B030D-6E8A-4147-A177-3AD203B41FA5}">
                      <a16:colId xmlns:a16="http://schemas.microsoft.com/office/drawing/2014/main" val="3880669216"/>
                    </a:ext>
                  </a:extLst>
                </a:gridCol>
              </a:tblGrid>
              <a:tr h="0">
                <a:tc>
                  <a:txBody>
                    <a:bodyPr/>
                    <a:lstStyle/>
                    <a:p>
                      <a:pPr>
                        <a:buNone/>
                      </a:pPr>
                      <a:r>
                        <a:rPr lang="en-US"/>
                        <a:t>Relationship</a:t>
                      </a:r>
                    </a:p>
                  </a:txBody>
                  <a:tcPr anchor="ctr">
                    <a:lnL>
                      <a:noFill/>
                    </a:lnL>
                    <a:lnR>
                      <a:noFill/>
                    </a:lnR>
                    <a:lnT>
                      <a:noFill/>
                    </a:lnT>
                    <a:lnB>
                      <a:noFill/>
                    </a:lnB>
                    <a:noFill/>
                  </a:tcPr>
                </a:tc>
                <a:tc>
                  <a:txBody>
                    <a:bodyPr/>
                    <a:lstStyle/>
                    <a:p>
                      <a:pPr>
                        <a:buNone/>
                      </a:pPr>
                      <a:r>
                        <a:rPr lang="en-US"/>
                        <a:t>Type</a:t>
                      </a:r>
                    </a:p>
                  </a:txBody>
                  <a:tcPr anchor="ctr">
                    <a:lnL>
                      <a:noFill/>
                    </a:lnL>
                    <a:lnR>
                      <a:noFill/>
                    </a:lnR>
                    <a:lnT>
                      <a:noFill/>
                    </a:lnT>
                    <a:lnB>
                      <a:noFill/>
                    </a:lnB>
                    <a:noFill/>
                  </a:tcPr>
                </a:tc>
                <a:extLst>
                  <a:ext uri="{0D108BD9-81ED-4DB2-BD59-A6C34878D82A}">
                    <a16:rowId xmlns:a16="http://schemas.microsoft.com/office/drawing/2014/main" val="1318718599"/>
                  </a:ext>
                </a:extLst>
              </a:tr>
              <a:tr h="0">
                <a:tc>
                  <a:txBody>
                    <a:bodyPr/>
                    <a:lstStyle/>
                    <a:p>
                      <a:pPr>
                        <a:buNone/>
                      </a:pPr>
                      <a:r>
                        <a:rPr lang="en-US"/>
                        <a:t>Company – Employee</a:t>
                      </a:r>
                    </a:p>
                  </a:txBody>
                  <a:tcPr anchor="ctr">
                    <a:lnL>
                      <a:noFill/>
                    </a:lnL>
                    <a:lnR>
                      <a:noFill/>
                    </a:lnR>
                    <a:lnT>
                      <a:noFill/>
                    </a:lnT>
                    <a:lnB>
                      <a:noFill/>
                    </a:lnB>
                    <a:noFill/>
                  </a:tcPr>
                </a:tc>
                <a:tc>
                  <a:txBody>
                    <a:bodyPr/>
                    <a:lstStyle/>
                    <a:p>
                      <a:pPr>
                        <a:buNone/>
                      </a:pPr>
                      <a:r>
                        <a:rPr lang="en-US"/>
                        <a:t>Aggregation</a:t>
                      </a:r>
                    </a:p>
                  </a:txBody>
                  <a:tcPr anchor="ctr">
                    <a:lnL>
                      <a:noFill/>
                    </a:lnL>
                    <a:lnR>
                      <a:noFill/>
                    </a:lnR>
                    <a:lnT>
                      <a:noFill/>
                    </a:lnT>
                    <a:lnB>
                      <a:noFill/>
                    </a:lnB>
                    <a:noFill/>
                  </a:tcPr>
                </a:tc>
                <a:extLst>
                  <a:ext uri="{0D108BD9-81ED-4DB2-BD59-A6C34878D82A}">
                    <a16:rowId xmlns:a16="http://schemas.microsoft.com/office/drawing/2014/main" val="1277910837"/>
                  </a:ext>
                </a:extLst>
              </a:tr>
              <a:tr h="0">
                <a:tc>
                  <a:txBody>
                    <a:bodyPr/>
                    <a:lstStyle/>
                    <a:p>
                      <a:pPr>
                        <a:buNone/>
                      </a:pPr>
                      <a:r>
                        <a:rPr lang="en-US"/>
                        <a:t>Team – Player</a:t>
                      </a:r>
                    </a:p>
                  </a:txBody>
                  <a:tcPr anchor="ctr">
                    <a:lnL>
                      <a:noFill/>
                    </a:lnL>
                    <a:lnR>
                      <a:noFill/>
                    </a:lnR>
                    <a:lnT>
                      <a:noFill/>
                    </a:lnT>
                    <a:lnB>
                      <a:noFill/>
                    </a:lnB>
                    <a:noFill/>
                  </a:tcPr>
                </a:tc>
                <a:tc>
                  <a:txBody>
                    <a:bodyPr/>
                    <a:lstStyle/>
                    <a:p>
                      <a:pPr>
                        <a:buNone/>
                      </a:pPr>
                      <a:r>
                        <a:rPr lang="en-US"/>
                        <a:t>Aggregation</a:t>
                      </a:r>
                    </a:p>
                  </a:txBody>
                  <a:tcPr anchor="ctr">
                    <a:lnL>
                      <a:noFill/>
                    </a:lnL>
                    <a:lnR>
                      <a:noFill/>
                    </a:lnR>
                    <a:lnT>
                      <a:noFill/>
                    </a:lnT>
                    <a:lnB>
                      <a:noFill/>
                    </a:lnB>
                    <a:noFill/>
                  </a:tcPr>
                </a:tc>
                <a:extLst>
                  <a:ext uri="{0D108BD9-81ED-4DB2-BD59-A6C34878D82A}">
                    <a16:rowId xmlns:a16="http://schemas.microsoft.com/office/drawing/2014/main" val="1442198066"/>
                  </a:ext>
                </a:extLst>
              </a:tr>
              <a:tr h="0">
                <a:tc>
                  <a:txBody>
                    <a:bodyPr/>
                    <a:lstStyle/>
                    <a:p>
                      <a:pPr>
                        <a:buNone/>
                      </a:pPr>
                      <a:r>
                        <a:rPr lang="en-US"/>
                        <a:t>University – Professor</a:t>
                      </a:r>
                    </a:p>
                  </a:txBody>
                  <a:tcPr anchor="ctr">
                    <a:lnL>
                      <a:noFill/>
                    </a:lnL>
                    <a:lnR>
                      <a:noFill/>
                    </a:lnR>
                    <a:lnT>
                      <a:noFill/>
                    </a:lnT>
                    <a:lnB>
                      <a:noFill/>
                    </a:lnB>
                    <a:noFill/>
                  </a:tcPr>
                </a:tc>
                <a:tc>
                  <a:txBody>
                    <a:bodyPr/>
                    <a:lstStyle/>
                    <a:p>
                      <a:pPr>
                        <a:buNone/>
                      </a:pPr>
                      <a:r>
                        <a:rPr lang="en-US"/>
                        <a:t>Aggregation</a:t>
                      </a:r>
                    </a:p>
                  </a:txBody>
                  <a:tcPr anchor="ctr">
                    <a:lnL>
                      <a:noFill/>
                    </a:lnL>
                    <a:lnR>
                      <a:noFill/>
                    </a:lnR>
                    <a:lnT>
                      <a:noFill/>
                    </a:lnT>
                    <a:lnB>
                      <a:noFill/>
                    </a:lnB>
                    <a:noFill/>
                  </a:tcPr>
                </a:tc>
                <a:extLst>
                  <a:ext uri="{0D108BD9-81ED-4DB2-BD59-A6C34878D82A}">
                    <a16:rowId xmlns:a16="http://schemas.microsoft.com/office/drawing/2014/main" val="1571836593"/>
                  </a:ext>
                </a:extLst>
              </a:tr>
              <a:tr h="0">
                <a:tc>
                  <a:txBody>
                    <a:bodyPr/>
                    <a:lstStyle/>
                    <a:p>
                      <a:pPr>
                        <a:buNone/>
                      </a:pPr>
                      <a:r>
                        <a:rPr lang="en-US"/>
                        <a:t>Department – Teacher</a:t>
                      </a:r>
                    </a:p>
                  </a:txBody>
                  <a:tcPr anchor="ctr">
                    <a:lnL>
                      <a:noFill/>
                    </a:lnL>
                    <a:lnR>
                      <a:noFill/>
                    </a:lnR>
                    <a:lnT>
                      <a:noFill/>
                    </a:lnT>
                    <a:lnB>
                      <a:noFill/>
                    </a:lnB>
                    <a:noFill/>
                  </a:tcPr>
                </a:tc>
                <a:tc>
                  <a:txBody>
                    <a:bodyPr/>
                    <a:lstStyle/>
                    <a:p>
                      <a:pPr>
                        <a:buNone/>
                      </a:pPr>
                      <a:r>
                        <a:rPr lang="en-US"/>
                        <a:t>Aggregation</a:t>
                      </a:r>
                    </a:p>
                  </a:txBody>
                  <a:tcPr anchor="ctr">
                    <a:lnL>
                      <a:noFill/>
                    </a:lnL>
                    <a:lnR>
                      <a:noFill/>
                    </a:lnR>
                    <a:lnT>
                      <a:noFill/>
                    </a:lnT>
                    <a:lnB>
                      <a:noFill/>
                    </a:lnB>
                    <a:noFill/>
                  </a:tcPr>
                </a:tc>
                <a:extLst>
                  <a:ext uri="{0D108BD9-81ED-4DB2-BD59-A6C34878D82A}">
                    <a16:rowId xmlns:a16="http://schemas.microsoft.com/office/drawing/2014/main" val="1066240823"/>
                  </a:ext>
                </a:extLst>
              </a:tr>
              <a:tr h="0">
                <a:tc>
                  <a:txBody>
                    <a:bodyPr/>
                    <a:lstStyle/>
                    <a:p>
                      <a:pPr>
                        <a:buNone/>
                      </a:pPr>
                      <a:r>
                        <a:rPr lang="en-US" dirty="0"/>
                        <a:t>Student – Course</a:t>
                      </a:r>
                    </a:p>
                  </a:txBody>
                  <a:tcPr anchor="ctr">
                    <a:lnL>
                      <a:noFill/>
                    </a:lnL>
                    <a:lnR>
                      <a:noFill/>
                    </a:lnR>
                    <a:lnT>
                      <a:noFill/>
                    </a:lnT>
                    <a:lnB>
                      <a:noFill/>
                    </a:lnB>
                    <a:noFill/>
                  </a:tcPr>
                </a:tc>
                <a:tc>
                  <a:txBody>
                    <a:bodyPr/>
                    <a:lstStyle/>
                    <a:p>
                      <a:pPr>
                        <a:buNone/>
                      </a:pPr>
                      <a:r>
                        <a:rPr lang="en-US"/>
                        <a:t>Aggregation / Association</a:t>
                      </a:r>
                    </a:p>
                  </a:txBody>
                  <a:tcPr anchor="ctr">
                    <a:lnL>
                      <a:noFill/>
                    </a:lnL>
                    <a:lnR>
                      <a:noFill/>
                    </a:lnR>
                    <a:lnT>
                      <a:noFill/>
                    </a:lnT>
                    <a:lnB>
                      <a:noFill/>
                    </a:lnB>
                    <a:noFill/>
                  </a:tcPr>
                </a:tc>
                <a:extLst>
                  <a:ext uri="{0D108BD9-81ED-4DB2-BD59-A6C34878D82A}">
                    <a16:rowId xmlns:a16="http://schemas.microsoft.com/office/drawing/2014/main" val="1408981496"/>
                  </a:ext>
                </a:extLst>
              </a:tr>
              <a:tr h="0">
                <a:tc>
                  <a:txBody>
                    <a:bodyPr/>
                    <a:lstStyle/>
                    <a:p>
                      <a:pPr>
                        <a:buNone/>
                      </a:pPr>
                      <a:r>
                        <a:rPr lang="en-US"/>
                        <a:t>House – Room</a:t>
                      </a:r>
                    </a:p>
                  </a:txBody>
                  <a:tcPr anchor="ctr">
                    <a:lnL>
                      <a:noFill/>
                    </a:lnL>
                    <a:lnR>
                      <a:noFill/>
                    </a:lnR>
                    <a:lnT>
                      <a:noFill/>
                    </a:lnT>
                    <a:lnB>
                      <a:noFill/>
                    </a:lnB>
                    <a:noFill/>
                  </a:tcPr>
                </a:tc>
                <a:tc>
                  <a:txBody>
                    <a:bodyPr/>
                    <a:lstStyle/>
                    <a:p>
                      <a:pPr>
                        <a:buNone/>
                      </a:pPr>
                      <a:r>
                        <a:rPr lang="en-US"/>
                        <a:t>Composition</a:t>
                      </a:r>
                    </a:p>
                  </a:txBody>
                  <a:tcPr anchor="ctr">
                    <a:lnL>
                      <a:noFill/>
                    </a:lnL>
                    <a:lnR>
                      <a:noFill/>
                    </a:lnR>
                    <a:lnT>
                      <a:noFill/>
                    </a:lnT>
                    <a:lnB>
                      <a:noFill/>
                    </a:lnB>
                    <a:noFill/>
                  </a:tcPr>
                </a:tc>
                <a:extLst>
                  <a:ext uri="{0D108BD9-81ED-4DB2-BD59-A6C34878D82A}">
                    <a16:rowId xmlns:a16="http://schemas.microsoft.com/office/drawing/2014/main" val="4256615506"/>
                  </a:ext>
                </a:extLst>
              </a:tr>
              <a:tr h="0">
                <a:tc>
                  <a:txBody>
                    <a:bodyPr/>
                    <a:lstStyle/>
                    <a:p>
                      <a:pPr>
                        <a:buNone/>
                      </a:pPr>
                      <a:r>
                        <a:rPr lang="en-US"/>
                        <a:t>Building – Room</a:t>
                      </a:r>
                    </a:p>
                  </a:txBody>
                  <a:tcPr anchor="ctr">
                    <a:lnL>
                      <a:noFill/>
                    </a:lnL>
                    <a:lnR>
                      <a:noFill/>
                    </a:lnR>
                    <a:lnT>
                      <a:noFill/>
                    </a:lnT>
                    <a:lnB>
                      <a:noFill/>
                    </a:lnB>
                    <a:noFill/>
                  </a:tcPr>
                </a:tc>
                <a:tc>
                  <a:txBody>
                    <a:bodyPr/>
                    <a:lstStyle/>
                    <a:p>
                      <a:pPr>
                        <a:buNone/>
                      </a:pPr>
                      <a:r>
                        <a:rPr lang="en-US"/>
                        <a:t>Composition</a:t>
                      </a:r>
                    </a:p>
                  </a:txBody>
                  <a:tcPr anchor="ctr">
                    <a:lnL>
                      <a:noFill/>
                    </a:lnL>
                    <a:lnR>
                      <a:noFill/>
                    </a:lnR>
                    <a:lnT>
                      <a:noFill/>
                    </a:lnT>
                    <a:lnB>
                      <a:noFill/>
                    </a:lnB>
                    <a:noFill/>
                  </a:tcPr>
                </a:tc>
                <a:extLst>
                  <a:ext uri="{0D108BD9-81ED-4DB2-BD59-A6C34878D82A}">
                    <a16:rowId xmlns:a16="http://schemas.microsoft.com/office/drawing/2014/main" val="1648812147"/>
                  </a:ext>
                </a:extLst>
              </a:tr>
              <a:tr h="0">
                <a:tc>
                  <a:txBody>
                    <a:bodyPr/>
                    <a:lstStyle/>
                    <a:p>
                      <a:pPr>
                        <a:buNone/>
                      </a:pPr>
                      <a:r>
                        <a:rPr lang="en-US"/>
                        <a:t>Car – Engine</a:t>
                      </a:r>
                    </a:p>
                  </a:txBody>
                  <a:tcPr anchor="ctr">
                    <a:lnL>
                      <a:noFill/>
                    </a:lnL>
                    <a:lnR>
                      <a:noFill/>
                    </a:lnR>
                    <a:lnT>
                      <a:noFill/>
                    </a:lnT>
                    <a:lnB>
                      <a:noFill/>
                    </a:lnB>
                    <a:noFill/>
                  </a:tcPr>
                </a:tc>
                <a:tc>
                  <a:txBody>
                    <a:bodyPr/>
                    <a:lstStyle/>
                    <a:p>
                      <a:pPr>
                        <a:buNone/>
                      </a:pPr>
                      <a:r>
                        <a:rPr lang="en-US"/>
                        <a:t>Composition</a:t>
                      </a:r>
                    </a:p>
                  </a:txBody>
                  <a:tcPr anchor="ctr">
                    <a:lnL>
                      <a:noFill/>
                    </a:lnL>
                    <a:lnR>
                      <a:noFill/>
                    </a:lnR>
                    <a:lnT>
                      <a:noFill/>
                    </a:lnT>
                    <a:lnB>
                      <a:noFill/>
                    </a:lnB>
                    <a:noFill/>
                  </a:tcPr>
                </a:tc>
                <a:extLst>
                  <a:ext uri="{0D108BD9-81ED-4DB2-BD59-A6C34878D82A}">
                    <a16:rowId xmlns:a16="http://schemas.microsoft.com/office/drawing/2014/main" val="2692732068"/>
                  </a:ext>
                </a:extLst>
              </a:tr>
              <a:tr h="0">
                <a:tc>
                  <a:txBody>
                    <a:bodyPr/>
                    <a:lstStyle/>
                    <a:p>
                      <a:pPr>
                        <a:buNone/>
                      </a:pPr>
                      <a:r>
                        <a:rPr lang="en-US"/>
                        <a:t>Human – Heart</a:t>
                      </a:r>
                    </a:p>
                  </a:txBody>
                  <a:tcPr anchor="ctr">
                    <a:lnL>
                      <a:noFill/>
                    </a:lnL>
                    <a:lnR>
                      <a:noFill/>
                    </a:lnR>
                    <a:lnT>
                      <a:noFill/>
                    </a:lnT>
                    <a:lnB>
                      <a:noFill/>
                    </a:lnB>
                    <a:noFill/>
                  </a:tcPr>
                </a:tc>
                <a:tc>
                  <a:txBody>
                    <a:bodyPr/>
                    <a:lstStyle/>
                    <a:p>
                      <a:pPr>
                        <a:buNone/>
                      </a:pPr>
                      <a:r>
                        <a:rPr lang="en-US"/>
                        <a:t>Composition</a:t>
                      </a:r>
                    </a:p>
                  </a:txBody>
                  <a:tcPr anchor="ctr">
                    <a:lnL>
                      <a:noFill/>
                    </a:lnL>
                    <a:lnR>
                      <a:noFill/>
                    </a:lnR>
                    <a:lnT>
                      <a:noFill/>
                    </a:lnT>
                    <a:lnB>
                      <a:noFill/>
                    </a:lnB>
                    <a:noFill/>
                  </a:tcPr>
                </a:tc>
                <a:extLst>
                  <a:ext uri="{0D108BD9-81ED-4DB2-BD59-A6C34878D82A}">
                    <a16:rowId xmlns:a16="http://schemas.microsoft.com/office/drawing/2014/main" val="646606341"/>
                  </a:ext>
                </a:extLst>
              </a:tr>
              <a:tr h="0">
                <a:tc>
                  <a:txBody>
                    <a:bodyPr/>
                    <a:lstStyle/>
                    <a:p>
                      <a:pPr>
                        <a:buNone/>
                      </a:pPr>
                      <a:r>
                        <a:rPr lang="en-US"/>
                        <a:t>Order – OrderItem</a:t>
                      </a:r>
                    </a:p>
                  </a:txBody>
                  <a:tcPr anchor="ctr">
                    <a:lnL>
                      <a:noFill/>
                    </a:lnL>
                    <a:lnR>
                      <a:noFill/>
                    </a:lnR>
                    <a:lnT>
                      <a:noFill/>
                    </a:lnT>
                    <a:lnB>
                      <a:noFill/>
                    </a:lnB>
                    <a:noFill/>
                  </a:tcPr>
                </a:tc>
                <a:tc>
                  <a:txBody>
                    <a:bodyPr/>
                    <a:lstStyle/>
                    <a:p>
                      <a:pPr>
                        <a:buNone/>
                      </a:pPr>
                      <a:r>
                        <a:rPr lang="en-US" dirty="0"/>
                        <a:t>Composition</a:t>
                      </a:r>
                    </a:p>
                  </a:txBody>
                  <a:tcPr anchor="ctr">
                    <a:lnL>
                      <a:noFill/>
                    </a:lnL>
                    <a:lnR>
                      <a:noFill/>
                    </a:lnR>
                    <a:lnT>
                      <a:noFill/>
                    </a:lnT>
                    <a:lnB>
                      <a:noFill/>
                    </a:lnB>
                    <a:noFill/>
                  </a:tcPr>
                </a:tc>
                <a:extLst>
                  <a:ext uri="{0D108BD9-81ED-4DB2-BD59-A6C34878D82A}">
                    <a16:rowId xmlns:a16="http://schemas.microsoft.com/office/drawing/2014/main" val="1151421212"/>
                  </a:ext>
                </a:extLst>
              </a:tr>
            </a:tbl>
          </a:graphicData>
        </a:graphic>
      </p:graphicFrame>
    </p:spTree>
    <p:extLst>
      <p:ext uri="{BB962C8B-B14F-4D97-AF65-F5344CB8AC3E}">
        <p14:creationId xmlns:p14="http://schemas.microsoft.com/office/powerpoint/2010/main" val="366451693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ADB89-EBB5-55F3-F53B-E83336B58F24}"/>
              </a:ext>
            </a:extLst>
          </p:cNvPr>
          <p:cNvSpPr>
            <a:spLocks noGrp="1"/>
          </p:cNvSpPr>
          <p:nvPr>
            <p:ph type="title"/>
          </p:nvPr>
        </p:nvSpPr>
        <p:spPr/>
        <p:txBody>
          <a:bodyPr/>
          <a:lstStyle/>
          <a:p>
            <a:r>
              <a:rPr lang="en-US" dirty="0"/>
              <a:t>4. Generalization — "Is-a" Relationship</a:t>
            </a:r>
          </a:p>
        </p:txBody>
      </p:sp>
      <p:sp>
        <p:nvSpPr>
          <p:cNvPr id="3" name="Content Placeholder 2">
            <a:extLst>
              <a:ext uri="{FF2B5EF4-FFF2-40B4-BE49-F238E27FC236}">
                <a16:creationId xmlns:a16="http://schemas.microsoft.com/office/drawing/2014/main" id="{CA98001E-1F83-E667-674D-E93F871FB21B}"/>
              </a:ext>
            </a:extLst>
          </p:cNvPr>
          <p:cNvSpPr>
            <a:spLocks noGrp="1"/>
          </p:cNvSpPr>
          <p:nvPr>
            <p:ph idx="1"/>
          </p:nvPr>
        </p:nvSpPr>
        <p:spPr>
          <a:xfrm>
            <a:off x="1069848" y="2121407"/>
            <a:ext cx="10058400" cy="4418381"/>
          </a:xfrm>
        </p:spPr>
        <p:txBody>
          <a:bodyPr>
            <a:normAutofit fontScale="70000" lnSpcReduction="20000"/>
          </a:bodyPr>
          <a:lstStyle/>
          <a:p>
            <a:r>
              <a:rPr lang="en-US" dirty="0"/>
              <a:t>Generalization is another name for </a:t>
            </a:r>
            <a:r>
              <a:rPr lang="en-US" b="1" dirty="0"/>
              <a:t>Inheritance</a:t>
            </a:r>
            <a:r>
              <a:rPr lang="en-US" dirty="0"/>
              <a:t>.</a:t>
            </a:r>
          </a:p>
          <a:p>
            <a:r>
              <a:rPr lang="en-US" b="1" dirty="0"/>
              <a:t>Definition</a:t>
            </a:r>
          </a:p>
          <a:p>
            <a:r>
              <a:rPr lang="en-US" dirty="0"/>
              <a:t>A specialized class inherits from a more general class.</a:t>
            </a:r>
          </a:p>
          <a:p>
            <a:r>
              <a:rPr lang="en-US" b="1" dirty="0"/>
              <a:t>Car is a Vehicle</a:t>
            </a:r>
          </a:p>
          <a:p>
            <a:r>
              <a:rPr lang="en-US" dirty="0"/>
              <a:t>Vehicle</a:t>
            </a:r>
            <a:br>
              <a:rPr lang="en-US" dirty="0"/>
            </a:br>
            <a:r>
              <a:rPr lang="en-US" dirty="0"/>
              <a:t>   ↑</a:t>
            </a:r>
            <a:br>
              <a:rPr lang="en-US" dirty="0"/>
            </a:br>
            <a:r>
              <a:rPr lang="en-US" dirty="0"/>
              <a:t>  Car</a:t>
            </a:r>
          </a:p>
          <a:p>
            <a:r>
              <a:rPr lang="en-US" b="1" dirty="0"/>
              <a:t>Why Use Generalization?</a:t>
            </a:r>
          </a:p>
          <a:p>
            <a:r>
              <a:rPr lang="en-US" b="1" dirty="0"/>
              <a:t>1. Code Reuse</a:t>
            </a:r>
          </a:p>
          <a:p>
            <a:r>
              <a:rPr lang="en-US" dirty="0"/>
              <a:t>Write common features once.</a:t>
            </a:r>
          </a:p>
          <a:p>
            <a:r>
              <a:rPr lang="en-US" b="1" dirty="0"/>
              <a:t>2. Hierarchy</a:t>
            </a:r>
          </a:p>
          <a:p>
            <a:r>
              <a:rPr lang="en-US" dirty="0"/>
              <a:t>Organize related classes.</a:t>
            </a:r>
          </a:p>
          <a:p>
            <a:r>
              <a:rPr lang="en-US" b="1" dirty="0"/>
              <a:t>3. Polymorphism</a:t>
            </a:r>
          </a:p>
          <a:p>
            <a:r>
              <a:rPr lang="en-US" dirty="0"/>
              <a:t>Enables runtime polymorphism using virtual functions.</a:t>
            </a:r>
          </a:p>
          <a:p>
            <a:r>
              <a:rPr lang="en-US" dirty="0"/>
              <a:t>Generalization is an Is-a relationship in which a derived class inherits properties and behaviors from a base class.</a:t>
            </a:r>
          </a:p>
          <a:p>
            <a:endParaRPr lang="en-US" dirty="0"/>
          </a:p>
        </p:txBody>
      </p:sp>
    </p:spTree>
    <p:extLst>
      <p:ext uri="{BB962C8B-B14F-4D97-AF65-F5344CB8AC3E}">
        <p14:creationId xmlns:p14="http://schemas.microsoft.com/office/powerpoint/2010/main" val="300370357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AEC8D58B-A9C4-0A33-CD8B-09CC397E91A2}"/>
              </a:ext>
            </a:extLst>
          </p:cNvPr>
          <p:cNvGraphicFramePr>
            <a:graphicFrameLocks noGrp="1"/>
          </p:cNvGraphicFramePr>
          <p:nvPr>
            <p:extLst>
              <p:ext uri="{D42A27DB-BD31-4B8C-83A1-F6EECF244321}">
                <p14:modId xmlns:p14="http://schemas.microsoft.com/office/powerpoint/2010/main" val="1563409897"/>
              </p:ext>
            </p:extLst>
          </p:nvPr>
        </p:nvGraphicFramePr>
        <p:xfrm>
          <a:off x="887095" y="1063193"/>
          <a:ext cx="10058400" cy="3474720"/>
        </p:xfrm>
        <a:graphic>
          <a:graphicData uri="http://schemas.openxmlformats.org/drawingml/2006/table">
            <a:tbl>
              <a:tblPr/>
              <a:tblGrid>
                <a:gridCol w="2011680">
                  <a:extLst>
                    <a:ext uri="{9D8B030D-6E8A-4147-A177-3AD203B41FA5}">
                      <a16:colId xmlns:a16="http://schemas.microsoft.com/office/drawing/2014/main" val="1190083464"/>
                    </a:ext>
                  </a:extLst>
                </a:gridCol>
                <a:gridCol w="2011680">
                  <a:extLst>
                    <a:ext uri="{9D8B030D-6E8A-4147-A177-3AD203B41FA5}">
                      <a16:colId xmlns:a16="http://schemas.microsoft.com/office/drawing/2014/main" val="479645998"/>
                    </a:ext>
                  </a:extLst>
                </a:gridCol>
                <a:gridCol w="2011680">
                  <a:extLst>
                    <a:ext uri="{9D8B030D-6E8A-4147-A177-3AD203B41FA5}">
                      <a16:colId xmlns:a16="http://schemas.microsoft.com/office/drawing/2014/main" val="2988939219"/>
                    </a:ext>
                  </a:extLst>
                </a:gridCol>
                <a:gridCol w="2011680">
                  <a:extLst>
                    <a:ext uri="{9D8B030D-6E8A-4147-A177-3AD203B41FA5}">
                      <a16:colId xmlns:a16="http://schemas.microsoft.com/office/drawing/2014/main" val="1958150659"/>
                    </a:ext>
                  </a:extLst>
                </a:gridCol>
                <a:gridCol w="2011680">
                  <a:extLst>
                    <a:ext uri="{9D8B030D-6E8A-4147-A177-3AD203B41FA5}">
                      <a16:colId xmlns:a16="http://schemas.microsoft.com/office/drawing/2014/main" val="1834890907"/>
                    </a:ext>
                  </a:extLst>
                </a:gridCol>
              </a:tblGrid>
              <a:tr h="0">
                <a:tc>
                  <a:txBody>
                    <a:bodyPr/>
                    <a:lstStyle/>
                    <a:p>
                      <a:pPr>
                        <a:buNone/>
                      </a:pPr>
                      <a:r>
                        <a:rPr lang="en-US"/>
                        <a:t>Feature</a:t>
                      </a:r>
                    </a:p>
                  </a:txBody>
                  <a:tcPr anchor="ctr">
                    <a:lnL>
                      <a:noFill/>
                    </a:lnL>
                    <a:lnR>
                      <a:noFill/>
                    </a:lnR>
                    <a:lnT>
                      <a:noFill/>
                    </a:lnT>
                    <a:lnB>
                      <a:noFill/>
                    </a:lnB>
                    <a:noFill/>
                  </a:tcPr>
                </a:tc>
                <a:tc>
                  <a:txBody>
                    <a:bodyPr/>
                    <a:lstStyle/>
                    <a:p>
                      <a:pPr>
                        <a:buNone/>
                      </a:pPr>
                      <a:r>
                        <a:rPr lang="en-US"/>
                        <a:t>Association</a:t>
                      </a:r>
                    </a:p>
                  </a:txBody>
                  <a:tcPr anchor="ctr">
                    <a:lnL>
                      <a:noFill/>
                    </a:lnL>
                    <a:lnR>
                      <a:noFill/>
                    </a:lnR>
                    <a:lnT>
                      <a:noFill/>
                    </a:lnT>
                    <a:lnB>
                      <a:noFill/>
                    </a:lnB>
                    <a:noFill/>
                  </a:tcPr>
                </a:tc>
                <a:tc>
                  <a:txBody>
                    <a:bodyPr/>
                    <a:lstStyle/>
                    <a:p>
                      <a:pPr>
                        <a:buNone/>
                      </a:pPr>
                      <a:r>
                        <a:rPr lang="en-US"/>
                        <a:t>Aggregation</a:t>
                      </a:r>
                    </a:p>
                  </a:txBody>
                  <a:tcPr anchor="ctr">
                    <a:lnL>
                      <a:noFill/>
                    </a:lnL>
                    <a:lnR>
                      <a:noFill/>
                    </a:lnR>
                    <a:lnT>
                      <a:noFill/>
                    </a:lnT>
                    <a:lnB>
                      <a:noFill/>
                    </a:lnB>
                    <a:noFill/>
                  </a:tcPr>
                </a:tc>
                <a:tc>
                  <a:txBody>
                    <a:bodyPr/>
                    <a:lstStyle/>
                    <a:p>
                      <a:pPr>
                        <a:buNone/>
                      </a:pPr>
                      <a:r>
                        <a:rPr lang="en-US"/>
                        <a:t>Composition</a:t>
                      </a:r>
                    </a:p>
                  </a:txBody>
                  <a:tcPr anchor="ctr">
                    <a:lnL>
                      <a:noFill/>
                    </a:lnL>
                    <a:lnR>
                      <a:noFill/>
                    </a:lnR>
                    <a:lnT>
                      <a:noFill/>
                    </a:lnT>
                    <a:lnB>
                      <a:noFill/>
                    </a:lnB>
                    <a:noFill/>
                  </a:tcPr>
                </a:tc>
                <a:tc>
                  <a:txBody>
                    <a:bodyPr/>
                    <a:lstStyle/>
                    <a:p>
                      <a:pPr>
                        <a:buNone/>
                      </a:pPr>
                      <a:r>
                        <a:rPr lang="en-US"/>
                        <a:t>Generalization</a:t>
                      </a:r>
                    </a:p>
                  </a:txBody>
                  <a:tcPr anchor="ctr">
                    <a:lnL>
                      <a:noFill/>
                    </a:lnL>
                    <a:lnR>
                      <a:noFill/>
                    </a:lnR>
                    <a:lnT>
                      <a:noFill/>
                    </a:lnT>
                    <a:lnB>
                      <a:noFill/>
                    </a:lnB>
                    <a:noFill/>
                  </a:tcPr>
                </a:tc>
                <a:extLst>
                  <a:ext uri="{0D108BD9-81ED-4DB2-BD59-A6C34878D82A}">
                    <a16:rowId xmlns:a16="http://schemas.microsoft.com/office/drawing/2014/main" val="3006171377"/>
                  </a:ext>
                </a:extLst>
              </a:tr>
              <a:tr h="0">
                <a:tc>
                  <a:txBody>
                    <a:bodyPr/>
                    <a:lstStyle/>
                    <a:p>
                      <a:pPr>
                        <a:buNone/>
                      </a:pPr>
                      <a:r>
                        <a:rPr lang="en-US"/>
                        <a:t>Keyword</a:t>
                      </a:r>
                    </a:p>
                  </a:txBody>
                  <a:tcPr anchor="ctr">
                    <a:lnL>
                      <a:noFill/>
                    </a:lnL>
                    <a:lnR>
                      <a:noFill/>
                    </a:lnR>
                    <a:lnT>
                      <a:noFill/>
                    </a:lnT>
                    <a:lnB>
                      <a:noFill/>
                    </a:lnB>
                    <a:noFill/>
                  </a:tcPr>
                </a:tc>
                <a:tc>
                  <a:txBody>
                    <a:bodyPr/>
                    <a:lstStyle/>
                    <a:p>
                      <a:pPr>
                        <a:buNone/>
                      </a:pPr>
                      <a:r>
                        <a:rPr lang="en-US"/>
                        <a:t>Knows-a</a:t>
                      </a:r>
                    </a:p>
                  </a:txBody>
                  <a:tcPr anchor="ctr">
                    <a:lnL>
                      <a:noFill/>
                    </a:lnL>
                    <a:lnR>
                      <a:noFill/>
                    </a:lnR>
                    <a:lnT>
                      <a:noFill/>
                    </a:lnT>
                    <a:lnB>
                      <a:noFill/>
                    </a:lnB>
                    <a:noFill/>
                  </a:tcPr>
                </a:tc>
                <a:tc>
                  <a:txBody>
                    <a:bodyPr/>
                    <a:lstStyle/>
                    <a:p>
                      <a:pPr>
                        <a:buNone/>
                      </a:pPr>
                      <a:r>
                        <a:rPr lang="en-US"/>
                        <a:t>Has-a (Weak)</a:t>
                      </a:r>
                    </a:p>
                  </a:txBody>
                  <a:tcPr anchor="ctr">
                    <a:lnL>
                      <a:noFill/>
                    </a:lnL>
                    <a:lnR>
                      <a:noFill/>
                    </a:lnR>
                    <a:lnT>
                      <a:noFill/>
                    </a:lnT>
                    <a:lnB>
                      <a:noFill/>
                    </a:lnB>
                    <a:noFill/>
                  </a:tcPr>
                </a:tc>
                <a:tc>
                  <a:txBody>
                    <a:bodyPr/>
                    <a:lstStyle/>
                    <a:p>
                      <a:pPr>
                        <a:buNone/>
                      </a:pPr>
                      <a:r>
                        <a:rPr lang="en-US"/>
                        <a:t>Has-a (Strong)</a:t>
                      </a:r>
                    </a:p>
                  </a:txBody>
                  <a:tcPr anchor="ctr">
                    <a:lnL>
                      <a:noFill/>
                    </a:lnL>
                    <a:lnR>
                      <a:noFill/>
                    </a:lnR>
                    <a:lnT>
                      <a:noFill/>
                    </a:lnT>
                    <a:lnB>
                      <a:noFill/>
                    </a:lnB>
                    <a:noFill/>
                  </a:tcPr>
                </a:tc>
                <a:tc>
                  <a:txBody>
                    <a:bodyPr/>
                    <a:lstStyle/>
                    <a:p>
                      <a:pPr>
                        <a:buNone/>
                      </a:pPr>
                      <a:r>
                        <a:rPr lang="en-US"/>
                        <a:t>Is-a</a:t>
                      </a:r>
                    </a:p>
                  </a:txBody>
                  <a:tcPr anchor="ctr">
                    <a:lnL>
                      <a:noFill/>
                    </a:lnL>
                    <a:lnR>
                      <a:noFill/>
                    </a:lnR>
                    <a:lnT>
                      <a:noFill/>
                    </a:lnT>
                    <a:lnB>
                      <a:noFill/>
                    </a:lnB>
                    <a:noFill/>
                  </a:tcPr>
                </a:tc>
                <a:extLst>
                  <a:ext uri="{0D108BD9-81ED-4DB2-BD59-A6C34878D82A}">
                    <a16:rowId xmlns:a16="http://schemas.microsoft.com/office/drawing/2014/main" val="2861551679"/>
                  </a:ext>
                </a:extLst>
              </a:tr>
              <a:tr h="0">
                <a:tc>
                  <a:txBody>
                    <a:bodyPr/>
                    <a:lstStyle/>
                    <a:p>
                      <a:pPr>
                        <a:buNone/>
                      </a:pPr>
                      <a:r>
                        <a:rPr lang="en-US"/>
                        <a:t>Ownership</a:t>
                      </a:r>
                    </a:p>
                  </a:txBody>
                  <a:tcPr anchor="ctr">
                    <a:lnL>
                      <a:noFill/>
                    </a:lnL>
                    <a:lnR>
                      <a:noFill/>
                    </a:lnR>
                    <a:lnT>
                      <a:noFill/>
                    </a:lnT>
                    <a:lnB>
                      <a:noFill/>
                    </a:lnB>
                    <a:noFill/>
                  </a:tcPr>
                </a:tc>
                <a:tc>
                  <a:txBody>
                    <a:bodyPr/>
                    <a:lstStyle/>
                    <a:p>
                      <a:pPr>
                        <a:buNone/>
                      </a:pPr>
                      <a:r>
                        <a:rPr lang="en-US"/>
                        <a:t>None</a:t>
                      </a:r>
                    </a:p>
                  </a:txBody>
                  <a:tcPr anchor="ctr">
                    <a:lnL>
                      <a:noFill/>
                    </a:lnL>
                    <a:lnR>
                      <a:noFill/>
                    </a:lnR>
                    <a:lnT>
                      <a:noFill/>
                    </a:lnT>
                    <a:lnB>
                      <a:noFill/>
                    </a:lnB>
                    <a:noFill/>
                  </a:tcPr>
                </a:tc>
                <a:tc>
                  <a:txBody>
                    <a:bodyPr/>
                    <a:lstStyle/>
                    <a:p>
                      <a:pPr>
                        <a:buNone/>
                      </a:pPr>
                      <a:r>
                        <a:rPr lang="en-US"/>
                        <a:t>Partial</a:t>
                      </a:r>
                    </a:p>
                  </a:txBody>
                  <a:tcPr anchor="ctr">
                    <a:lnL>
                      <a:noFill/>
                    </a:lnL>
                    <a:lnR>
                      <a:noFill/>
                    </a:lnR>
                    <a:lnT>
                      <a:noFill/>
                    </a:lnT>
                    <a:lnB>
                      <a:noFill/>
                    </a:lnB>
                    <a:noFill/>
                  </a:tcPr>
                </a:tc>
                <a:tc>
                  <a:txBody>
                    <a:bodyPr/>
                    <a:lstStyle/>
                    <a:p>
                      <a:pPr>
                        <a:buNone/>
                      </a:pPr>
                      <a:r>
                        <a:rPr lang="en-US"/>
                        <a:t>Full</a:t>
                      </a:r>
                    </a:p>
                  </a:txBody>
                  <a:tcPr anchor="ctr">
                    <a:lnL>
                      <a:noFill/>
                    </a:lnL>
                    <a:lnR>
                      <a:noFill/>
                    </a:lnR>
                    <a:lnT>
                      <a:noFill/>
                    </a:lnT>
                    <a:lnB>
                      <a:noFill/>
                    </a:lnB>
                    <a:noFill/>
                  </a:tcPr>
                </a:tc>
                <a:tc>
                  <a:txBody>
                    <a:bodyPr/>
                    <a:lstStyle/>
                    <a:p>
                      <a:pPr>
                        <a:buNone/>
                      </a:pPr>
                      <a:r>
                        <a:rPr lang="en-US"/>
                        <a:t>Inheritance</a:t>
                      </a:r>
                    </a:p>
                  </a:txBody>
                  <a:tcPr anchor="ctr">
                    <a:lnL>
                      <a:noFill/>
                    </a:lnL>
                    <a:lnR>
                      <a:noFill/>
                    </a:lnR>
                    <a:lnT>
                      <a:noFill/>
                    </a:lnT>
                    <a:lnB>
                      <a:noFill/>
                    </a:lnB>
                    <a:noFill/>
                  </a:tcPr>
                </a:tc>
                <a:extLst>
                  <a:ext uri="{0D108BD9-81ED-4DB2-BD59-A6C34878D82A}">
                    <a16:rowId xmlns:a16="http://schemas.microsoft.com/office/drawing/2014/main" val="2976948547"/>
                  </a:ext>
                </a:extLst>
              </a:tr>
              <a:tr h="0">
                <a:tc>
                  <a:txBody>
                    <a:bodyPr/>
                    <a:lstStyle/>
                    <a:p>
                      <a:pPr>
                        <a:buNone/>
                      </a:pPr>
                      <a:r>
                        <a:rPr lang="en-US"/>
                        <a:t>Lifecycle</a:t>
                      </a:r>
                    </a:p>
                  </a:txBody>
                  <a:tcPr anchor="ctr">
                    <a:lnL>
                      <a:noFill/>
                    </a:lnL>
                    <a:lnR>
                      <a:noFill/>
                    </a:lnR>
                    <a:lnT>
                      <a:noFill/>
                    </a:lnT>
                    <a:lnB>
                      <a:noFill/>
                    </a:lnB>
                    <a:noFill/>
                  </a:tcPr>
                </a:tc>
                <a:tc>
                  <a:txBody>
                    <a:bodyPr/>
                    <a:lstStyle/>
                    <a:p>
                      <a:pPr>
                        <a:buNone/>
                      </a:pPr>
                      <a:r>
                        <a:rPr lang="en-US"/>
                        <a:t>Independent</a:t>
                      </a:r>
                    </a:p>
                  </a:txBody>
                  <a:tcPr anchor="ctr">
                    <a:lnL>
                      <a:noFill/>
                    </a:lnL>
                    <a:lnR>
                      <a:noFill/>
                    </a:lnR>
                    <a:lnT>
                      <a:noFill/>
                    </a:lnT>
                    <a:lnB>
                      <a:noFill/>
                    </a:lnB>
                    <a:noFill/>
                  </a:tcPr>
                </a:tc>
                <a:tc>
                  <a:txBody>
                    <a:bodyPr/>
                    <a:lstStyle/>
                    <a:p>
                      <a:pPr>
                        <a:buNone/>
                      </a:pPr>
                      <a:r>
                        <a:rPr lang="en-US"/>
                        <a:t>Independent</a:t>
                      </a:r>
                    </a:p>
                  </a:txBody>
                  <a:tcPr anchor="ctr">
                    <a:lnL>
                      <a:noFill/>
                    </a:lnL>
                    <a:lnR>
                      <a:noFill/>
                    </a:lnR>
                    <a:lnT>
                      <a:noFill/>
                    </a:lnT>
                    <a:lnB>
                      <a:noFill/>
                    </a:lnB>
                    <a:noFill/>
                  </a:tcPr>
                </a:tc>
                <a:tc>
                  <a:txBody>
                    <a:bodyPr/>
                    <a:lstStyle/>
                    <a:p>
                      <a:pPr>
                        <a:buNone/>
                      </a:pPr>
                      <a:r>
                        <a:rPr lang="en-US"/>
                        <a:t>Dependent</a:t>
                      </a:r>
                    </a:p>
                  </a:txBody>
                  <a:tcPr anchor="ctr">
                    <a:lnL>
                      <a:noFill/>
                    </a:lnL>
                    <a:lnR>
                      <a:noFill/>
                    </a:lnR>
                    <a:lnT>
                      <a:noFill/>
                    </a:lnT>
                    <a:lnB>
                      <a:noFill/>
                    </a:lnB>
                    <a:noFill/>
                  </a:tcPr>
                </a:tc>
                <a:tc>
                  <a:txBody>
                    <a:bodyPr/>
                    <a:lstStyle/>
                    <a:p>
                      <a:pPr>
                        <a:buNone/>
                      </a:pPr>
                      <a:r>
                        <a:rPr lang="en-US"/>
                        <a:t>Shared through inheritance</a:t>
                      </a:r>
                    </a:p>
                  </a:txBody>
                  <a:tcPr anchor="ctr">
                    <a:lnL>
                      <a:noFill/>
                    </a:lnL>
                    <a:lnR>
                      <a:noFill/>
                    </a:lnR>
                    <a:lnT>
                      <a:noFill/>
                    </a:lnT>
                    <a:lnB>
                      <a:noFill/>
                    </a:lnB>
                    <a:noFill/>
                  </a:tcPr>
                </a:tc>
                <a:extLst>
                  <a:ext uri="{0D108BD9-81ED-4DB2-BD59-A6C34878D82A}">
                    <a16:rowId xmlns:a16="http://schemas.microsoft.com/office/drawing/2014/main" val="3956849841"/>
                  </a:ext>
                </a:extLst>
              </a:tr>
              <a:tr h="0">
                <a:tc>
                  <a:txBody>
                    <a:bodyPr/>
                    <a:lstStyle/>
                    <a:p>
                      <a:pPr>
                        <a:buNone/>
                      </a:pPr>
                      <a:r>
                        <a:rPr lang="en-US"/>
                        <a:t>Uses Pointer?</a:t>
                      </a:r>
                    </a:p>
                  </a:txBody>
                  <a:tcPr anchor="ctr">
                    <a:lnL>
                      <a:noFill/>
                    </a:lnL>
                    <a:lnR>
                      <a:noFill/>
                    </a:lnR>
                    <a:lnT>
                      <a:noFill/>
                    </a:lnT>
                    <a:lnB>
                      <a:noFill/>
                    </a:lnB>
                    <a:noFill/>
                  </a:tcPr>
                </a:tc>
                <a:tc>
                  <a:txBody>
                    <a:bodyPr/>
                    <a:lstStyle/>
                    <a:p>
                      <a:pPr>
                        <a:buNone/>
                      </a:pPr>
                      <a:r>
                        <a:rPr lang="en-US"/>
                        <a:t>Usually Yes</a:t>
                      </a:r>
                    </a:p>
                  </a:txBody>
                  <a:tcPr anchor="ctr">
                    <a:lnL>
                      <a:noFill/>
                    </a:lnL>
                    <a:lnR>
                      <a:noFill/>
                    </a:lnR>
                    <a:lnT>
                      <a:noFill/>
                    </a:lnT>
                    <a:lnB>
                      <a:noFill/>
                    </a:lnB>
                    <a:noFill/>
                  </a:tcPr>
                </a:tc>
                <a:tc>
                  <a:txBody>
                    <a:bodyPr/>
                    <a:lstStyle/>
                    <a:p>
                      <a:pPr>
                        <a:buNone/>
                      </a:pPr>
                      <a:r>
                        <a:rPr lang="en-US"/>
                        <a:t>Usually Yes</a:t>
                      </a:r>
                    </a:p>
                  </a:txBody>
                  <a:tcPr anchor="ctr">
                    <a:lnL>
                      <a:noFill/>
                    </a:lnL>
                    <a:lnR>
                      <a:noFill/>
                    </a:lnR>
                    <a:lnT>
                      <a:noFill/>
                    </a:lnT>
                    <a:lnB>
                      <a:noFill/>
                    </a:lnB>
                    <a:noFill/>
                  </a:tcPr>
                </a:tc>
                <a:tc>
                  <a:txBody>
                    <a:bodyPr/>
                    <a:lstStyle/>
                    <a:p>
                      <a:pPr>
                        <a:buNone/>
                      </a:pPr>
                      <a:r>
                        <a:rPr lang="en-US"/>
                        <a:t>Usually No</a:t>
                      </a:r>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extLst>
                  <a:ext uri="{0D108BD9-81ED-4DB2-BD59-A6C34878D82A}">
                    <a16:rowId xmlns:a16="http://schemas.microsoft.com/office/drawing/2014/main" val="4126376425"/>
                  </a:ext>
                </a:extLst>
              </a:tr>
              <a:tr h="0">
                <a:tc>
                  <a:txBody>
                    <a:bodyPr/>
                    <a:lstStyle/>
                    <a:p>
                      <a:pPr>
                        <a:buNone/>
                      </a:pPr>
                      <a:r>
                        <a:rPr lang="en-US"/>
                        <a:t>Creates Part?</a:t>
                      </a:r>
                    </a:p>
                  </a:txBody>
                  <a:tcPr anchor="ctr">
                    <a:lnL>
                      <a:noFill/>
                    </a:lnL>
                    <a:lnR>
                      <a:noFill/>
                    </a:lnR>
                    <a:lnT>
                      <a:noFill/>
                    </a:lnT>
                    <a:lnB>
                      <a:noFill/>
                    </a:lnB>
                    <a:noFill/>
                  </a:tcPr>
                </a:tc>
                <a:tc>
                  <a:txBody>
                    <a:bodyPr/>
                    <a:lstStyle/>
                    <a:p>
                      <a:pPr>
                        <a:buNone/>
                      </a:pPr>
                      <a:r>
                        <a:rPr lang="en-US"/>
                        <a:t>No</a:t>
                      </a:r>
                    </a:p>
                  </a:txBody>
                  <a:tcPr anchor="ctr">
                    <a:lnL>
                      <a:noFill/>
                    </a:lnL>
                    <a:lnR>
                      <a:noFill/>
                    </a:lnR>
                    <a:lnT>
                      <a:noFill/>
                    </a:lnT>
                    <a:lnB>
                      <a:noFill/>
                    </a:lnB>
                    <a:noFill/>
                  </a:tcPr>
                </a:tc>
                <a:tc>
                  <a:txBody>
                    <a:bodyPr/>
                    <a:lstStyle/>
                    <a:p>
                      <a:pPr>
                        <a:buNone/>
                      </a:pPr>
                      <a:r>
                        <a:rPr lang="en-US"/>
                        <a:t>No</a:t>
                      </a:r>
                    </a:p>
                  </a:txBody>
                  <a:tcPr anchor="ctr">
                    <a:lnL>
                      <a:noFill/>
                    </a:lnL>
                    <a:lnR>
                      <a:noFill/>
                    </a:lnR>
                    <a:lnT>
                      <a:noFill/>
                    </a:lnT>
                    <a:lnB>
                      <a:noFill/>
                    </a:lnB>
                    <a:noFill/>
                  </a:tcPr>
                </a:tc>
                <a:tc>
                  <a:txBody>
                    <a:bodyPr/>
                    <a:lstStyle/>
                    <a:p>
                      <a:pPr>
                        <a:buNone/>
                      </a:pPr>
                      <a:r>
                        <a:rPr lang="en-US"/>
                        <a:t>Yes</a:t>
                      </a:r>
                    </a:p>
                  </a:txBody>
                  <a:tcPr anchor="ctr">
                    <a:lnL>
                      <a:noFill/>
                    </a:lnL>
                    <a:lnR>
                      <a:noFill/>
                    </a:lnR>
                    <a:lnT>
                      <a:noFill/>
                    </a:lnT>
                    <a:lnB>
                      <a:noFill/>
                    </a:lnB>
                    <a:noFill/>
                  </a:tcPr>
                </a:tc>
                <a:tc>
                  <a:txBody>
                    <a:bodyPr/>
                    <a:lstStyle/>
                    <a:p>
                      <a:pPr>
                        <a:buNone/>
                      </a:pPr>
                      <a:r>
                        <a:rPr lang="en-US"/>
                        <a:t>N/A</a:t>
                      </a:r>
                    </a:p>
                  </a:txBody>
                  <a:tcPr anchor="ctr">
                    <a:lnL>
                      <a:noFill/>
                    </a:lnL>
                    <a:lnR>
                      <a:noFill/>
                    </a:lnR>
                    <a:lnT>
                      <a:noFill/>
                    </a:lnT>
                    <a:lnB>
                      <a:noFill/>
                    </a:lnB>
                    <a:noFill/>
                  </a:tcPr>
                </a:tc>
                <a:extLst>
                  <a:ext uri="{0D108BD9-81ED-4DB2-BD59-A6C34878D82A}">
                    <a16:rowId xmlns:a16="http://schemas.microsoft.com/office/drawing/2014/main" val="580686462"/>
                  </a:ext>
                </a:extLst>
              </a:tr>
              <a:tr h="0">
                <a:tc>
                  <a:txBody>
                    <a:bodyPr/>
                    <a:lstStyle/>
                    <a:p>
                      <a:pPr>
                        <a:buNone/>
                      </a:pPr>
                      <a:r>
                        <a:rPr lang="en-US"/>
                        <a:t>Destroys Part?</a:t>
                      </a:r>
                    </a:p>
                  </a:txBody>
                  <a:tcPr anchor="ctr">
                    <a:lnL>
                      <a:noFill/>
                    </a:lnL>
                    <a:lnR>
                      <a:noFill/>
                    </a:lnR>
                    <a:lnT>
                      <a:noFill/>
                    </a:lnT>
                    <a:lnB>
                      <a:noFill/>
                    </a:lnB>
                    <a:noFill/>
                  </a:tcPr>
                </a:tc>
                <a:tc>
                  <a:txBody>
                    <a:bodyPr/>
                    <a:lstStyle/>
                    <a:p>
                      <a:pPr>
                        <a:buNone/>
                      </a:pPr>
                      <a:r>
                        <a:rPr lang="en-US"/>
                        <a:t>No</a:t>
                      </a:r>
                    </a:p>
                  </a:txBody>
                  <a:tcPr anchor="ctr">
                    <a:lnL>
                      <a:noFill/>
                    </a:lnL>
                    <a:lnR>
                      <a:noFill/>
                    </a:lnR>
                    <a:lnT>
                      <a:noFill/>
                    </a:lnT>
                    <a:lnB>
                      <a:noFill/>
                    </a:lnB>
                    <a:noFill/>
                  </a:tcPr>
                </a:tc>
                <a:tc>
                  <a:txBody>
                    <a:bodyPr/>
                    <a:lstStyle/>
                    <a:p>
                      <a:pPr>
                        <a:buNone/>
                      </a:pPr>
                      <a:r>
                        <a:rPr lang="en-US"/>
                        <a:t>No</a:t>
                      </a:r>
                    </a:p>
                  </a:txBody>
                  <a:tcPr anchor="ctr">
                    <a:lnL>
                      <a:noFill/>
                    </a:lnL>
                    <a:lnR>
                      <a:noFill/>
                    </a:lnR>
                    <a:lnT>
                      <a:noFill/>
                    </a:lnT>
                    <a:lnB>
                      <a:noFill/>
                    </a:lnB>
                    <a:noFill/>
                  </a:tcPr>
                </a:tc>
                <a:tc>
                  <a:txBody>
                    <a:bodyPr/>
                    <a:lstStyle/>
                    <a:p>
                      <a:pPr>
                        <a:buNone/>
                      </a:pPr>
                      <a:r>
                        <a:rPr lang="en-US"/>
                        <a:t>Yes</a:t>
                      </a:r>
                    </a:p>
                  </a:txBody>
                  <a:tcPr anchor="ctr">
                    <a:lnL>
                      <a:noFill/>
                    </a:lnL>
                    <a:lnR>
                      <a:noFill/>
                    </a:lnR>
                    <a:lnT>
                      <a:noFill/>
                    </a:lnT>
                    <a:lnB>
                      <a:noFill/>
                    </a:lnB>
                    <a:noFill/>
                  </a:tcPr>
                </a:tc>
                <a:tc>
                  <a:txBody>
                    <a:bodyPr/>
                    <a:lstStyle/>
                    <a:p>
                      <a:pPr>
                        <a:buNone/>
                      </a:pPr>
                      <a:r>
                        <a:rPr lang="en-US"/>
                        <a:t>N/A</a:t>
                      </a:r>
                    </a:p>
                  </a:txBody>
                  <a:tcPr anchor="ctr">
                    <a:lnL>
                      <a:noFill/>
                    </a:lnL>
                    <a:lnR>
                      <a:noFill/>
                    </a:lnR>
                    <a:lnT>
                      <a:noFill/>
                    </a:lnT>
                    <a:lnB>
                      <a:noFill/>
                    </a:lnB>
                    <a:noFill/>
                  </a:tcPr>
                </a:tc>
                <a:extLst>
                  <a:ext uri="{0D108BD9-81ED-4DB2-BD59-A6C34878D82A}">
                    <a16:rowId xmlns:a16="http://schemas.microsoft.com/office/drawing/2014/main" val="969303119"/>
                  </a:ext>
                </a:extLst>
              </a:tr>
              <a:tr h="0">
                <a:tc>
                  <a:txBody>
                    <a:bodyPr/>
                    <a:lstStyle/>
                    <a:p>
                      <a:pPr>
                        <a:buNone/>
                      </a:pPr>
                      <a:r>
                        <a:rPr lang="en-US"/>
                        <a:t>Example</a:t>
                      </a:r>
                    </a:p>
                  </a:txBody>
                  <a:tcPr anchor="ctr">
                    <a:lnL>
                      <a:noFill/>
                    </a:lnL>
                    <a:lnR>
                      <a:noFill/>
                    </a:lnR>
                    <a:lnT>
                      <a:noFill/>
                    </a:lnT>
                    <a:lnB>
                      <a:noFill/>
                    </a:lnB>
                    <a:noFill/>
                  </a:tcPr>
                </a:tc>
                <a:tc>
                  <a:txBody>
                    <a:bodyPr/>
                    <a:lstStyle/>
                    <a:p>
                      <a:pPr>
                        <a:buNone/>
                      </a:pPr>
                      <a:r>
                        <a:rPr lang="en-US"/>
                        <a:t>Doctor-Patient</a:t>
                      </a:r>
                    </a:p>
                  </a:txBody>
                  <a:tcPr anchor="ctr">
                    <a:lnL>
                      <a:noFill/>
                    </a:lnL>
                    <a:lnR>
                      <a:noFill/>
                    </a:lnR>
                    <a:lnT>
                      <a:noFill/>
                    </a:lnT>
                    <a:lnB>
                      <a:noFill/>
                    </a:lnB>
                    <a:noFill/>
                  </a:tcPr>
                </a:tc>
                <a:tc>
                  <a:txBody>
                    <a:bodyPr/>
                    <a:lstStyle/>
                    <a:p>
                      <a:pPr>
                        <a:buNone/>
                      </a:pPr>
                      <a:r>
                        <a:rPr lang="en-US"/>
                        <a:t>Department-Professor</a:t>
                      </a:r>
                    </a:p>
                  </a:txBody>
                  <a:tcPr anchor="ctr">
                    <a:lnL>
                      <a:noFill/>
                    </a:lnL>
                    <a:lnR>
                      <a:noFill/>
                    </a:lnR>
                    <a:lnT>
                      <a:noFill/>
                    </a:lnT>
                    <a:lnB>
                      <a:noFill/>
                    </a:lnB>
                    <a:noFill/>
                  </a:tcPr>
                </a:tc>
                <a:tc>
                  <a:txBody>
                    <a:bodyPr/>
                    <a:lstStyle/>
                    <a:p>
                      <a:pPr>
                        <a:buNone/>
                      </a:pPr>
                      <a:r>
                        <a:rPr lang="en-US"/>
                        <a:t>House-Room</a:t>
                      </a:r>
                    </a:p>
                  </a:txBody>
                  <a:tcPr anchor="ctr">
                    <a:lnL>
                      <a:noFill/>
                    </a:lnL>
                    <a:lnR>
                      <a:noFill/>
                    </a:lnR>
                    <a:lnT>
                      <a:noFill/>
                    </a:lnT>
                    <a:lnB>
                      <a:noFill/>
                    </a:lnB>
                    <a:noFill/>
                  </a:tcPr>
                </a:tc>
                <a:tc>
                  <a:txBody>
                    <a:bodyPr/>
                    <a:lstStyle/>
                    <a:p>
                      <a:pPr>
                        <a:buNone/>
                      </a:pPr>
                      <a:r>
                        <a:rPr lang="en-US" dirty="0"/>
                        <a:t>Car-Vehicle</a:t>
                      </a:r>
                    </a:p>
                  </a:txBody>
                  <a:tcPr anchor="ctr">
                    <a:lnL>
                      <a:noFill/>
                    </a:lnL>
                    <a:lnR>
                      <a:noFill/>
                    </a:lnR>
                    <a:lnT>
                      <a:noFill/>
                    </a:lnT>
                    <a:lnB>
                      <a:noFill/>
                    </a:lnB>
                    <a:noFill/>
                  </a:tcPr>
                </a:tc>
                <a:extLst>
                  <a:ext uri="{0D108BD9-81ED-4DB2-BD59-A6C34878D82A}">
                    <a16:rowId xmlns:a16="http://schemas.microsoft.com/office/drawing/2014/main" val="1317678364"/>
                  </a:ext>
                </a:extLst>
              </a:tr>
            </a:tbl>
          </a:graphicData>
        </a:graphic>
      </p:graphicFrame>
    </p:spTree>
    <p:extLst>
      <p:ext uri="{BB962C8B-B14F-4D97-AF65-F5344CB8AC3E}">
        <p14:creationId xmlns:p14="http://schemas.microsoft.com/office/powerpoint/2010/main" val="218819121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9C04C8E-0E87-5ED7-8581-A86E14F0AB3D}"/>
              </a:ext>
            </a:extLst>
          </p:cNvPr>
          <p:cNvSpPr txBox="1"/>
          <p:nvPr/>
        </p:nvSpPr>
        <p:spPr>
          <a:xfrm>
            <a:off x="885139" y="1861169"/>
            <a:ext cx="8260689" cy="3139321"/>
          </a:xfrm>
          <a:prstGeom prst="rect">
            <a:avLst/>
          </a:prstGeom>
          <a:noFill/>
        </p:spPr>
        <p:txBody>
          <a:bodyPr wrap="square">
            <a:spAutoFit/>
          </a:bodyPr>
          <a:lstStyle/>
          <a:p>
            <a:pPr>
              <a:buNone/>
            </a:pPr>
            <a:r>
              <a:rPr lang="en-US" dirty="0"/>
              <a:t>Increasing ownership:</a:t>
            </a:r>
          </a:p>
          <a:p>
            <a:pPr>
              <a:buFont typeface="Arial" panose="020B0604020202020204" pitchFamily="34" charset="0"/>
              <a:buChar char="•"/>
            </a:pPr>
            <a:r>
              <a:rPr lang="en-US" dirty="0"/>
              <a:t>Association → only knows </a:t>
            </a:r>
          </a:p>
          <a:p>
            <a:pPr>
              <a:buFont typeface="Arial" panose="020B0604020202020204" pitchFamily="34" charset="0"/>
              <a:buChar char="•"/>
            </a:pPr>
            <a:r>
              <a:rPr lang="en-US" dirty="0"/>
              <a:t>Aggregation → has but doesn't own </a:t>
            </a:r>
          </a:p>
          <a:p>
            <a:pPr>
              <a:buFont typeface="Arial" panose="020B0604020202020204" pitchFamily="34" charset="0"/>
              <a:buChar char="•"/>
            </a:pPr>
            <a:r>
              <a:rPr lang="en-US" dirty="0"/>
              <a:t>Composition → has and owns </a:t>
            </a:r>
          </a:p>
          <a:p>
            <a:pPr>
              <a:buNone/>
            </a:pPr>
            <a:r>
              <a:rPr lang="en-US" dirty="0"/>
              <a:t>And separately:</a:t>
            </a:r>
          </a:p>
          <a:p>
            <a:pPr rtl="0">
              <a:buNone/>
            </a:pPr>
            <a:r>
              <a:rPr lang="en-US" dirty="0">
                <a:latin typeface="Courier New" panose="02070309020205020404" pitchFamily="49" charset="0"/>
              </a:rPr>
              <a:t>Generalization = Inheritance = Is-a</a:t>
            </a:r>
          </a:p>
          <a:p>
            <a:pPr>
              <a:buNone/>
            </a:pPr>
            <a:r>
              <a:rPr lang="en-US" b="1" dirty="0"/>
              <a:t>One-line revision</a:t>
            </a:r>
          </a:p>
          <a:p>
            <a:pPr>
              <a:buFont typeface="Arial" panose="020B0604020202020204" pitchFamily="34" charset="0"/>
              <a:buChar char="•"/>
            </a:pPr>
            <a:r>
              <a:rPr lang="en-US" b="1" dirty="0"/>
              <a:t>Association:</a:t>
            </a:r>
            <a:r>
              <a:rPr lang="en-US" dirty="0"/>
              <a:t> Doctor knows Patient. </a:t>
            </a:r>
          </a:p>
          <a:p>
            <a:pPr>
              <a:buFont typeface="Arial" panose="020B0604020202020204" pitchFamily="34" charset="0"/>
              <a:buChar char="•"/>
            </a:pPr>
            <a:r>
              <a:rPr lang="en-US" b="1" dirty="0"/>
              <a:t>Aggregation:</a:t>
            </a:r>
            <a:r>
              <a:rPr lang="en-US" dirty="0"/>
              <a:t> Department has Professor. </a:t>
            </a:r>
          </a:p>
          <a:p>
            <a:pPr>
              <a:buFont typeface="Arial" panose="020B0604020202020204" pitchFamily="34" charset="0"/>
              <a:buChar char="•"/>
            </a:pPr>
            <a:r>
              <a:rPr lang="en-US" b="1" dirty="0"/>
              <a:t>Composition:</a:t>
            </a:r>
            <a:r>
              <a:rPr lang="en-US" dirty="0"/>
              <a:t> House owns Room. </a:t>
            </a:r>
          </a:p>
          <a:p>
            <a:pPr>
              <a:buFont typeface="Arial" panose="020B0604020202020204" pitchFamily="34" charset="0"/>
              <a:buChar char="•"/>
            </a:pPr>
            <a:r>
              <a:rPr lang="en-US" b="1" dirty="0"/>
              <a:t>Generalization:</a:t>
            </a:r>
            <a:r>
              <a:rPr lang="en-US" dirty="0"/>
              <a:t> Car is a Vehicle.</a:t>
            </a:r>
          </a:p>
        </p:txBody>
      </p:sp>
    </p:spTree>
    <p:extLst>
      <p:ext uri="{BB962C8B-B14F-4D97-AF65-F5344CB8AC3E}">
        <p14:creationId xmlns:p14="http://schemas.microsoft.com/office/powerpoint/2010/main" val="199723415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5406C-391F-7AD4-A65F-231BE3733E7A}"/>
              </a:ext>
            </a:extLst>
          </p:cNvPr>
          <p:cNvSpPr>
            <a:spLocks noGrp="1"/>
          </p:cNvSpPr>
          <p:nvPr>
            <p:ph type="title"/>
          </p:nvPr>
        </p:nvSpPr>
        <p:spPr/>
        <p:txBody>
          <a:bodyPr>
            <a:normAutofit/>
          </a:bodyPr>
          <a:lstStyle/>
          <a:p>
            <a:r>
              <a:rPr lang="en-US" b="1" dirty="0"/>
              <a:t>Entity Relationship Diagram (ERD)</a:t>
            </a:r>
            <a:endParaRPr lang="en-US" dirty="0"/>
          </a:p>
        </p:txBody>
      </p:sp>
      <p:sp>
        <p:nvSpPr>
          <p:cNvPr id="3" name="Content Placeholder 2">
            <a:extLst>
              <a:ext uri="{FF2B5EF4-FFF2-40B4-BE49-F238E27FC236}">
                <a16:creationId xmlns:a16="http://schemas.microsoft.com/office/drawing/2014/main" id="{3028EAD7-9DE7-F147-7C7C-BB4642C73782}"/>
              </a:ext>
            </a:extLst>
          </p:cNvPr>
          <p:cNvSpPr>
            <a:spLocks noGrp="1"/>
          </p:cNvSpPr>
          <p:nvPr>
            <p:ph idx="1"/>
          </p:nvPr>
        </p:nvSpPr>
        <p:spPr/>
        <p:txBody>
          <a:bodyPr>
            <a:normAutofit lnSpcReduction="10000"/>
          </a:bodyPr>
          <a:lstStyle/>
          <a:p>
            <a:r>
              <a:rPr lang="en-US" dirty="0"/>
              <a:t>Since you are studying OOP relationships (Association, Aggregation, Composition, Generalization), it's important to know that </a:t>
            </a:r>
            <a:r>
              <a:rPr lang="en-US" b="1" dirty="0"/>
              <a:t>ERD (Entity Relationship Diagram)</a:t>
            </a:r>
            <a:r>
              <a:rPr lang="en-US" dirty="0"/>
              <a:t> is mainly used in </a:t>
            </a:r>
            <a:r>
              <a:rPr lang="en-US" b="1" dirty="0"/>
              <a:t>Database Design</a:t>
            </a:r>
            <a:r>
              <a:rPr lang="en-US" dirty="0"/>
              <a:t>, not OOP.</a:t>
            </a:r>
          </a:p>
          <a:p>
            <a:br>
              <a:rPr lang="en-US" dirty="0"/>
            </a:br>
            <a:endParaRPr lang="en-US" dirty="0"/>
          </a:p>
          <a:p>
            <a:r>
              <a:rPr lang="en-US" b="1" dirty="0"/>
              <a:t>What is an ERD?</a:t>
            </a:r>
          </a:p>
          <a:p>
            <a:r>
              <a:rPr lang="en-US" b="1" dirty="0"/>
              <a:t>ERD (Entity Relationship Diagram)</a:t>
            </a:r>
            <a:r>
              <a:rPr lang="en-US" dirty="0"/>
              <a:t> is a graphical representation of:</a:t>
            </a:r>
          </a:p>
          <a:p>
            <a:r>
              <a:rPr lang="en-US" dirty="0"/>
              <a:t>Entities (objects/data) </a:t>
            </a:r>
          </a:p>
          <a:p>
            <a:r>
              <a:rPr lang="en-US" dirty="0"/>
              <a:t>Attributes (properties) </a:t>
            </a:r>
          </a:p>
          <a:p>
            <a:r>
              <a:rPr lang="en-US" dirty="0"/>
              <a:t>Relationships (connections) </a:t>
            </a:r>
          </a:p>
          <a:p>
            <a:r>
              <a:rPr lang="en-US" dirty="0"/>
              <a:t>It helps us design a database before creating tables.</a:t>
            </a:r>
          </a:p>
          <a:p>
            <a:endParaRPr lang="en-US" dirty="0"/>
          </a:p>
        </p:txBody>
      </p:sp>
    </p:spTree>
    <p:extLst>
      <p:ext uri="{BB962C8B-B14F-4D97-AF65-F5344CB8AC3E}">
        <p14:creationId xmlns:p14="http://schemas.microsoft.com/office/powerpoint/2010/main" val="186255849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E3C3E-8BC8-0A2D-97E2-289197E15D55}"/>
              </a:ext>
            </a:extLst>
          </p:cNvPr>
          <p:cNvSpPr>
            <a:spLocks noGrp="1"/>
          </p:cNvSpPr>
          <p:nvPr>
            <p:ph type="title"/>
          </p:nvPr>
        </p:nvSpPr>
        <p:spPr/>
        <p:txBody>
          <a:bodyPr/>
          <a:lstStyle/>
          <a:p>
            <a:r>
              <a:rPr lang="en-US" dirty="0"/>
              <a:t>Main Components of ERD</a:t>
            </a:r>
          </a:p>
        </p:txBody>
      </p:sp>
      <p:sp>
        <p:nvSpPr>
          <p:cNvPr id="3" name="Content Placeholder 2">
            <a:extLst>
              <a:ext uri="{FF2B5EF4-FFF2-40B4-BE49-F238E27FC236}">
                <a16:creationId xmlns:a16="http://schemas.microsoft.com/office/drawing/2014/main" id="{BF7C8FB7-F137-20A7-6292-89A4E527FE21}"/>
              </a:ext>
            </a:extLst>
          </p:cNvPr>
          <p:cNvSpPr>
            <a:spLocks noGrp="1"/>
          </p:cNvSpPr>
          <p:nvPr>
            <p:ph idx="1"/>
          </p:nvPr>
        </p:nvSpPr>
        <p:spPr/>
        <p:txBody>
          <a:bodyPr>
            <a:normAutofit fontScale="92500" lnSpcReduction="20000"/>
          </a:bodyPr>
          <a:lstStyle/>
          <a:p>
            <a:r>
              <a:rPr lang="en-US" b="1" dirty="0"/>
              <a:t>1. Entity</a:t>
            </a:r>
          </a:p>
          <a:p>
            <a:r>
              <a:rPr lang="en-US" dirty="0"/>
              <a:t>An entity represents a real-world object.</a:t>
            </a:r>
          </a:p>
          <a:p>
            <a:r>
              <a:rPr lang="en-US" dirty="0"/>
              <a:t>Examples:</a:t>
            </a:r>
          </a:p>
          <a:p>
            <a:r>
              <a:rPr lang="en-US" dirty="0"/>
              <a:t>Student </a:t>
            </a:r>
          </a:p>
          <a:p>
            <a:r>
              <a:rPr lang="en-US" dirty="0"/>
              <a:t>Teacher </a:t>
            </a:r>
          </a:p>
          <a:p>
            <a:r>
              <a:rPr lang="en-US" dirty="0"/>
              <a:t>Course </a:t>
            </a:r>
          </a:p>
          <a:p>
            <a:r>
              <a:rPr lang="en-US" dirty="0"/>
              <a:t>Hospital </a:t>
            </a:r>
          </a:p>
          <a:p>
            <a:r>
              <a:rPr lang="en-US" dirty="0"/>
              <a:t>Representation:</a:t>
            </a:r>
          </a:p>
          <a:p>
            <a:r>
              <a:rPr lang="en-US" dirty="0"/>
              <a:t>+-----------+</a:t>
            </a:r>
            <a:br>
              <a:rPr lang="en-US" dirty="0"/>
            </a:br>
            <a:r>
              <a:rPr lang="en-US" dirty="0"/>
              <a:t>| Student   |</a:t>
            </a:r>
            <a:br>
              <a:rPr lang="en-US" dirty="0"/>
            </a:br>
            <a:r>
              <a:rPr lang="en-US" dirty="0"/>
              <a:t>+-----------+</a:t>
            </a:r>
          </a:p>
          <a:p>
            <a:r>
              <a:rPr lang="en-US" dirty="0"/>
              <a:t>(Rectangle)</a:t>
            </a:r>
          </a:p>
          <a:p>
            <a:endParaRPr lang="en-US" dirty="0"/>
          </a:p>
        </p:txBody>
      </p:sp>
    </p:spTree>
    <p:extLst>
      <p:ext uri="{BB962C8B-B14F-4D97-AF65-F5344CB8AC3E}">
        <p14:creationId xmlns:p14="http://schemas.microsoft.com/office/powerpoint/2010/main" val="2012680321"/>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EA1AA-FAA6-8A93-280A-8FEC4315D679}"/>
              </a:ext>
            </a:extLst>
          </p:cNvPr>
          <p:cNvSpPr>
            <a:spLocks noGrp="1"/>
          </p:cNvSpPr>
          <p:nvPr>
            <p:ph type="title"/>
          </p:nvPr>
        </p:nvSpPr>
        <p:spPr/>
        <p:txBody>
          <a:bodyPr/>
          <a:lstStyle/>
          <a:p>
            <a:r>
              <a:rPr lang="en-US" dirty="0"/>
              <a:t>2. Attribute</a:t>
            </a:r>
          </a:p>
        </p:txBody>
      </p:sp>
      <p:sp>
        <p:nvSpPr>
          <p:cNvPr id="3" name="Content Placeholder 2">
            <a:extLst>
              <a:ext uri="{FF2B5EF4-FFF2-40B4-BE49-F238E27FC236}">
                <a16:creationId xmlns:a16="http://schemas.microsoft.com/office/drawing/2014/main" id="{3AA73AF7-41DA-67F7-0528-89C55712BD3F}"/>
              </a:ext>
            </a:extLst>
          </p:cNvPr>
          <p:cNvSpPr>
            <a:spLocks noGrp="1"/>
          </p:cNvSpPr>
          <p:nvPr>
            <p:ph idx="1"/>
          </p:nvPr>
        </p:nvSpPr>
        <p:spPr/>
        <p:txBody>
          <a:bodyPr>
            <a:normAutofit fontScale="92500" lnSpcReduction="10000"/>
          </a:bodyPr>
          <a:lstStyle/>
          <a:p>
            <a:r>
              <a:rPr lang="en-US" dirty="0"/>
              <a:t>Attributes are properties of an entity.</a:t>
            </a:r>
          </a:p>
          <a:p>
            <a:r>
              <a:rPr lang="en-US" dirty="0"/>
              <a:t>Example:</a:t>
            </a:r>
          </a:p>
          <a:p>
            <a:r>
              <a:rPr lang="en-US" dirty="0"/>
              <a:t>Student has:</a:t>
            </a:r>
          </a:p>
          <a:p>
            <a:r>
              <a:rPr lang="en-US" dirty="0"/>
              <a:t>StudentID </a:t>
            </a:r>
          </a:p>
          <a:p>
            <a:r>
              <a:rPr lang="en-US" dirty="0"/>
              <a:t>Name </a:t>
            </a:r>
          </a:p>
          <a:p>
            <a:r>
              <a:rPr lang="en-US" dirty="0"/>
              <a:t>Age </a:t>
            </a:r>
          </a:p>
          <a:p>
            <a:r>
              <a:rPr lang="en-US" dirty="0"/>
              <a:t>      Name</a:t>
            </a:r>
            <a:br>
              <a:rPr lang="en-US" dirty="0"/>
            </a:br>
            <a:r>
              <a:rPr lang="en-US" dirty="0"/>
              <a:t>        |</a:t>
            </a:r>
            <a:br>
              <a:rPr lang="en-US" dirty="0"/>
            </a:br>
            <a:r>
              <a:rPr lang="en-US" dirty="0"/>
              <a:t>Student--Age</a:t>
            </a:r>
            <a:br>
              <a:rPr lang="en-US" dirty="0"/>
            </a:br>
            <a:r>
              <a:rPr lang="en-US" dirty="0"/>
              <a:t>        |</a:t>
            </a:r>
            <a:br>
              <a:rPr lang="en-US" dirty="0"/>
            </a:br>
            <a:r>
              <a:rPr lang="en-US" dirty="0"/>
              <a:t>    StudentID</a:t>
            </a:r>
          </a:p>
          <a:p>
            <a:r>
              <a:rPr lang="en-US" dirty="0"/>
              <a:t>(Oval in traditional ERD)</a:t>
            </a:r>
          </a:p>
          <a:p>
            <a:endParaRPr lang="en-US" dirty="0"/>
          </a:p>
        </p:txBody>
      </p:sp>
    </p:spTree>
    <p:extLst>
      <p:ext uri="{BB962C8B-B14F-4D97-AF65-F5344CB8AC3E}">
        <p14:creationId xmlns:p14="http://schemas.microsoft.com/office/powerpoint/2010/main" val="51030766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19773-B898-69AD-2818-8CB1CB50AB50}"/>
              </a:ext>
            </a:extLst>
          </p:cNvPr>
          <p:cNvSpPr>
            <a:spLocks noGrp="1"/>
          </p:cNvSpPr>
          <p:nvPr>
            <p:ph type="title"/>
          </p:nvPr>
        </p:nvSpPr>
        <p:spPr/>
        <p:txBody>
          <a:bodyPr/>
          <a:lstStyle/>
          <a:p>
            <a:r>
              <a:rPr lang="en-US" dirty="0"/>
              <a:t>3. Relationship</a:t>
            </a:r>
          </a:p>
        </p:txBody>
      </p:sp>
      <p:sp>
        <p:nvSpPr>
          <p:cNvPr id="3" name="Content Placeholder 2">
            <a:extLst>
              <a:ext uri="{FF2B5EF4-FFF2-40B4-BE49-F238E27FC236}">
                <a16:creationId xmlns:a16="http://schemas.microsoft.com/office/drawing/2014/main" id="{F0757938-EE31-ADFD-D63B-C9BDAE83E58C}"/>
              </a:ext>
            </a:extLst>
          </p:cNvPr>
          <p:cNvSpPr>
            <a:spLocks noGrp="1"/>
          </p:cNvSpPr>
          <p:nvPr>
            <p:ph idx="1"/>
          </p:nvPr>
        </p:nvSpPr>
        <p:spPr/>
        <p:txBody>
          <a:bodyPr/>
          <a:lstStyle/>
          <a:p>
            <a:r>
              <a:rPr lang="en-US" dirty="0"/>
              <a:t>Shows how entities are connected.</a:t>
            </a:r>
          </a:p>
          <a:p>
            <a:r>
              <a:rPr lang="en-US" dirty="0"/>
              <a:t>Example:</a:t>
            </a:r>
          </a:p>
          <a:p>
            <a:r>
              <a:rPr lang="en-US" dirty="0"/>
              <a:t>A Student enrolls in a Course.</a:t>
            </a:r>
          </a:p>
          <a:p>
            <a:r>
              <a:rPr lang="en-US" dirty="0"/>
              <a:t>Student ------ Enrolls ------ Course</a:t>
            </a:r>
          </a:p>
          <a:p>
            <a:r>
              <a:rPr lang="en-US" dirty="0"/>
              <a:t>(Diamond in traditional ERD)</a:t>
            </a:r>
          </a:p>
          <a:p>
            <a:r>
              <a:rPr lang="en-US" b="1" dirty="0"/>
              <a:t>Entity Relationship Diagram (ERD)</a:t>
            </a:r>
            <a:r>
              <a:rPr lang="en-US" dirty="0"/>
              <a:t> is a graphical model used in database design to represent entities, their attributes, and the relationships among them.</a:t>
            </a:r>
          </a:p>
        </p:txBody>
      </p:sp>
    </p:spTree>
    <p:extLst>
      <p:ext uri="{BB962C8B-B14F-4D97-AF65-F5344CB8AC3E}">
        <p14:creationId xmlns:p14="http://schemas.microsoft.com/office/powerpoint/2010/main" val="211532630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FBCEB-6F3F-8E67-70D0-8A2647CE16C3}"/>
              </a:ext>
            </a:extLst>
          </p:cNvPr>
          <p:cNvSpPr>
            <a:spLocks noGrp="1"/>
          </p:cNvSpPr>
          <p:nvPr>
            <p:ph type="title"/>
          </p:nvPr>
        </p:nvSpPr>
        <p:spPr>
          <a:xfrm>
            <a:off x="1069848" y="484632"/>
            <a:ext cx="10058400" cy="929498"/>
          </a:xfrm>
        </p:spPr>
        <p:txBody>
          <a:bodyPr>
            <a:normAutofit fontScale="90000"/>
          </a:bodyPr>
          <a:lstStyle/>
          <a:p>
            <a:r>
              <a:rPr lang="en-US" b="1" dirty="0"/>
              <a:t>Function Overriding</a:t>
            </a:r>
            <a:br>
              <a:rPr lang="en-US" b="1" dirty="0"/>
            </a:br>
            <a:endParaRPr lang="en-US" dirty="0"/>
          </a:p>
        </p:txBody>
      </p:sp>
      <p:sp>
        <p:nvSpPr>
          <p:cNvPr id="3" name="Content Placeholder 2">
            <a:extLst>
              <a:ext uri="{FF2B5EF4-FFF2-40B4-BE49-F238E27FC236}">
                <a16:creationId xmlns:a16="http://schemas.microsoft.com/office/drawing/2014/main" id="{72FAE528-26E5-5629-6C9E-AF4A559B83B0}"/>
              </a:ext>
            </a:extLst>
          </p:cNvPr>
          <p:cNvSpPr>
            <a:spLocks noGrp="1"/>
          </p:cNvSpPr>
          <p:nvPr>
            <p:ph idx="1"/>
          </p:nvPr>
        </p:nvSpPr>
        <p:spPr>
          <a:xfrm>
            <a:off x="1069848" y="882502"/>
            <a:ext cx="10058400" cy="5289698"/>
          </a:xfrm>
        </p:spPr>
        <p:txBody>
          <a:bodyPr>
            <a:normAutofit fontScale="32500" lnSpcReduction="20000"/>
          </a:bodyPr>
          <a:lstStyle/>
          <a:p>
            <a:r>
              <a:rPr lang="en-US" b="1" dirty="0"/>
              <a:t>Definition</a:t>
            </a:r>
          </a:p>
          <a:p>
            <a:r>
              <a:rPr lang="en-US" dirty="0"/>
              <a:t>Function overriding is the process in which a derived class provides its own implementation of a virtual function that is already defined in the base class. It enables runtime polymorphism.</a:t>
            </a:r>
            <a:endParaRPr lang="en-US" b="1" dirty="0"/>
          </a:p>
          <a:p>
            <a:r>
              <a:rPr lang="en-US" dirty="0"/>
              <a:t>The derived class </a:t>
            </a:r>
            <a:r>
              <a:rPr lang="en-US" b="1" dirty="0"/>
              <a:t>redefines</a:t>
            </a:r>
            <a:r>
              <a:rPr lang="en-US" dirty="0"/>
              <a:t> the inherited behavior.</a:t>
            </a:r>
          </a:p>
          <a:p>
            <a:r>
              <a:rPr lang="en-US" b="1" dirty="0"/>
              <a:t>Why Do We Need Overriding?</a:t>
            </a:r>
          </a:p>
          <a:p>
            <a:r>
              <a:rPr lang="en-US" dirty="0"/>
              <a:t>Suppose every animal makes a sound, but different animals make different sounds.</a:t>
            </a:r>
          </a:p>
          <a:p>
            <a:r>
              <a:rPr lang="en-US" dirty="0"/>
              <a:t>Animal -&gt; Generic Sound</a:t>
            </a:r>
            <a:br>
              <a:rPr lang="en-US" dirty="0"/>
            </a:br>
            <a:r>
              <a:rPr lang="en-US" dirty="0"/>
              <a:t>Dog    -&gt; Woof</a:t>
            </a:r>
            <a:br>
              <a:rPr lang="en-US" dirty="0"/>
            </a:br>
            <a:r>
              <a:rPr lang="en-US" dirty="0"/>
              <a:t>Cat    -&gt; Meow</a:t>
            </a:r>
          </a:p>
          <a:p>
            <a:r>
              <a:rPr lang="en-US" dirty="0"/>
              <a:t>Instead of creating different function names:</a:t>
            </a:r>
          </a:p>
          <a:p>
            <a:r>
              <a:rPr lang="en-US" dirty="0" err="1"/>
              <a:t>dogSound</a:t>
            </a:r>
            <a:r>
              <a:rPr lang="en-US" dirty="0"/>
              <a:t>();</a:t>
            </a:r>
            <a:br>
              <a:rPr lang="en-US" dirty="0"/>
            </a:br>
            <a:r>
              <a:rPr lang="en-US" dirty="0" err="1"/>
              <a:t>catSound</a:t>
            </a:r>
            <a:r>
              <a:rPr lang="en-US" dirty="0"/>
              <a:t>();</a:t>
            </a:r>
          </a:p>
          <a:p>
            <a:r>
              <a:rPr lang="en-US" dirty="0"/>
              <a:t>we use one common function:</a:t>
            </a:r>
          </a:p>
          <a:p>
            <a:r>
              <a:rPr lang="en-US" dirty="0" err="1"/>
              <a:t>makeSound</a:t>
            </a:r>
            <a:r>
              <a:rPr lang="en-US" dirty="0"/>
              <a:t>();</a:t>
            </a:r>
          </a:p>
          <a:p>
            <a:r>
              <a:rPr lang="en-US" dirty="0"/>
              <a:t>and let each class define its own version.</a:t>
            </a:r>
          </a:p>
          <a:p>
            <a:r>
              <a:rPr lang="en-US" dirty="0"/>
              <a:t>This is called </a:t>
            </a:r>
            <a:r>
              <a:rPr lang="en-US" b="1" dirty="0"/>
              <a:t>runtime polymorphism</a:t>
            </a:r>
            <a:r>
              <a:rPr lang="en-US" dirty="0"/>
              <a:t>.</a:t>
            </a:r>
          </a:p>
          <a:p>
            <a:r>
              <a:rPr lang="en-US" b="1" dirty="0"/>
              <a:t>Why Do We Need Overriding?</a:t>
            </a:r>
          </a:p>
          <a:p>
            <a:r>
              <a:rPr lang="en-US" dirty="0"/>
              <a:t>Suppose every animal makes a sound, but different animals make different sounds.</a:t>
            </a:r>
          </a:p>
          <a:p>
            <a:r>
              <a:rPr lang="en-US" dirty="0"/>
              <a:t>Animal -&gt; Generic Sound</a:t>
            </a:r>
            <a:br>
              <a:rPr lang="en-US" dirty="0"/>
            </a:br>
            <a:r>
              <a:rPr lang="en-US" dirty="0"/>
              <a:t>Dog    -&gt; Woof</a:t>
            </a:r>
            <a:br>
              <a:rPr lang="en-US" dirty="0"/>
            </a:br>
            <a:r>
              <a:rPr lang="en-US" dirty="0"/>
              <a:t>Cat    -&gt; Meow</a:t>
            </a:r>
          </a:p>
          <a:p>
            <a:r>
              <a:rPr lang="en-US" dirty="0"/>
              <a:t>Instead of creating different function names:</a:t>
            </a:r>
          </a:p>
          <a:p>
            <a:r>
              <a:rPr lang="en-US" dirty="0" err="1"/>
              <a:t>dogSound</a:t>
            </a:r>
            <a:r>
              <a:rPr lang="en-US" dirty="0"/>
              <a:t>();</a:t>
            </a:r>
            <a:br>
              <a:rPr lang="en-US" dirty="0"/>
            </a:br>
            <a:r>
              <a:rPr lang="en-US" dirty="0" err="1"/>
              <a:t>catSound</a:t>
            </a:r>
            <a:r>
              <a:rPr lang="en-US" dirty="0"/>
              <a:t>();</a:t>
            </a:r>
          </a:p>
          <a:p>
            <a:r>
              <a:rPr lang="en-US" dirty="0"/>
              <a:t>we use one common function:</a:t>
            </a:r>
          </a:p>
          <a:p>
            <a:r>
              <a:rPr lang="en-US" dirty="0" err="1"/>
              <a:t>makeSound</a:t>
            </a:r>
            <a:r>
              <a:rPr lang="en-US" dirty="0"/>
              <a:t>();</a:t>
            </a:r>
          </a:p>
          <a:p>
            <a:r>
              <a:rPr lang="en-US" dirty="0"/>
              <a:t>and let each class define its own version.</a:t>
            </a:r>
          </a:p>
          <a:p>
            <a:r>
              <a:rPr lang="en-US" dirty="0"/>
              <a:t>This is called </a:t>
            </a:r>
            <a:r>
              <a:rPr lang="en-US" b="1" dirty="0"/>
              <a:t>runtime polymorphism</a:t>
            </a:r>
            <a:r>
              <a:rPr lang="en-US" dirty="0"/>
              <a:t>.</a:t>
            </a:r>
          </a:p>
          <a:p>
            <a:endParaRPr lang="en-US" dirty="0"/>
          </a:p>
        </p:txBody>
      </p:sp>
    </p:spTree>
    <p:extLst>
      <p:ext uri="{BB962C8B-B14F-4D97-AF65-F5344CB8AC3E}">
        <p14:creationId xmlns:p14="http://schemas.microsoft.com/office/powerpoint/2010/main" val="1846993171"/>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687C4-58AD-268F-591D-B017C2BDF7B5}"/>
              </a:ext>
            </a:extLst>
          </p:cNvPr>
          <p:cNvSpPr>
            <a:spLocks noGrp="1"/>
          </p:cNvSpPr>
          <p:nvPr>
            <p:ph type="title"/>
          </p:nvPr>
        </p:nvSpPr>
        <p:spPr>
          <a:xfrm>
            <a:off x="1069848" y="484632"/>
            <a:ext cx="10058400" cy="551688"/>
          </a:xfrm>
        </p:spPr>
        <p:txBody>
          <a:bodyPr>
            <a:normAutofit fontScale="90000"/>
          </a:bodyPr>
          <a:lstStyle/>
          <a:p>
            <a:r>
              <a:rPr lang="en-US" dirty="0"/>
              <a:t>Conditions for Overriding</a:t>
            </a:r>
          </a:p>
        </p:txBody>
      </p:sp>
      <p:sp>
        <p:nvSpPr>
          <p:cNvPr id="3" name="Content Placeholder 2">
            <a:extLst>
              <a:ext uri="{FF2B5EF4-FFF2-40B4-BE49-F238E27FC236}">
                <a16:creationId xmlns:a16="http://schemas.microsoft.com/office/drawing/2014/main" id="{27AD55C6-8C40-A4E0-59D4-0E8B7C3E90AC}"/>
              </a:ext>
            </a:extLst>
          </p:cNvPr>
          <p:cNvSpPr>
            <a:spLocks noGrp="1"/>
          </p:cNvSpPr>
          <p:nvPr>
            <p:ph idx="1"/>
          </p:nvPr>
        </p:nvSpPr>
        <p:spPr>
          <a:xfrm>
            <a:off x="1069848" y="1036320"/>
            <a:ext cx="10058400" cy="5135880"/>
          </a:xfrm>
        </p:spPr>
        <p:txBody>
          <a:bodyPr>
            <a:normAutofit fontScale="40000" lnSpcReduction="20000"/>
          </a:bodyPr>
          <a:lstStyle/>
          <a:p>
            <a:r>
              <a:rPr lang="en-US" dirty="0"/>
              <a:t>For overriding to happen:</a:t>
            </a:r>
          </a:p>
          <a:p>
            <a:r>
              <a:rPr lang="en-US" b="1" dirty="0"/>
              <a:t>1. Inheritance must exist</a:t>
            </a:r>
          </a:p>
          <a:p>
            <a:r>
              <a:rPr lang="en-US" dirty="0"/>
              <a:t>class Derived : public Base</a:t>
            </a:r>
          </a:p>
          <a:p>
            <a:r>
              <a:rPr lang="en-US" b="1" dirty="0"/>
              <a:t>2. Base function must be virtual</a:t>
            </a:r>
          </a:p>
          <a:p>
            <a:r>
              <a:rPr lang="en-US" dirty="0"/>
              <a:t>virtual void display();</a:t>
            </a:r>
          </a:p>
          <a:p>
            <a:r>
              <a:rPr lang="en-US" b="1" dirty="0"/>
              <a:t>3. Function signature must match</a:t>
            </a:r>
          </a:p>
          <a:p>
            <a:r>
              <a:rPr lang="en-US" dirty="0"/>
              <a:t>✔ Correct</a:t>
            </a:r>
          </a:p>
          <a:p>
            <a:r>
              <a:rPr lang="en-US" dirty="0"/>
              <a:t>void display()</a:t>
            </a:r>
          </a:p>
          <a:p>
            <a:r>
              <a:rPr lang="en-US" dirty="0"/>
              <a:t>✘ Wrong</a:t>
            </a:r>
          </a:p>
          <a:p>
            <a:r>
              <a:rPr lang="en-US" dirty="0"/>
              <a:t>void display(int x)</a:t>
            </a:r>
          </a:p>
          <a:p>
            <a:r>
              <a:rPr lang="en-US" dirty="0"/>
              <a:t>because parameters are different.</a:t>
            </a:r>
          </a:p>
          <a:p>
            <a:r>
              <a:rPr lang="en-US" b="1" dirty="0"/>
              <a:t>Overriding</a:t>
            </a:r>
          </a:p>
          <a:p>
            <a:r>
              <a:rPr lang="en-US" dirty="0"/>
              <a:t>Inheritance required.</a:t>
            </a:r>
          </a:p>
          <a:p>
            <a:r>
              <a:rPr lang="en-US" dirty="0"/>
              <a:t>Same name ✔</a:t>
            </a:r>
          </a:p>
          <a:p>
            <a:r>
              <a:rPr lang="en-US" dirty="0"/>
              <a:t>Same parameters ✔</a:t>
            </a:r>
          </a:p>
          <a:p>
            <a:r>
              <a:rPr lang="en-US" dirty="0"/>
              <a:t>Different class ✔</a:t>
            </a:r>
          </a:p>
          <a:p>
            <a:r>
              <a:rPr lang="en-US" b="1" dirty="0"/>
              <a:t>overloading</a:t>
            </a:r>
          </a:p>
          <a:p>
            <a:r>
              <a:rPr lang="en-US" dirty="0"/>
              <a:t>Usually inside the same class.</a:t>
            </a:r>
          </a:p>
          <a:p>
            <a:r>
              <a:rPr lang="en-US" dirty="0"/>
              <a:t>Same name ✔</a:t>
            </a:r>
          </a:p>
          <a:p>
            <a:r>
              <a:rPr lang="en-US" dirty="0"/>
              <a:t>Different parameter list ✔</a:t>
            </a:r>
          </a:p>
          <a:p>
            <a:r>
              <a:rPr lang="en-US" dirty="0"/>
              <a:t>Compile-time polymorphism ✔</a:t>
            </a:r>
          </a:p>
          <a:p>
            <a:endParaRPr lang="en-US" dirty="0"/>
          </a:p>
          <a:p>
            <a:endParaRPr lang="en-US" dirty="0"/>
          </a:p>
          <a:p>
            <a:endParaRPr lang="en-US" dirty="0"/>
          </a:p>
        </p:txBody>
      </p:sp>
    </p:spTree>
    <p:extLst>
      <p:ext uri="{BB962C8B-B14F-4D97-AF65-F5344CB8AC3E}">
        <p14:creationId xmlns:p14="http://schemas.microsoft.com/office/powerpoint/2010/main" val="1930872745"/>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A7CE4-1EAF-C592-12B8-F818F547FBBB}"/>
              </a:ext>
            </a:extLst>
          </p:cNvPr>
          <p:cNvSpPr>
            <a:spLocks noGrp="1"/>
          </p:cNvSpPr>
          <p:nvPr>
            <p:ph type="title"/>
          </p:nvPr>
        </p:nvSpPr>
        <p:spPr>
          <a:xfrm>
            <a:off x="1069848" y="484632"/>
            <a:ext cx="10058400" cy="589788"/>
          </a:xfrm>
        </p:spPr>
        <p:txBody>
          <a:bodyPr>
            <a:normAutofit fontScale="90000"/>
          </a:bodyPr>
          <a:lstStyle/>
          <a:p>
            <a:r>
              <a:rPr lang="en-US" dirty="0"/>
              <a:t>Role of virtual</a:t>
            </a:r>
          </a:p>
        </p:txBody>
      </p:sp>
      <p:sp>
        <p:nvSpPr>
          <p:cNvPr id="3" name="Content Placeholder 2">
            <a:extLst>
              <a:ext uri="{FF2B5EF4-FFF2-40B4-BE49-F238E27FC236}">
                <a16:creationId xmlns:a16="http://schemas.microsoft.com/office/drawing/2014/main" id="{2873B537-9110-10BE-1AE0-911F08D0AC1E}"/>
              </a:ext>
            </a:extLst>
          </p:cNvPr>
          <p:cNvSpPr>
            <a:spLocks noGrp="1"/>
          </p:cNvSpPr>
          <p:nvPr>
            <p:ph idx="1"/>
          </p:nvPr>
        </p:nvSpPr>
        <p:spPr>
          <a:xfrm>
            <a:off x="1069848" y="1074420"/>
            <a:ext cx="10058400" cy="5097780"/>
          </a:xfrm>
        </p:spPr>
        <p:txBody>
          <a:bodyPr>
            <a:normAutofit lnSpcReduction="10000"/>
          </a:bodyPr>
          <a:lstStyle/>
          <a:p>
            <a:r>
              <a:rPr lang="en-US" dirty="0"/>
              <a:t>class Base {</a:t>
            </a:r>
            <a:br>
              <a:rPr lang="en-US" dirty="0"/>
            </a:br>
            <a:r>
              <a:rPr lang="en-US" dirty="0"/>
              <a:t>public:</a:t>
            </a:r>
            <a:br>
              <a:rPr lang="en-US" dirty="0"/>
            </a:br>
            <a:r>
              <a:rPr lang="en-US" dirty="0"/>
              <a:t>    virtual void display() {</a:t>
            </a:r>
            <a:br>
              <a:rPr lang="en-US" dirty="0"/>
            </a:br>
            <a:r>
              <a:rPr lang="en-US" dirty="0"/>
              <a:t>        </a:t>
            </a:r>
            <a:r>
              <a:rPr lang="en-US" dirty="0" err="1"/>
              <a:t>cout</a:t>
            </a:r>
            <a:r>
              <a:rPr lang="en-US" dirty="0"/>
              <a:t> &lt;&lt; "Base";</a:t>
            </a:r>
            <a:br>
              <a:rPr lang="en-US" dirty="0"/>
            </a:br>
            <a:r>
              <a:rPr lang="en-US" dirty="0"/>
              <a:t>    }</a:t>
            </a:r>
            <a:br>
              <a:rPr lang="en-US" dirty="0"/>
            </a:br>
            <a:r>
              <a:rPr lang="en-US" dirty="0"/>
              <a:t>};</a:t>
            </a:r>
          </a:p>
          <a:p>
            <a:r>
              <a:rPr lang="en-US" dirty="0"/>
              <a:t>virtual tells the compiler:</a:t>
            </a:r>
          </a:p>
          <a:p>
            <a:r>
              <a:rPr lang="en-US" dirty="0"/>
              <a:t>"This function may have different versions in derived classes. Decide at runtime which version to call."</a:t>
            </a:r>
          </a:p>
          <a:p>
            <a:r>
              <a:rPr lang="en-US" dirty="0"/>
              <a:t>Without virtual, C++ uses </a:t>
            </a:r>
            <a:r>
              <a:rPr lang="en-US" b="1" dirty="0"/>
              <a:t>compile-time binding</a:t>
            </a:r>
            <a:r>
              <a:rPr lang="en-US" dirty="0"/>
              <a:t>.</a:t>
            </a:r>
          </a:p>
          <a:p>
            <a:r>
              <a:rPr lang="en-US" dirty="0"/>
              <a:t>With virtual, C++ uses </a:t>
            </a:r>
            <a:r>
              <a:rPr lang="en-US" b="1" dirty="0"/>
              <a:t>runtime binding (dynamic dispatch)</a:t>
            </a:r>
            <a:r>
              <a:rPr lang="en-US" dirty="0"/>
              <a:t>.</a:t>
            </a:r>
          </a:p>
          <a:p>
            <a:r>
              <a:rPr lang="en-US" dirty="0"/>
              <a:t>For a function to be overridden in a derived class, it must be declared as virtual in the base class. • The virtual keyword signals that this function might have different implementations in derived classes. It enables dynamic dispatch (or late binding), meaning the function call is resolved at runtime based on the actual object type. • • Without virtual, the function call would be resolved at compile time (static dispatch), potentially leading to incorrect behavior.</a:t>
            </a:r>
          </a:p>
        </p:txBody>
      </p:sp>
    </p:spTree>
    <p:extLst>
      <p:ext uri="{BB962C8B-B14F-4D97-AF65-F5344CB8AC3E}">
        <p14:creationId xmlns:p14="http://schemas.microsoft.com/office/powerpoint/2010/main" val="407198507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68906-87DC-D1B7-661D-062D9A9926D8}"/>
              </a:ext>
            </a:extLst>
          </p:cNvPr>
          <p:cNvSpPr>
            <a:spLocks noGrp="1"/>
          </p:cNvSpPr>
          <p:nvPr>
            <p:ph type="title"/>
          </p:nvPr>
        </p:nvSpPr>
        <p:spPr>
          <a:xfrm>
            <a:off x="1069848" y="484632"/>
            <a:ext cx="10058400" cy="429768"/>
          </a:xfrm>
        </p:spPr>
        <p:txBody>
          <a:bodyPr>
            <a:normAutofit fontScale="90000"/>
          </a:bodyPr>
          <a:lstStyle/>
          <a:p>
            <a:r>
              <a:rPr lang="en-US" dirty="0"/>
              <a:t>…</a:t>
            </a:r>
          </a:p>
        </p:txBody>
      </p:sp>
      <p:sp>
        <p:nvSpPr>
          <p:cNvPr id="4" name="Rectangle 1">
            <a:extLst>
              <a:ext uri="{FF2B5EF4-FFF2-40B4-BE49-F238E27FC236}">
                <a16:creationId xmlns:a16="http://schemas.microsoft.com/office/drawing/2014/main" id="{2FC20B69-3AF8-1011-425A-FBDD13F5C76F}"/>
              </a:ext>
            </a:extLst>
          </p:cNvPr>
          <p:cNvSpPr>
            <a:spLocks noGrp="1" noChangeArrowheads="1"/>
          </p:cNvSpPr>
          <p:nvPr>
            <p:ph idx="1"/>
          </p:nvPr>
        </p:nvSpPr>
        <p:spPr bwMode="auto">
          <a:xfrm>
            <a:off x="1069975" y="1685598"/>
            <a:ext cx="10088018"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Explain the </a:t>
            </a:r>
            <a:r>
              <a:rPr kumimoji="0" lang="en-US" altLang="en-US" sz="1000" b="1" i="0" u="none" strike="noStrike" cap="none" normalizeH="0" baseline="0" dirty="0">
                <a:ln>
                  <a:noFill/>
                </a:ln>
                <a:solidFill>
                  <a:schemeClr val="tx1"/>
                </a:solidFill>
                <a:effectLst/>
                <a:latin typeface="Arial Unicode MS"/>
              </a:rPr>
              <a:t>virtual</a:t>
            </a:r>
            <a:r>
              <a:rPr kumimoji="0" lang="en-US" altLang="en-US" sz="800" b="1" i="0" u="none" strike="noStrike" cap="none" normalizeH="0" baseline="0" dirty="0">
                <a:ln>
                  <a:noFill/>
                </a:ln>
                <a:solidFill>
                  <a:schemeClr val="tx1"/>
                </a:solidFill>
                <a:effectLst/>
              </a:rPr>
              <a:t> keyword in C++. Explain how </a:t>
            </a:r>
            <a:r>
              <a:rPr kumimoji="0" lang="en-US" altLang="en-US" sz="1000" b="1" i="0" u="none" strike="noStrike" cap="none" normalizeH="0" baseline="0" dirty="0">
                <a:ln>
                  <a:noFill/>
                </a:ln>
                <a:solidFill>
                  <a:schemeClr val="tx1"/>
                </a:solidFill>
                <a:effectLst/>
                <a:latin typeface="Arial Unicode MS"/>
              </a:rPr>
              <a:t>virtual</a:t>
            </a:r>
            <a:r>
              <a:rPr kumimoji="0" lang="en-US" altLang="en-US" sz="800" b="1" i="0" u="none" strike="noStrike" cap="none" normalizeH="0" baseline="0" dirty="0">
                <a:ln>
                  <a:noFill/>
                </a:ln>
                <a:solidFill>
                  <a:schemeClr val="tx1"/>
                </a:solidFill>
                <a:effectLst/>
              </a:rPr>
              <a:t> supports dynamic binding in inheritance. (3 Marks)</a:t>
            </a: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chemeClr val="tx1"/>
                </a:solidFill>
                <a:effectLst/>
                <a:latin typeface="Arial" panose="020B0604020202020204" pitchFamily="34" charset="0"/>
              </a:rPr>
              <a:t>Answer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latin typeface="Arial" panose="020B0604020202020204" pitchFamily="34" charset="0"/>
              </a:rPr>
              <a:t>The </a:t>
            </a:r>
            <a:r>
              <a:rPr kumimoji="0" lang="en-US" altLang="en-US" sz="1000" b="1" i="0" u="none" strike="noStrike" cap="none" normalizeH="0" baseline="0" dirty="0">
                <a:ln>
                  <a:noFill/>
                </a:ln>
                <a:solidFill>
                  <a:schemeClr val="tx1"/>
                </a:solidFill>
                <a:effectLst/>
                <a:latin typeface="Arial Unicode MS"/>
              </a:rPr>
              <a:t>virtual</a:t>
            </a:r>
            <a:r>
              <a:rPr kumimoji="0" lang="en-US" altLang="en-US" sz="800" b="1" i="0" u="none" strike="noStrike" cap="none" normalizeH="0" baseline="0" dirty="0">
                <a:ln>
                  <a:noFill/>
                </a:ln>
                <a:solidFill>
                  <a:schemeClr val="tx1"/>
                </a:solidFill>
                <a:effectLst/>
              </a:rPr>
              <a:t> keyword</a:t>
            </a:r>
            <a:r>
              <a:rPr kumimoji="0" lang="en-US" altLang="en-US" sz="1800" b="0" i="0" u="none" strike="noStrike" cap="none" normalizeH="0" baseline="0" dirty="0">
                <a:ln>
                  <a:noFill/>
                </a:ln>
                <a:solidFill>
                  <a:schemeClr val="tx1"/>
                </a:solidFill>
                <a:effectLst/>
                <a:latin typeface="Arial" panose="020B0604020202020204" pitchFamily="34" charset="0"/>
              </a:rPr>
              <a:t> is used in a base class to declare a function that can be overridden in derived classes.</a:t>
            </a:r>
            <a:endParaRPr kumimoji="0" lang="en-US" altLang="en-US" sz="10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Unicode MS"/>
              </a:rPr>
              <a:t>class Animal {</a:t>
            </a:r>
            <a:br>
              <a:rPr kumimoji="0" lang="en-US" altLang="en-US" sz="1000" b="0" i="0" u="none" strike="noStrike" cap="none" normalizeH="0" baseline="0" dirty="0">
                <a:ln>
                  <a:noFill/>
                </a:ln>
                <a:solidFill>
                  <a:schemeClr val="tx1"/>
                </a:solidFill>
                <a:effectLst/>
                <a:latin typeface="Arial Unicode MS"/>
              </a:rPr>
            </a:br>
            <a:r>
              <a:rPr kumimoji="0" lang="en-US" altLang="en-US" sz="1000" b="0" i="0" u="none" strike="noStrike" cap="none" normalizeH="0" baseline="0" dirty="0">
                <a:ln>
                  <a:noFill/>
                </a:ln>
                <a:solidFill>
                  <a:schemeClr val="tx1"/>
                </a:solidFill>
                <a:effectLst/>
                <a:latin typeface="Arial Unicode MS"/>
              </a:rPr>
              <a:t>public:</a:t>
            </a:r>
            <a:br>
              <a:rPr kumimoji="0" lang="en-US" altLang="en-US" sz="1000" b="0" i="0" u="none" strike="noStrike" cap="none" normalizeH="0" baseline="0" dirty="0">
                <a:ln>
                  <a:noFill/>
                </a:ln>
                <a:solidFill>
                  <a:schemeClr val="tx1"/>
                </a:solidFill>
                <a:effectLst/>
                <a:latin typeface="Arial Unicode MS"/>
              </a:rPr>
            </a:br>
            <a:r>
              <a:rPr kumimoji="0" lang="en-US" altLang="en-US" sz="1000" b="0" i="0" u="none" strike="noStrike" cap="none" normalizeH="0" baseline="0" dirty="0">
                <a:ln>
                  <a:noFill/>
                </a:ln>
                <a:solidFill>
                  <a:schemeClr val="tx1"/>
                </a:solidFill>
                <a:effectLst/>
                <a:latin typeface="Arial Unicode MS"/>
              </a:rPr>
              <a:t>virtual void </a:t>
            </a:r>
            <a:r>
              <a:rPr kumimoji="0" lang="en-US" altLang="en-US" sz="1000" b="0" i="0" u="none" strike="noStrike" cap="none" normalizeH="0" baseline="0" dirty="0" err="1">
                <a:ln>
                  <a:noFill/>
                </a:ln>
                <a:solidFill>
                  <a:schemeClr val="tx1"/>
                </a:solidFill>
                <a:effectLst/>
                <a:latin typeface="Arial Unicode MS"/>
              </a:rPr>
              <a:t>makeSound</a:t>
            </a:r>
            <a:r>
              <a:rPr kumimoji="0" lang="en-US" altLang="en-US" sz="1000" b="0" i="0" u="none" strike="noStrike" cap="none" normalizeH="0" baseline="0" dirty="0">
                <a:ln>
                  <a:noFill/>
                </a:ln>
                <a:solidFill>
                  <a:schemeClr val="tx1"/>
                </a:solidFill>
                <a:effectLst/>
                <a:latin typeface="Arial Unicode MS"/>
              </a:rPr>
              <a:t>() {</a:t>
            </a:r>
            <a:br>
              <a:rPr kumimoji="0" lang="en-US" altLang="en-US" sz="1000" b="0" i="0" u="none" strike="noStrike" cap="none" normalizeH="0" baseline="0" dirty="0">
                <a:ln>
                  <a:noFill/>
                </a:ln>
                <a:solidFill>
                  <a:schemeClr val="tx1"/>
                </a:solidFill>
                <a:effectLst/>
                <a:latin typeface="Arial Unicode MS"/>
              </a:rPr>
            </a:br>
            <a:r>
              <a:rPr kumimoji="0" lang="en-US" altLang="en-US" sz="1000" b="0" i="0" u="none" strike="noStrike" cap="none" normalizeH="0" baseline="0" dirty="0" err="1">
                <a:ln>
                  <a:noFill/>
                </a:ln>
                <a:solidFill>
                  <a:schemeClr val="tx1"/>
                </a:solidFill>
                <a:effectLst/>
                <a:latin typeface="Arial Unicode MS"/>
              </a:rPr>
              <a:t>cout</a:t>
            </a:r>
            <a:r>
              <a:rPr kumimoji="0" lang="en-US" altLang="en-US" sz="1000" b="0" i="0" u="none" strike="noStrike" cap="none" normalizeH="0" baseline="0" dirty="0">
                <a:ln>
                  <a:noFill/>
                </a:ln>
                <a:solidFill>
                  <a:schemeClr val="tx1"/>
                </a:solidFill>
                <a:effectLst/>
                <a:latin typeface="Arial Unicode MS"/>
              </a:rPr>
              <a:t> &lt;&lt; "Animal Sound";</a:t>
            </a:r>
            <a:br>
              <a:rPr kumimoji="0" lang="en-US" altLang="en-US" sz="1000" b="0" i="0" u="none" strike="noStrike" cap="none" normalizeH="0" baseline="0" dirty="0">
                <a:ln>
                  <a:noFill/>
                </a:ln>
                <a:solidFill>
                  <a:schemeClr val="tx1"/>
                </a:solidFill>
                <a:effectLst/>
                <a:latin typeface="Arial Unicode MS"/>
              </a:rPr>
            </a:br>
            <a:r>
              <a:rPr kumimoji="0" lang="en-US" altLang="en-US" sz="1000" b="0" i="0" u="none" strike="noStrike" cap="none" normalizeH="0" baseline="0" dirty="0">
                <a:ln>
                  <a:noFill/>
                </a:ln>
                <a:solidFill>
                  <a:schemeClr val="tx1"/>
                </a:solidFill>
                <a:effectLst/>
                <a:latin typeface="Arial Unicode MS"/>
              </a:rPr>
              <a:t>}</a:t>
            </a:r>
            <a:br>
              <a:rPr kumimoji="0" lang="en-US" altLang="en-US" sz="1000" b="0" i="0" u="none" strike="noStrike" cap="none" normalizeH="0" baseline="0" dirty="0">
                <a:ln>
                  <a:noFill/>
                </a:ln>
                <a:solidFill>
                  <a:schemeClr val="tx1"/>
                </a:solidFill>
                <a:effectLst/>
                <a:latin typeface="Arial Unicode MS"/>
              </a:rPr>
            </a:br>
            <a:r>
              <a:rPr kumimoji="0" lang="en-US" altLang="en-US" sz="1000" b="0" i="0" u="none" strike="noStrike" cap="none" normalizeH="0" baseline="0" dirty="0">
                <a:ln>
                  <a:noFill/>
                </a:ln>
                <a:solidFill>
                  <a:schemeClr val="tx1"/>
                </a:solidFill>
                <a:effectLst/>
                <a:latin typeface="Arial Unicode MS"/>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rPr>
              <a:t>The </a:t>
            </a:r>
            <a:r>
              <a:rPr kumimoji="0" lang="en-US" altLang="en-US" sz="1000" b="0" i="0" u="none" strike="noStrike" cap="none" normalizeH="0" baseline="0" dirty="0">
                <a:ln>
                  <a:noFill/>
                </a:ln>
                <a:solidFill>
                  <a:schemeClr val="tx1"/>
                </a:solidFill>
                <a:effectLst/>
                <a:latin typeface="Arial Unicode MS"/>
              </a:rPr>
              <a:t>virtual</a:t>
            </a:r>
            <a:r>
              <a:rPr kumimoji="0" lang="en-US" altLang="en-US" sz="800" b="0" i="0" u="none" strike="noStrike" cap="none" normalizeH="0" baseline="0" dirty="0">
                <a:ln>
                  <a:noFill/>
                </a:ln>
                <a:solidFill>
                  <a:schemeClr val="tx1"/>
                </a:solidFill>
                <a:effectLst/>
              </a:rPr>
              <a:t> keyword enables </a:t>
            </a:r>
            <a:r>
              <a:rPr kumimoji="0" lang="en-US" altLang="en-US" sz="1800" b="1" i="0" u="none" strike="noStrike" cap="none" normalizeH="0" baseline="0" dirty="0">
                <a:ln>
                  <a:noFill/>
                </a:ln>
                <a:solidFill>
                  <a:schemeClr val="tx1"/>
                </a:solidFill>
                <a:effectLst/>
                <a:latin typeface="Arial" panose="020B0604020202020204" pitchFamily="34" charset="0"/>
              </a:rPr>
              <a:t>dynamic binding (runtime polymorphism)</a:t>
            </a:r>
            <a:r>
              <a:rPr kumimoji="0" lang="en-US" altLang="en-US" sz="1800" b="0" i="0" u="none" strike="noStrike" cap="none" normalizeH="0" baseline="0" dirty="0">
                <a:ln>
                  <a:noFill/>
                </a:ln>
                <a:solidFill>
                  <a:schemeClr val="tx1"/>
                </a:solidFill>
                <a:effectLst/>
                <a:latin typeface="Arial" panose="020B0604020202020204" pitchFamily="34" charset="0"/>
              </a:rPr>
              <a:t>. When a virtual function is called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through a base-class pointer or reference, C++ determines at </a:t>
            </a:r>
            <a:r>
              <a:rPr kumimoji="0" lang="en-US" altLang="en-US" sz="1800" b="1" i="0" u="none" strike="noStrike" cap="none" normalizeH="0" baseline="0" dirty="0">
                <a:ln>
                  <a:noFill/>
                </a:ln>
                <a:solidFill>
                  <a:schemeClr val="tx1"/>
                </a:solidFill>
                <a:effectLst/>
                <a:latin typeface="Arial" panose="020B0604020202020204" pitchFamily="34" charset="0"/>
              </a:rPr>
              <a:t>runtime</a:t>
            </a:r>
            <a:r>
              <a:rPr kumimoji="0" lang="en-US" altLang="en-US" sz="1800" b="0" i="0" u="none" strike="noStrike" cap="none" normalizeH="0" baseline="0" dirty="0">
                <a:ln>
                  <a:noFill/>
                </a:ln>
                <a:solidFill>
                  <a:schemeClr val="tx1"/>
                </a:solidFill>
                <a:effectLst/>
                <a:latin typeface="Arial" panose="020B0604020202020204" pitchFamily="34" charset="0"/>
              </a:rPr>
              <a:t> which version of</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the function to execute based on the </a:t>
            </a:r>
            <a:r>
              <a:rPr kumimoji="0" lang="en-US" altLang="en-US" sz="1800" b="1" i="0" u="none" strike="noStrike" cap="none" normalizeH="0" baseline="0" dirty="0">
                <a:ln>
                  <a:noFill/>
                </a:ln>
                <a:solidFill>
                  <a:schemeClr val="tx1"/>
                </a:solidFill>
                <a:effectLst/>
                <a:latin typeface="Arial" panose="020B0604020202020204" pitchFamily="34" charset="0"/>
              </a:rPr>
              <a:t>actual object type</a:t>
            </a:r>
            <a:r>
              <a:rPr kumimoji="0" lang="en-US" altLang="en-US" sz="1800" b="0" i="0" u="none" strike="noStrike" cap="none" normalizeH="0" baseline="0" dirty="0">
                <a:ln>
                  <a:noFill/>
                </a:ln>
                <a:solidFill>
                  <a:schemeClr val="tx1"/>
                </a:solidFill>
                <a:effectLst/>
                <a:latin typeface="Arial" panose="020B0604020202020204" pitchFamily="34" charset="0"/>
              </a:rPr>
              <a:t>, not the pointer type.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Example:</a:t>
            </a:r>
            <a:endParaRPr kumimoji="0" lang="en-US" altLang="en-US" sz="10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Unicode MS"/>
              </a:rPr>
              <a:t>Animal* </a:t>
            </a:r>
            <a:r>
              <a:rPr kumimoji="0" lang="en-US" altLang="en-US" sz="1000" b="0" i="0" u="none" strike="noStrike" cap="none" normalizeH="0" baseline="0" dirty="0" err="1">
                <a:ln>
                  <a:noFill/>
                </a:ln>
                <a:solidFill>
                  <a:schemeClr val="tx1"/>
                </a:solidFill>
                <a:effectLst/>
                <a:latin typeface="Arial Unicode MS"/>
              </a:rPr>
              <a:t>ptr</a:t>
            </a:r>
            <a:r>
              <a:rPr kumimoji="0" lang="en-US" altLang="en-US" sz="1000" b="0" i="0" u="none" strike="noStrike" cap="none" normalizeH="0" baseline="0" dirty="0">
                <a:ln>
                  <a:noFill/>
                </a:ln>
                <a:solidFill>
                  <a:schemeClr val="tx1"/>
                </a:solidFill>
                <a:effectLst/>
                <a:latin typeface="Arial Unicode MS"/>
              </a:rPr>
              <a:t> = new Dog();</a:t>
            </a:r>
            <a:br>
              <a:rPr kumimoji="0" lang="en-US" altLang="en-US" sz="1000" b="0" i="0" u="none" strike="noStrike" cap="none" normalizeH="0" baseline="0" dirty="0">
                <a:ln>
                  <a:noFill/>
                </a:ln>
                <a:solidFill>
                  <a:schemeClr val="tx1"/>
                </a:solidFill>
                <a:effectLst/>
                <a:latin typeface="Arial Unicode MS"/>
              </a:rPr>
            </a:br>
            <a:r>
              <a:rPr kumimoji="0" lang="en-US" altLang="en-US" sz="1000" b="0" i="0" u="none" strike="noStrike" cap="none" normalizeH="0" baseline="0" dirty="0" err="1">
                <a:ln>
                  <a:noFill/>
                </a:ln>
                <a:solidFill>
                  <a:schemeClr val="tx1"/>
                </a:solidFill>
                <a:effectLst/>
                <a:latin typeface="Arial Unicode MS"/>
              </a:rPr>
              <a:t>ptr</a:t>
            </a:r>
            <a:r>
              <a:rPr kumimoji="0" lang="en-US" altLang="en-US" sz="1000" b="0" i="0" u="none" strike="noStrike" cap="none" normalizeH="0" baseline="0" dirty="0">
                <a:ln>
                  <a:noFill/>
                </a:ln>
                <a:solidFill>
                  <a:schemeClr val="tx1"/>
                </a:solidFill>
                <a:effectLst/>
                <a:latin typeface="Arial Unicode MS"/>
              </a:rPr>
              <a:t>-&gt;</a:t>
            </a:r>
            <a:r>
              <a:rPr kumimoji="0" lang="en-US" altLang="en-US" sz="1000" b="0" i="0" u="none" strike="noStrike" cap="none" normalizeH="0" baseline="0" dirty="0" err="1">
                <a:ln>
                  <a:noFill/>
                </a:ln>
                <a:solidFill>
                  <a:schemeClr val="tx1"/>
                </a:solidFill>
                <a:effectLst/>
                <a:latin typeface="Arial Unicode MS"/>
              </a:rPr>
              <a:t>makeSound</a:t>
            </a:r>
            <a:r>
              <a:rPr kumimoji="0" lang="en-US" altLang="en-US" sz="1000" b="0" i="0" u="none" strike="noStrike" cap="none" normalizeH="0" baseline="0" dirty="0">
                <a:ln>
                  <a:noFill/>
                </a:ln>
                <a:solidFill>
                  <a:schemeClr val="tx1"/>
                </a:solidFill>
                <a:effectLst/>
                <a:latin typeface="Arial Unicode MS"/>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rPr>
              <a:t>Since </a:t>
            </a:r>
            <a:r>
              <a:rPr kumimoji="0" lang="en-US" altLang="en-US" sz="1000" b="0" i="0" u="none" strike="noStrike" cap="none" normalizeH="0" baseline="0" dirty="0" err="1">
                <a:ln>
                  <a:noFill/>
                </a:ln>
                <a:solidFill>
                  <a:schemeClr val="tx1"/>
                </a:solidFill>
                <a:effectLst/>
                <a:latin typeface="Arial Unicode MS"/>
              </a:rPr>
              <a:t>makeSound</a:t>
            </a:r>
            <a:r>
              <a:rPr kumimoji="0" lang="en-US" altLang="en-US" sz="1000" b="0" i="0" u="none" strike="noStrike" cap="none" normalizeH="0" baseline="0" dirty="0">
                <a:ln>
                  <a:noFill/>
                </a:ln>
                <a:solidFill>
                  <a:schemeClr val="tx1"/>
                </a:solidFill>
                <a:effectLst/>
                <a:latin typeface="Arial Unicode MS"/>
              </a:rPr>
              <a:t>()</a:t>
            </a:r>
            <a:r>
              <a:rPr kumimoji="0" lang="en-US" altLang="en-US" sz="800" b="0" i="0" u="none" strike="noStrike" cap="none" normalizeH="0" baseline="0" dirty="0">
                <a:ln>
                  <a:noFill/>
                </a:ln>
                <a:solidFill>
                  <a:schemeClr val="tx1"/>
                </a:solidFill>
                <a:effectLst/>
              </a:rPr>
              <a:t> is virtual, </a:t>
            </a:r>
            <a:r>
              <a:rPr kumimoji="0" lang="en-US" altLang="en-US" sz="1000" b="0" i="0" u="none" strike="noStrike" cap="none" normalizeH="0" baseline="0" dirty="0">
                <a:ln>
                  <a:noFill/>
                </a:ln>
                <a:solidFill>
                  <a:schemeClr val="tx1"/>
                </a:solidFill>
                <a:effectLst/>
                <a:latin typeface="Arial Unicode MS"/>
              </a:rPr>
              <a:t>Dog::</a:t>
            </a:r>
            <a:r>
              <a:rPr kumimoji="0" lang="en-US" altLang="en-US" sz="1000" b="0" i="0" u="none" strike="noStrike" cap="none" normalizeH="0" baseline="0" dirty="0" err="1">
                <a:ln>
                  <a:noFill/>
                </a:ln>
                <a:solidFill>
                  <a:schemeClr val="tx1"/>
                </a:solidFill>
                <a:effectLst/>
                <a:latin typeface="Arial Unicode MS"/>
              </a:rPr>
              <a:t>makeSound</a:t>
            </a:r>
            <a:r>
              <a:rPr kumimoji="0" lang="en-US" altLang="en-US" sz="1000" b="0" i="0" u="none" strike="noStrike" cap="none" normalizeH="0" baseline="0" dirty="0">
                <a:ln>
                  <a:noFill/>
                </a:ln>
                <a:solidFill>
                  <a:schemeClr val="tx1"/>
                </a:solidFill>
                <a:effectLst/>
                <a:latin typeface="Arial Unicode MS"/>
              </a:rPr>
              <a:t>()</a:t>
            </a:r>
            <a:r>
              <a:rPr kumimoji="0" lang="en-US" altLang="en-US" sz="800" b="0" i="0" u="none" strike="noStrike" cap="none" normalizeH="0" baseline="0" dirty="0">
                <a:ln>
                  <a:noFill/>
                </a:ln>
                <a:solidFill>
                  <a:schemeClr val="tx1"/>
                </a:solidFill>
                <a:effectLst/>
              </a:rPr>
              <a:t> executes even though </a:t>
            </a:r>
            <a:r>
              <a:rPr kumimoji="0" lang="en-US" altLang="en-US" sz="1000" b="0" i="0" u="none" strike="noStrike" cap="none" normalizeH="0" baseline="0" dirty="0" err="1">
                <a:ln>
                  <a:noFill/>
                </a:ln>
                <a:solidFill>
                  <a:schemeClr val="tx1"/>
                </a:solidFill>
                <a:effectLst/>
                <a:latin typeface="Arial Unicode MS"/>
              </a:rPr>
              <a:t>ptr</a:t>
            </a:r>
            <a:r>
              <a:rPr kumimoji="0" lang="en-US" altLang="en-US" sz="800" b="0" i="0" u="none" strike="noStrike" cap="none" normalizeH="0" baseline="0" dirty="0">
                <a:ln>
                  <a:noFill/>
                </a:ln>
                <a:solidFill>
                  <a:schemeClr val="tx1"/>
                </a:solidFill>
                <a:effectLst/>
              </a:rPr>
              <a:t> is an </a:t>
            </a:r>
            <a:r>
              <a:rPr kumimoji="0" lang="en-US" altLang="en-US" sz="1000" b="0" i="0" u="none" strike="noStrike" cap="none" normalizeH="0" baseline="0" dirty="0">
                <a:ln>
                  <a:noFill/>
                </a:ln>
                <a:solidFill>
                  <a:schemeClr val="tx1"/>
                </a:solidFill>
                <a:effectLst/>
                <a:latin typeface="Arial Unicode MS"/>
              </a:rPr>
              <a:t>Animal*</a:t>
            </a:r>
            <a:r>
              <a:rPr kumimoji="0" lang="en-US" altLang="en-US" sz="800" b="0" i="0" u="none" strike="noStrike" cap="none" normalizeH="0" baseline="0" dirty="0">
                <a:ln>
                  <a:noFill/>
                </a:ln>
                <a:solidFill>
                  <a:schemeClr val="tx1"/>
                </a:solidFill>
                <a:effectLst/>
              </a:rPr>
              <a:t>.</a:t>
            </a: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chemeClr val="tx1"/>
                </a:solidFill>
                <a:effectLst/>
                <a:latin typeface="Arial" panose="020B0604020202020204" pitchFamily="34" charset="0"/>
              </a:rPr>
              <a:t>Conclusion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latin typeface="Arial" panose="020B0604020202020204" pitchFamily="34" charset="0"/>
              </a:rPr>
              <a:t>Thus, the </a:t>
            </a:r>
            <a:r>
              <a:rPr kumimoji="0" lang="en-US" altLang="en-US" sz="1000" b="0" i="0" u="none" strike="noStrike" cap="none" normalizeH="0" baseline="0" dirty="0">
                <a:ln>
                  <a:noFill/>
                </a:ln>
                <a:solidFill>
                  <a:schemeClr val="tx1"/>
                </a:solidFill>
                <a:effectLst/>
                <a:latin typeface="Arial Unicode MS"/>
              </a:rPr>
              <a:t>virtual</a:t>
            </a:r>
            <a:r>
              <a:rPr kumimoji="0" lang="en-US" altLang="en-US" sz="800" b="0" i="0" u="none" strike="noStrike" cap="none" normalizeH="0" baseline="0" dirty="0">
                <a:ln>
                  <a:noFill/>
                </a:ln>
                <a:solidFill>
                  <a:schemeClr val="tx1"/>
                </a:solidFill>
                <a:effectLst/>
              </a:rPr>
              <a:t> keyword supports dynamic binding by allowing function calls to be resolved at runtime according to the actual derived object, enabling runtime polymorphism.</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806064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A67F2-9152-BE3F-F69E-DF61AF233341}"/>
              </a:ext>
            </a:extLst>
          </p:cNvPr>
          <p:cNvSpPr>
            <a:spLocks noGrp="1"/>
          </p:cNvSpPr>
          <p:nvPr>
            <p:ph type="title"/>
          </p:nvPr>
        </p:nvSpPr>
        <p:spPr>
          <a:xfrm>
            <a:off x="1069848" y="484632"/>
            <a:ext cx="10058400" cy="620268"/>
          </a:xfrm>
        </p:spPr>
        <p:txBody>
          <a:bodyPr>
            <a:normAutofit fontScale="90000"/>
          </a:bodyPr>
          <a:lstStyle/>
          <a:p>
            <a:r>
              <a:rPr lang="en-US" dirty="0"/>
              <a:t>Role of override</a:t>
            </a:r>
          </a:p>
        </p:txBody>
      </p:sp>
      <p:sp>
        <p:nvSpPr>
          <p:cNvPr id="3" name="Content Placeholder 2">
            <a:extLst>
              <a:ext uri="{FF2B5EF4-FFF2-40B4-BE49-F238E27FC236}">
                <a16:creationId xmlns:a16="http://schemas.microsoft.com/office/drawing/2014/main" id="{45AF0CFA-9C51-E677-8D73-702DE9741286}"/>
              </a:ext>
            </a:extLst>
          </p:cNvPr>
          <p:cNvSpPr>
            <a:spLocks noGrp="1"/>
          </p:cNvSpPr>
          <p:nvPr>
            <p:ph idx="1"/>
          </p:nvPr>
        </p:nvSpPr>
        <p:spPr>
          <a:xfrm>
            <a:off x="1069848" y="1104900"/>
            <a:ext cx="10058400" cy="5067300"/>
          </a:xfrm>
        </p:spPr>
        <p:txBody>
          <a:bodyPr/>
          <a:lstStyle/>
          <a:p>
            <a:r>
              <a:rPr lang="en-US" dirty="0"/>
              <a:t>void display() override</a:t>
            </a:r>
          </a:p>
          <a:p>
            <a:r>
              <a:rPr lang="en-US" dirty="0"/>
              <a:t>override is optional but highly recommended.</a:t>
            </a:r>
          </a:p>
          <a:p>
            <a:r>
              <a:rPr lang="en-US" dirty="0"/>
              <a:t>It tells the compiler:</a:t>
            </a:r>
          </a:p>
          <a:p>
            <a:r>
              <a:rPr lang="en-US" dirty="0"/>
              <a:t>"I intend to override a base-class virtual function."</a:t>
            </a:r>
          </a:p>
          <a:p>
            <a:r>
              <a:rPr lang="en-US" dirty="0"/>
              <a:t>If you make a mistake, the compiler catches it.</a:t>
            </a:r>
          </a:p>
          <a:p>
            <a:r>
              <a:rPr lang="en-US" dirty="0"/>
              <a:t>The override specifier (C++11) explicitly indicates that a member function is intended to override a virtual function in a base class.</a:t>
            </a:r>
          </a:p>
          <a:p>
            <a:r>
              <a:rPr lang="en-US" dirty="0"/>
              <a:t> Compiler Error Checking: If the function signature doesn't exactly match a virtual function in the base class, the compiler will issue an error.</a:t>
            </a:r>
          </a:p>
          <a:p>
            <a:r>
              <a:rPr lang="en-US" dirty="0"/>
              <a:t> Readability: Clearly communicates the programmer's intent to other developers.</a:t>
            </a:r>
          </a:p>
          <a:p>
            <a:r>
              <a:rPr lang="en-US" dirty="0"/>
              <a:t> Prevents Bugs: Helps catch common mistakes like typos in function names or incorrect parameter lists.</a:t>
            </a:r>
          </a:p>
        </p:txBody>
      </p:sp>
    </p:spTree>
    <p:extLst>
      <p:ext uri="{BB962C8B-B14F-4D97-AF65-F5344CB8AC3E}">
        <p14:creationId xmlns:p14="http://schemas.microsoft.com/office/powerpoint/2010/main" val="1998057363"/>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F65D9-057F-BCCB-39E0-D61DBE41809F}"/>
              </a:ext>
            </a:extLst>
          </p:cNvPr>
          <p:cNvSpPr>
            <a:spLocks noGrp="1"/>
          </p:cNvSpPr>
          <p:nvPr>
            <p:ph type="title"/>
          </p:nvPr>
        </p:nvSpPr>
        <p:spPr>
          <a:xfrm>
            <a:off x="1069848" y="484632"/>
            <a:ext cx="10058400" cy="573606"/>
          </a:xfrm>
        </p:spPr>
        <p:txBody>
          <a:bodyPr>
            <a:normAutofit fontScale="90000"/>
          </a:bodyPr>
          <a:lstStyle/>
          <a:p>
            <a:r>
              <a:rPr lang="en-US" dirty="0"/>
              <a:t>…</a:t>
            </a:r>
          </a:p>
        </p:txBody>
      </p:sp>
      <p:sp>
        <p:nvSpPr>
          <p:cNvPr id="3" name="Content Placeholder 2">
            <a:extLst>
              <a:ext uri="{FF2B5EF4-FFF2-40B4-BE49-F238E27FC236}">
                <a16:creationId xmlns:a16="http://schemas.microsoft.com/office/drawing/2014/main" id="{346078F4-0863-9AFE-F254-FCC049DC38AF}"/>
              </a:ext>
            </a:extLst>
          </p:cNvPr>
          <p:cNvSpPr>
            <a:spLocks noGrp="1"/>
          </p:cNvSpPr>
          <p:nvPr>
            <p:ph idx="1"/>
          </p:nvPr>
        </p:nvSpPr>
        <p:spPr>
          <a:xfrm>
            <a:off x="1069848" y="1058238"/>
            <a:ext cx="10058400" cy="5722705"/>
          </a:xfrm>
        </p:spPr>
        <p:txBody>
          <a:bodyPr>
            <a:normAutofit fontScale="92500" lnSpcReduction="10000"/>
          </a:bodyPr>
          <a:lstStyle/>
          <a:p>
            <a:r>
              <a:rPr lang="en-US" b="1" dirty="0"/>
              <a:t>One-Line Exam Definitions</a:t>
            </a:r>
          </a:p>
          <a:p>
            <a:r>
              <a:rPr lang="en-US" b="1" dirty="0"/>
              <a:t>Function Overriding</a:t>
            </a:r>
          </a:p>
          <a:p>
            <a:r>
              <a:rPr lang="en-US" dirty="0"/>
              <a:t>Function overriding is the process in which a derived class provides its own implementation of a virtual function already defined in the base class.</a:t>
            </a:r>
          </a:p>
          <a:p>
            <a:r>
              <a:rPr lang="en-US" b="1" dirty="0"/>
              <a:t>Virtual Function</a:t>
            </a:r>
          </a:p>
          <a:p>
            <a:r>
              <a:rPr lang="en-US" dirty="0"/>
              <a:t>A virtual function is a base-class function declared with the virtual keyword that allows runtime polymorphism.</a:t>
            </a:r>
          </a:p>
          <a:p>
            <a:r>
              <a:rPr lang="en-US" b="1" dirty="0"/>
              <a:t>Override Specifier</a:t>
            </a:r>
          </a:p>
          <a:p>
            <a:r>
              <a:rPr lang="en-US" dirty="0"/>
              <a:t>The override specifier indicates that a derived-class function is intended to override a virtual function from the base class.</a:t>
            </a:r>
          </a:p>
          <a:p>
            <a:r>
              <a:rPr lang="en-US" b="1" dirty="0"/>
              <a:t>Runtime Polymorphism</a:t>
            </a:r>
          </a:p>
          <a:p>
            <a:r>
              <a:rPr lang="en-US" dirty="0"/>
              <a:t>Runtime polymorphism is the ability to call different implementations of the same function through a base-class pointer or reference depending on the actual object type at runtime.</a:t>
            </a:r>
          </a:p>
          <a:p>
            <a:r>
              <a:rPr lang="en-US" b="1" dirty="0"/>
              <a:t>Virtual Destructor</a:t>
            </a:r>
          </a:p>
          <a:p>
            <a:r>
              <a:rPr lang="en-US" dirty="0"/>
              <a:t>A virtual destructor ensures that the correct destructor sequence executes when deleting a derived object through a base-class pointer.</a:t>
            </a:r>
          </a:p>
          <a:p>
            <a:endParaRPr lang="en-US" dirty="0"/>
          </a:p>
        </p:txBody>
      </p:sp>
    </p:spTree>
    <p:extLst>
      <p:ext uri="{BB962C8B-B14F-4D97-AF65-F5344CB8AC3E}">
        <p14:creationId xmlns:p14="http://schemas.microsoft.com/office/powerpoint/2010/main" val="153624896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17460-FB88-D5DF-5A10-0AD755BDEB4F}"/>
              </a:ext>
            </a:extLst>
          </p:cNvPr>
          <p:cNvSpPr>
            <a:spLocks noGrp="1"/>
          </p:cNvSpPr>
          <p:nvPr>
            <p:ph type="title"/>
          </p:nvPr>
        </p:nvSpPr>
        <p:spPr>
          <a:xfrm>
            <a:off x="1069848" y="484632"/>
            <a:ext cx="10058400" cy="460590"/>
          </a:xfrm>
        </p:spPr>
        <p:txBody>
          <a:bodyPr>
            <a:normAutofit fontScale="90000"/>
          </a:bodyPr>
          <a:lstStyle/>
          <a:p>
            <a:r>
              <a:rPr lang="en-US" dirty="0"/>
              <a:t>code</a:t>
            </a:r>
          </a:p>
        </p:txBody>
      </p:sp>
      <p:sp>
        <p:nvSpPr>
          <p:cNvPr id="3" name="Content Placeholder 2">
            <a:extLst>
              <a:ext uri="{FF2B5EF4-FFF2-40B4-BE49-F238E27FC236}">
                <a16:creationId xmlns:a16="http://schemas.microsoft.com/office/drawing/2014/main" id="{AB6B4439-0FDF-0530-6585-581DC307F731}"/>
              </a:ext>
            </a:extLst>
          </p:cNvPr>
          <p:cNvSpPr>
            <a:spLocks noGrp="1"/>
          </p:cNvSpPr>
          <p:nvPr>
            <p:ph idx="1"/>
          </p:nvPr>
        </p:nvSpPr>
        <p:spPr>
          <a:xfrm>
            <a:off x="1069848" y="945222"/>
            <a:ext cx="10058400" cy="5912778"/>
          </a:xfrm>
        </p:spPr>
        <p:txBody>
          <a:bodyPr>
            <a:normAutofit fontScale="55000" lnSpcReduction="20000"/>
          </a:bodyPr>
          <a:lstStyle/>
          <a:p>
            <a:r>
              <a:rPr lang="en-US" dirty="0"/>
              <a:t>class Animal {</a:t>
            </a:r>
          </a:p>
          <a:p>
            <a:r>
              <a:rPr lang="en-US" dirty="0"/>
              <a:t>public:</a:t>
            </a:r>
          </a:p>
          <a:p>
            <a:r>
              <a:rPr lang="en-US" dirty="0"/>
              <a:t>    virtual void </a:t>
            </a:r>
            <a:r>
              <a:rPr lang="en-US" dirty="0" err="1"/>
              <a:t>makeSound</a:t>
            </a:r>
            <a:r>
              <a:rPr lang="en-US" dirty="0"/>
              <a:t>() {</a:t>
            </a:r>
          </a:p>
          <a:p>
            <a:r>
              <a:rPr lang="en-US" dirty="0"/>
              <a:t>        </a:t>
            </a:r>
            <a:r>
              <a:rPr lang="en-US" dirty="0" err="1"/>
              <a:t>cout</a:t>
            </a:r>
            <a:r>
              <a:rPr lang="en-US" dirty="0"/>
              <a:t> &lt;&lt; "Generic Sound"; }</a:t>
            </a:r>
          </a:p>
          <a:p>
            <a:r>
              <a:rPr lang="en-US" dirty="0"/>
              <a:t>};</a:t>
            </a:r>
          </a:p>
          <a:p>
            <a:r>
              <a:rPr lang="en-US" dirty="0"/>
              <a:t>class Dog : public Animal {</a:t>
            </a:r>
          </a:p>
          <a:p>
            <a:r>
              <a:rPr lang="en-US" dirty="0"/>
              <a:t>public:</a:t>
            </a:r>
          </a:p>
          <a:p>
            <a:r>
              <a:rPr lang="en-US" dirty="0"/>
              <a:t>    void </a:t>
            </a:r>
            <a:r>
              <a:rPr lang="en-US" dirty="0" err="1"/>
              <a:t>makeSound</a:t>
            </a:r>
            <a:r>
              <a:rPr lang="en-US" dirty="0"/>
              <a:t>() override {</a:t>
            </a:r>
          </a:p>
          <a:p>
            <a:r>
              <a:rPr lang="en-US" dirty="0"/>
              <a:t>        </a:t>
            </a:r>
            <a:r>
              <a:rPr lang="en-US" dirty="0" err="1"/>
              <a:t>cout</a:t>
            </a:r>
            <a:r>
              <a:rPr lang="en-US" dirty="0"/>
              <a:t> &lt;&lt; "Woof!";    }</a:t>
            </a:r>
          </a:p>
          <a:p>
            <a:r>
              <a:rPr lang="en-US" dirty="0"/>
              <a:t>};</a:t>
            </a:r>
          </a:p>
          <a:p>
            <a:r>
              <a:rPr lang="en-US" dirty="0"/>
              <a:t>class Cat : public Animal {</a:t>
            </a:r>
          </a:p>
          <a:p>
            <a:r>
              <a:rPr lang="en-US" dirty="0"/>
              <a:t>public:</a:t>
            </a:r>
          </a:p>
          <a:p>
            <a:r>
              <a:rPr lang="en-US" dirty="0"/>
              <a:t>    void </a:t>
            </a:r>
            <a:r>
              <a:rPr lang="en-US" dirty="0" err="1"/>
              <a:t>makeSound</a:t>
            </a:r>
            <a:r>
              <a:rPr lang="en-US" dirty="0"/>
              <a:t>() override {</a:t>
            </a:r>
          </a:p>
          <a:p>
            <a:r>
              <a:rPr lang="en-US" dirty="0"/>
              <a:t>        </a:t>
            </a:r>
            <a:r>
              <a:rPr lang="en-US" dirty="0" err="1"/>
              <a:t>cout</a:t>
            </a:r>
            <a:r>
              <a:rPr lang="en-US" dirty="0"/>
              <a:t> &lt;&lt; "Meow!";  }</a:t>
            </a:r>
          </a:p>
          <a:p>
            <a:r>
              <a:rPr lang="en-US" dirty="0"/>
              <a:t>};</a:t>
            </a:r>
          </a:p>
          <a:p>
            <a:r>
              <a:rPr lang="en-US" dirty="0"/>
              <a:t>Animal* </a:t>
            </a:r>
            <a:r>
              <a:rPr lang="en-US" dirty="0" err="1"/>
              <a:t>ptr</a:t>
            </a:r>
            <a:r>
              <a:rPr lang="en-US" dirty="0"/>
              <a:t>;</a:t>
            </a:r>
          </a:p>
          <a:p>
            <a:r>
              <a:rPr lang="en-US" dirty="0"/>
              <a:t>Dog d;</a:t>
            </a:r>
          </a:p>
          <a:p>
            <a:r>
              <a:rPr lang="en-US" dirty="0" err="1"/>
              <a:t>ptr</a:t>
            </a:r>
            <a:r>
              <a:rPr lang="en-US" dirty="0"/>
              <a:t> = &amp;d;</a:t>
            </a:r>
          </a:p>
          <a:p>
            <a:r>
              <a:rPr lang="en-US" dirty="0" err="1"/>
              <a:t>ptr</a:t>
            </a:r>
            <a:r>
              <a:rPr lang="en-US" dirty="0"/>
              <a:t>-&gt;</a:t>
            </a:r>
            <a:r>
              <a:rPr lang="en-US" dirty="0" err="1"/>
              <a:t>makeSound</a:t>
            </a:r>
            <a:r>
              <a:rPr lang="en-US" dirty="0"/>
              <a:t>();</a:t>
            </a:r>
          </a:p>
          <a:p>
            <a:r>
              <a:rPr lang="en-US" dirty="0"/>
              <a:t>Cat c;</a:t>
            </a:r>
          </a:p>
          <a:p>
            <a:r>
              <a:rPr lang="en-US" dirty="0" err="1"/>
              <a:t>ptr</a:t>
            </a:r>
            <a:r>
              <a:rPr lang="en-US" dirty="0"/>
              <a:t> = &amp;c;</a:t>
            </a:r>
          </a:p>
          <a:p>
            <a:r>
              <a:rPr lang="en-US" dirty="0" err="1"/>
              <a:t>ptr</a:t>
            </a:r>
            <a:r>
              <a:rPr lang="en-US" dirty="0"/>
              <a:t>-&gt;</a:t>
            </a:r>
            <a:r>
              <a:rPr lang="en-US" dirty="0" err="1"/>
              <a:t>makeSound</a:t>
            </a:r>
            <a:r>
              <a:rPr lang="en-US" dirty="0"/>
              <a:t>();</a:t>
            </a:r>
          </a:p>
        </p:txBody>
      </p:sp>
    </p:spTree>
    <p:extLst>
      <p:ext uri="{BB962C8B-B14F-4D97-AF65-F5344CB8AC3E}">
        <p14:creationId xmlns:p14="http://schemas.microsoft.com/office/powerpoint/2010/main" val="1030972369"/>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93B0C-9070-32EC-4503-407A6821A87A}"/>
              </a:ext>
            </a:extLst>
          </p:cNvPr>
          <p:cNvSpPr>
            <a:spLocks noGrp="1"/>
          </p:cNvSpPr>
          <p:nvPr>
            <p:ph type="title"/>
          </p:nvPr>
        </p:nvSpPr>
        <p:spPr>
          <a:xfrm>
            <a:off x="1069848" y="484632"/>
            <a:ext cx="10058400" cy="532510"/>
          </a:xfrm>
        </p:spPr>
        <p:txBody>
          <a:bodyPr>
            <a:normAutofit fontScale="90000"/>
          </a:bodyPr>
          <a:lstStyle/>
          <a:p>
            <a:r>
              <a:rPr lang="en-US" dirty="0"/>
              <a:t>q1</a:t>
            </a:r>
          </a:p>
        </p:txBody>
      </p:sp>
      <p:sp>
        <p:nvSpPr>
          <p:cNvPr id="3" name="Content Placeholder 2">
            <a:extLst>
              <a:ext uri="{FF2B5EF4-FFF2-40B4-BE49-F238E27FC236}">
                <a16:creationId xmlns:a16="http://schemas.microsoft.com/office/drawing/2014/main" id="{447C5DD9-7F77-8B9E-50D8-D385C475AF6C}"/>
              </a:ext>
            </a:extLst>
          </p:cNvPr>
          <p:cNvSpPr>
            <a:spLocks noGrp="1"/>
          </p:cNvSpPr>
          <p:nvPr>
            <p:ph idx="1"/>
          </p:nvPr>
        </p:nvSpPr>
        <p:spPr>
          <a:xfrm>
            <a:off x="1069848" y="1017142"/>
            <a:ext cx="10058400" cy="5840858"/>
          </a:xfrm>
        </p:spPr>
        <p:txBody>
          <a:bodyPr>
            <a:normAutofit fontScale="92500" lnSpcReduction="20000"/>
          </a:bodyPr>
          <a:lstStyle/>
          <a:p>
            <a:r>
              <a:rPr lang="en-US" b="1" dirty="0"/>
              <a:t>Explanation</a:t>
            </a:r>
          </a:p>
          <a:p>
            <a:r>
              <a:rPr lang="en-US" dirty="0"/>
              <a:t>When </a:t>
            </a:r>
            <a:r>
              <a:rPr lang="en-US" dirty="0" err="1"/>
              <a:t>ptr</a:t>
            </a:r>
            <a:r>
              <a:rPr lang="en-US" dirty="0"/>
              <a:t> points to the Dog object (</a:t>
            </a:r>
            <a:r>
              <a:rPr lang="en-US" dirty="0" err="1"/>
              <a:t>ptr</a:t>
            </a:r>
            <a:r>
              <a:rPr lang="en-US" dirty="0"/>
              <a:t> = &amp;d), the call </a:t>
            </a:r>
            <a:r>
              <a:rPr lang="en-US" dirty="0" err="1"/>
              <a:t>ptr</a:t>
            </a:r>
            <a:r>
              <a:rPr lang="en-US" dirty="0"/>
              <a:t>-&gt;</a:t>
            </a:r>
            <a:r>
              <a:rPr lang="en-US" dirty="0" err="1"/>
              <a:t>makeSound</a:t>
            </a:r>
            <a:r>
              <a:rPr lang="en-US" dirty="0"/>
              <a:t>() executes </a:t>
            </a:r>
            <a:r>
              <a:rPr lang="en-US" b="1" dirty="0"/>
              <a:t>Dog::</a:t>
            </a:r>
            <a:r>
              <a:rPr lang="en-US" b="1" dirty="0" err="1"/>
              <a:t>makeSound</a:t>
            </a:r>
            <a:r>
              <a:rPr lang="en-US" b="1" dirty="0"/>
              <a:t>()</a:t>
            </a:r>
            <a:r>
              <a:rPr lang="en-US" dirty="0"/>
              <a:t>, producing </a:t>
            </a:r>
            <a:r>
              <a:rPr lang="en-US" b="1" dirty="0"/>
              <a:t>"Woof!"</a:t>
            </a:r>
            <a:r>
              <a:rPr lang="en-US" dirty="0"/>
              <a:t>. </a:t>
            </a:r>
          </a:p>
          <a:p>
            <a:r>
              <a:rPr lang="en-US" dirty="0"/>
              <a:t>When </a:t>
            </a:r>
            <a:r>
              <a:rPr lang="en-US" dirty="0" err="1"/>
              <a:t>ptr</a:t>
            </a:r>
            <a:r>
              <a:rPr lang="en-US" dirty="0"/>
              <a:t> points to the Cat object (</a:t>
            </a:r>
            <a:r>
              <a:rPr lang="en-US" dirty="0" err="1"/>
              <a:t>ptr</a:t>
            </a:r>
            <a:r>
              <a:rPr lang="en-US" dirty="0"/>
              <a:t> = &amp;c), the call </a:t>
            </a:r>
            <a:r>
              <a:rPr lang="en-US" dirty="0" err="1"/>
              <a:t>ptr</a:t>
            </a:r>
            <a:r>
              <a:rPr lang="en-US" dirty="0"/>
              <a:t>-&gt;</a:t>
            </a:r>
            <a:r>
              <a:rPr lang="en-US" dirty="0" err="1"/>
              <a:t>makeSound</a:t>
            </a:r>
            <a:r>
              <a:rPr lang="en-US" dirty="0"/>
              <a:t>() executes </a:t>
            </a:r>
            <a:r>
              <a:rPr lang="en-US" b="1" dirty="0"/>
              <a:t>Cat::</a:t>
            </a:r>
            <a:r>
              <a:rPr lang="en-US" b="1" dirty="0" err="1"/>
              <a:t>makeSound</a:t>
            </a:r>
            <a:r>
              <a:rPr lang="en-US" b="1" dirty="0"/>
              <a:t>()</a:t>
            </a:r>
            <a:r>
              <a:rPr lang="en-US" dirty="0"/>
              <a:t>, producing </a:t>
            </a:r>
            <a:r>
              <a:rPr lang="en-US" b="1" dirty="0"/>
              <a:t>"Meow!"</a:t>
            </a:r>
            <a:r>
              <a:rPr lang="en-US" dirty="0"/>
              <a:t>. </a:t>
            </a:r>
          </a:p>
          <a:p>
            <a:r>
              <a:rPr lang="en-US" dirty="0"/>
              <a:t>This happens because </a:t>
            </a:r>
            <a:r>
              <a:rPr lang="en-US" dirty="0" err="1"/>
              <a:t>makeSound</a:t>
            </a:r>
            <a:r>
              <a:rPr lang="en-US" dirty="0"/>
              <a:t>() is declared </a:t>
            </a:r>
            <a:r>
              <a:rPr lang="en-US" b="1" dirty="0"/>
              <a:t>virtual</a:t>
            </a:r>
            <a:r>
              <a:rPr lang="en-US" dirty="0"/>
              <a:t> in the base class Animal. The virtual keyword enables </a:t>
            </a:r>
            <a:r>
              <a:rPr lang="en-US" b="1" dirty="0"/>
              <a:t>runtime polymorphism (dynamic dispatch)</a:t>
            </a:r>
            <a:r>
              <a:rPr lang="en-US" dirty="0"/>
              <a:t>, so the function call is resolved according to the actual object type at runtime rather than the pointer type. </a:t>
            </a:r>
          </a:p>
          <a:p>
            <a:r>
              <a:rPr lang="en-US" dirty="0"/>
              <a:t>The </a:t>
            </a:r>
            <a:r>
              <a:rPr lang="en-US" b="1" dirty="0"/>
              <a:t>override</a:t>
            </a:r>
            <a:r>
              <a:rPr lang="en-US" dirty="0"/>
              <a:t> keyword in Dog and Cat tells the compiler that these functions are intended to override a virtual function from the base class. </a:t>
            </a:r>
          </a:p>
          <a:p>
            <a:r>
              <a:rPr lang="en-US" dirty="0"/>
              <a:t>override improves correctness by allowing the compiler to detect mistakes such as misspelled function names or incorrect parameter lists, preventing accidental errors. </a:t>
            </a:r>
          </a:p>
          <a:p>
            <a:r>
              <a:rPr lang="en-US" b="1" dirty="0"/>
              <a:t>Output</a:t>
            </a:r>
          </a:p>
          <a:p>
            <a:r>
              <a:rPr lang="en-US" dirty="0"/>
              <a:t>Woof!</a:t>
            </a:r>
            <a:br>
              <a:rPr lang="en-US" dirty="0"/>
            </a:br>
            <a:r>
              <a:rPr lang="en-US" dirty="0"/>
              <a:t>Meow!</a:t>
            </a:r>
          </a:p>
          <a:p>
            <a:r>
              <a:rPr lang="en-US" b="1" dirty="0"/>
              <a:t>Conclusion</a:t>
            </a:r>
          </a:p>
          <a:p>
            <a:r>
              <a:rPr lang="en-US" dirty="0"/>
              <a:t>Because </a:t>
            </a:r>
            <a:r>
              <a:rPr lang="en-US" dirty="0" err="1"/>
              <a:t>makeSound</a:t>
            </a:r>
            <a:r>
              <a:rPr lang="en-US" dirty="0"/>
              <a:t>() is </a:t>
            </a:r>
            <a:r>
              <a:rPr lang="en-US" b="1" dirty="0"/>
              <a:t>virtual</a:t>
            </a:r>
            <a:r>
              <a:rPr lang="en-US" dirty="0"/>
              <a:t>, the version belonging to the actual object (Dog or Cat) runs at runtime. The </a:t>
            </a:r>
            <a:r>
              <a:rPr lang="en-US" b="1" dirty="0"/>
              <a:t>override</a:t>
            </a:r>
            <a:r>
              <a:rPr lang="en-US" dirty="0"/>
              <a:t> keyword ensures that the derived classes correctly override the base-class function and helps catch programming errors during compilation.</a:t>
            </a:r>
          </a:p>
          <a:p>
            <a:endParaRPr lang="en-US" dirty="0"/>
          </a:p>
        </p:txBody>
      </p:sp>
    </p:spTree>
    <p:extLst>
      <p:ext uri="{BB962C8B-B14F-4D97-AF65-F5344CB8AC3E}">
        <p14:creationId xmlns:p14="http://schemas.microsoft.com/office/powerpoint/2010/main" val="389642869"/>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F34C8-B17C-B9FD-745C-842FFDDC1C19}"/>
              </a:ext>
            </a:extLst>
          </p:cNvPr>
          <p:cNvSpPr>
            <a:spLocks noGrp="1"/>
          </p:cNvSpPr>
          <p:nvPr>
            <p:ph type="title"/>
          </p:nvPr>
        </p:nvSpPr>
        <p:spPr>
          <a:xfrm>
            <a:off x="1069848" y="484632"/>
            <a:ext cx="10058400" cy="640161"/>
          </a:xfrm>
        </p:spPr>
        <p:txBody>
          <a:bodyPr>
            <a:normAutofit fontScale="90000"/>
          </a:bodyPr>
          <a:lstStyle/>
          <a:p>
            <a:r>
              <a:rPr lang="en-US" dirty="0"/>
              <a:t>Important for answer</a:t>
            </a:r>
          </a:p>
        </p:txBody>
      </p:sp>
      <p:sp>
        <p:nvSpPr>
          <p:cNvPr id="3" name="Content Placeholder 2">
            <a:extLst>
              <a:ext uri="{FF2B5EF4-FFF2-40B4-BE49-F238E27FC236}">
                <a16:creationId xmlns:a16="http://schemas.microsoft.com/office/drawing/2014/main" id="{C3418F2F-130B-F7AE-194C-5397CDEC17A0}"/>
              </a:ext>
            </a:extLst>
          </p:cNvPr>
          <p:cNvSpPr>
            <a:spLocks noGrp="1"/>
          </p:cNvSpPr>
          <p:nvPr>
            <p:ph idx="1"/>
          </p:nvPr>
        </p:nvSpPr>
        <p:spPr>
          <a:xfrm>
            <a:off x="1069848" y="1124793"/>
            <a:ext cx="10058400" cy="5047407"/>
          </a:xfrm>
        </p:spPr>
        <p:txBody>
          <a:bodyPr>
            <a:normAutofit fontScale="77500" lnSpcReduction="20000"/>
          </a:bodyPr>
          <a:lstStyle/>
          <a:p>
            <a:r>
              <a:rPr lang="en-US" b="1" dirty="0"/>
              <a:t>Complete Output</a:t>
            </a:r>
          </a:p>
          <a:p>
            <a:r>
              <a:rPr lang="en-US" dirty="0" err="1"/>
              <a:t>i</a:t>
            </a:r>
            <a:r>
              <a:rPr lang="en-US" dirty="0"/>
              <a:t> am car</a:t>
            </a:r>
            <a:br>
              <a:rPr lang="en-US" dirty="0"/>
            </a:br>
            <a:r>
              <a:rPr lang="en-US" dirty="0" err="1"/>
              <a:t>i</a:t>
            </a:r>
            <a:r>
              <a:rPr lang="en-US" dirty="0"/>
              <a:t> am bike</a:t>
            </a:r>
          </a:p>
          <a:p>
            <a:r>
              <a:rPr lang="en-US" b="1" dirty="0"/>
              <a:t>Why does this happen?</a:t>
            </a:r>
          </a:p>
          <a:p>
            <a:r>
              <a:rPr lang="en-US" dirty="0"/>
              <a:t>The function </a:t>
            </a:r>
            <a:r>
              <a:rPr lang="en-US" dirty="0" err="1"/>
              <a:t>startengine</a:t>
            </a:r>
            <a:r>
              <a:rPr lang="en-US" dirty="0"/>
              <a:t>() is declared with the virtual keyword:</a:t>
            </a:r>
          </a:p>
          <a:p>
            <a:r>
              <a:rPr lang="en-US" dirty="0"/>
              <a:t>virtual void </a:t>
            </a:r>
            <a:r>
              <a:rPr lang="en-US" dirty="0" err="1"/>
              <a:t>startengine</a:t>
            </a:r>
            <a:r>
              <a:rPr lang="en-US" dirty="0"/>
              <a:t>()</a:t>
            </a:r>
          </a:p>
          <a:p>
            <a:r>
              <a:rPr lang="en-US" dirty="0"/>
              <a:t>This enables </a:t>
            </a:r>
            <a:r>
              <a:rPr lang="en-US" b="1" dirty="0"/>
              <a:t>runtime polymorphism (dynamic dispatch)</a:t>
            </a:r>
            <a:r>
              <a:rPr lang="en-US" dirty="0"/>
              <a:t>. The function call is resolved at runtime based on the object being pointed to, not the pointer type.</a:t>
            </a:r>
          </a:p>
          <a:p>
            <a:r>
              <a:rPr lang="en-US" b="1" dirty="0"/>
              <a:t>Why is override used?</a:t>
            </a:r>
          </a:p>
          <a:p>
            <a:r>
              <a:rPr lang="en-US" dirty="0"/>
              <a:t>void </a:t>
            </a:r>
            <a:r>
              <a:rPr lang="en-US" dirty="0" err="1"/>
              <a:t>startengine</a:t>
            </a:r>
            <a:r>
              <a:rPr lang="en-US" dirty="0"/>
              <a:t>() override</a:t>
            </a:r>
          </a:p>
          <a:p>
            <a:r>
              <a:rPr lang="en-US" dirty="0"/>
              <a:t>The override keyword tells the compiler that this function is intended to override a virtual function from the base class.</a:t>
            </a:r>
          </a:p>
          <a:p>
            <a:r>
              <a:rPr lang="en-US" dirty="0"/>
              <a:t>Benefits:</a:t>
            </a:r>
          </a:p>
          <a:p>
            <a:r>
              <a:rPr lang="en-US" dirty="0"/>
              <a:t>Catches spelling mistakes. </a:t>
            </a:r>
          </a:p>
          <a:p>
            <a:r>
              <a:rPr lang="en-US" dirty="0"/>
              <a:t>Catches incorrect parameter lists. </a:t>
            </a:r>
          </a:p>
          <a:p>
            <a:r>
              <a:rPr lang="en-US" dirty="0"/>
              <a:t>Improves readability. </a:t>
            </a:r>
          </a:p>
          <a:p>
            <a:r>
              <a:rPr lang="en-US" dirty="0"/>
              <a:t>Prevents accidental bugs.</a:t>
            </a:r>
          </a:p>
          <a:p>
            <a:endParaRPr lang="en-US" dirty="0"/>
          </a:p>
          <a:p>
            <a:endParaRPr lang="en-US" dirty="0"/>
          </a:p>
        </p:txBody>
      </p:sp>
    </p:spTree>
    <p:extLst>
      <p:ext uri="{BB962C8B-B14F-4D97-AF65-F5344CB8AC3E}">
        <p14:creationId xmlns:p14="http://schemas.microsoft.com/office/powerpoint/2010/main" val="56378487"/>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5C6F8-1607-6E45-0FCF-C4092757414D}"/>
              </a:ext>
            </a:extLst>
          </p:cNvPr>
          <p:cNvSpPr>
            <a:spLocks noGrp="1"/>
          </p:cNvSpPr>
          <p:nvPr>
            <p:ph type="title"/>
          </p:nvPr>
        </p:nvSpPr>
        <p:spPr/>
        <p:txBody>
          <a:bodyPr/>
          <a:lstStyle/>
          <a:p>
            <a:r>
              <a:rPr lang="en-US" dirty="0"/>
              <a:t>…</a:t>
            </a:r>
          </a:p>
        </p:txBody>
      </p:sp>
      <p:sp>
        <p:nvSpPr>
          <p:cNvPr id="3" name="Content Placeholder 2">
            <a:extLst>
              <a:ext uri="{FF2B5EF4-FFF2-40B4-BE49-F238E27FC236}">
                <a16:creationId xmlns:a16="http://schemas.microsoft.com/office/drawing/2014/main" id="{8BE315B9-CD5F-15D6-4BF8-03271F17AE46}"/>
              </a:ext>
            </a:extLst>
          </p:cNvPr>
          <p:cNvSpPr>
            <a:spLocks noGrp="1"/>
          </p:cNvSpPr>
          <p:nvPr>
            <p:ph idx="1"/>
          </p:nvPr>
        </p:nvSpPr>
        <p:spPr/>
        <p:txBody>
          <a:bodyPr/>
          <a:lstStyle/>
          <a:p>
            <a:r>
              <a:rPr lang="en-US" dirty="0"/>
              <a:t>When </a:t>
            </a:r>
            <a:r>
              <a:rPr lang="en-US" dirty="0" err="1"/>
              <a:t>ptr</a:t>
            </a:r>
            <a:r>
              <a:rPr lang="en-US" dirty="0"/>
              <a:t> points to the car object, car::</a:t>
            </a:r>
            <a:r>
              <a:rPr lang="en-US" dirty="0" err="1"/>
              <a:t>startengine</a:t>
            </a:r>
            <a:r>
              <a:rPr lang="en-US" dirty="0"/>
              <a:t>() executes and displays "</a:t>
            </a:r>
            <a:r>
              <a:rPr lang="en-US" dirty="0" err="1"/>
              <a:t>i</a:t>
            </a:r>
            <a:r>
              <a:rPr lang="en-US" dirty="0"/>
              <a:t> am car". When </a:t>
            </a:r>
            <a:r>
              <a:rPr lang="en-US" dirty="0" err="1"/>
              <a:t>ptr</a:t>
            </a:r>
            <a:r>
              <a:rPr lang="en-US" dirty="0"/>
              <a:t> points to the bike object, bike::</a:t>
            </a:r>
            <a:r>
              <a:rPr lang="en-US" dirty="0" err="1"/>
              <a:t>startengine</a:t>
            </a:r>
            <a:r>
              <a:rPr lang="en-US" dirty="0"/>
              <a:t>() executes and displays "</a:t>
            </a:r>
            <a:r>
              <a:rPr lang="en-US" dirty="0" err="1"/>
              <a:t>i</a:t>
            </a:r>
            <a:r>
              <a:rPr lang="en-US" dirty="0"/>
              <a:t> am bike". This occurs because </a:t>
            </a:r>
            <a:r>
              <a:rPr lang="en-US" dirty="0" err="1"/>
              <a:t>startengine</a:t>
            </a:r>
            <a:r>
              <a:rPr lang="en-US" dirty="0"/>
              <a:t>() is declared as a virtual function in the base class, enabling runtime polymorphism. The function call is resolved according to the actual object type at runtime rather than the pointer type. The override keyword ensures that the derived-class function correctly overrides the base-class virtual function and helps the compiler detect signature mismatches and programming errors.</a:t>
            </a:r>
          </a:p>
        </p:txBody>
      </p:sp>
    </p:spTree>
    <p:extLst>
      <p:ext uri="{BB962C8B-B14F-4D97-AF65-F5344CB8AC3E}">
        <p14:creationId xmlns:p14="http://schemas.microsoft.com/office/powerpoint/2010/main" val="2470999979"/>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C2493-1BF6-2E5A-4DB3-33EA7F86D105}"/>
              </a:ext>
            </a:extLst>
          </p:cNvPr>
          <p:cNvSpPr>
            <a:spLocks noGrp="1"/>
          </p:cNvSpPr>
          <p:nvPr>
            <p:ph type="title"/>
          </p:nvPr>
        </p:nvSpPr>
        <p:spPr>
          <a:xfrm>
            <a:off x="1069848" y="484632"/>
            <a:ext cx="10058400" cy="641435"/>
          </a:xfrm>
        </p:spPr>
        <p:txBody>
          <a:bodyPr>
            <a:normAutofit fontScale="90000"/>
          </a:bodyPr>
          <a:lstStyle/>
          <a:p>
            <a:r>
              <a:rPr lang="en-US" dirty="0"/>
              <a:t>Multi-level inheritance</a:t>
            </a:r>
          </a:p>
        </p:txBody>
      </p:sp>
      <p:sp>
        <p:nvSpPr>
          <p:cNvPr id="3" name="Content Placeholder 2">
            <a:extLst>
              <a:ext uri="{FF2B5EF4-FFF2-40B4-BE49-F238E27FC236}">
                <a16:creationId xmlns:a16="http://schemas.microsoft.com/office/drawing/2014/main" id="{1CAAD04F-6139-F6FE-37DE-65DC5BE27B1F}"/>
              </a:ext>
            </a:extLst>
          </p:cNvPr>
          <p:cNvSpPr>
            <a:spLocks noGrp="1"/>
          </p:cNvSpPr>
          <p:nvPr>
            <p:ph idx="1"/>
          </p:nvPr>
        </p:nvSpPr>
        <p:spPr>
          <a:xfrm>
            <a:off x="1069848" y="1126067"/>
            <a:ext cx="10058400" cy="5731933"/>
          </a:xfrm>
        </p:spPr>
        <p:txBody>
          <a:bodyPr>
            <a:normAutofit fontScale="25000" lnSpcReduction="20000"/>
          </a:bodyPr>
          <a:lstStyle/>
          <a:p>
            <a:r>
              <a:rPr lang="en-US" dirty="0"/>
              <a:t>Multilevel inheritance occurs when a class inherits from another derived class, creating a chain of inheritance.</a:t>
            </a:r>
          </a:p>
          <a:p>
            <a:r>
              <a:rPr lang="en-US" dirty="0"/>
              <a:t>Animal</a:t>
            </a:r>
            <a:br>
              <a:rPr lang="en-US" dirty="0"/>
            </a:br>
            <a:r>
              <a:rPr lang="en-US" dirty="0"/>
              <a:t>   ↓</a:t>
            </a:r>
            <a:br>
              <a:rPr lang="en-US" dirty="0"/>
            </a:br>
            <a:r>
              <a:rPr lang="en-US" dirty="0"/>
              <a:t>Mammal</a:t>
            </a:r>
            <a:br>
              <a:rPr lang="en-US" dirty="0"/>
            </a:br>
            <a:r>
              <a:rPr lang="en-US" dirty="0"/>
              <a:t>   ↓</a:t>
            </a:r>
            <a:br>
              <a:rPr lang="en-US" dirty="0"/>
            </a:br>
            <a:r>
              <a:rPr lang="en-US" dirty="0"/>
              <a:t>Dog</a:t>
            </a:r>
          </a:p>
          <a:p>
            <a:r>
              <a:rPr lang="en-US" dirty="0"/>
              <a:t>Here:</a:t>
            </a:r>
          </a:p>
          <a:p>
            <a:r>
              <a:rPr lang="en-US" dirty="0"/>
              <a:t>Animal = Grandparent/Base Class </a:t>
            </a:r>
          </a:p>
          <a:p>
            <a:r>
              <a:rPr lang="en-US" dirty="0"/>
              <a:t>Mammal = Parent/Derived Class </a:t>
            </a:r>
          </a:p>
          <a:p>
            <a:r>
              <a:rPr lang="en-US" dirty="0"/>
              <a:t>Dog = Child/Derived Class </a:t>
            </a:r>
          </a:p>
          <a:p>
            <a:r>
              <a:rPr lang="en-US" b="1" dirty="0"/>
              <a:t>Why is it used?</a:t>
            </a:r>
          </a:p>
          <a:p>
            <a:r>
              <a:rPr lang="en-US" dirty="0"/>
              <a:t>It allows gradual specialization.</a:t>
            </a:r>
          </a:p>
          <a:p>
            <a:r>
              <a:rPr lang="en-US" dirty="0"/>
              <a:t>Each level adds new features while keeping previously inherited features.</a:t>
            </a:r>
          </a:p>
          <a:p>
            <a:r>
              <a:rPr lang="en-US" dirty="0"/>
              <a:t>Think:</a:t>
            </a:r>
          </a:p>
          <a:p>
            <a:r>
              <a:rPr lang="en-US" dirty="0"/>
              <a:t>Living Thing</a:t>
            </a:r>
            <a:br>
              <a:rPr lang="en-US" dirty="0"/>
            </a:br>
            <a:r>
              <a:rPr lang="en-US" dirty="0"/>
              <a:t>    ↓</a:t>
            </a:r>
            <a:br>
              <a:rPr lang="en-US" dirty="0"/>
            </a:br>
            <a:r>
              <a:rPr lang="en-US" dirty="0"/>
              <a:t>Animal</a:t>
            </a:r>
            <a:br>
              <a:rPr lang="en-US" dirty="0"/>
            </a:br>
            <a:r>
              <a:rPr lang="en-US" dirty="0"/>
              <a:t>    ↓</a:t>
            </a:r>
            <a:br>
              <a:rPr lang="en-US" dirty="0"/>
            </a:br>
            <a:r>
              <a:rPr lang="en-US" dirty="0"/>
              <a:t>Mammal</a:t>
            </a:r>
            <a:br>
              <a:rPr lang="en-US" dirty="0"/>
            </a:br>
            <a:r>
              <a:rPr lang="en-US" dirty="0"/>
              <a:t>    ↓</a:t>
            </a:r>
            <a:br>
              <a:rPr lang="en-US" dirty="0"/>
            </a:br>
            <a:r>
              <a:rPr lang="en-US" dirty="0"/>
              <a:t>Dog</a:t>
            </a:r>
          </a:p>
          <a:p>
            <a:r>
              <a:rPr lang="en-US" dirty="0"/>
              <a:t>Every new class becomes more specific.</a:t>
            </a:r>
          </a:p>
          <a:p>
            <a:r>
              <a:rPr lang="en-US" b="1" dirty="0"/>
              <a:t>Teacher's Example</a:t>
            </a:r>
          </a:p>
          <a:p>
            <a:r>
              <a:rPr lang="en-US" b="1" dirty="0"/>
              <a:t>Step 1</a:t>
            </a:r>
          </a:p>
          <a:p>
            <a:r>
              <a:rPr lang="en-US" dirty="0"/>
              <a:t>class Animal {</a:t>
            </a:r>
            <a:br>
              <a:rPr lang="en-US" dirty="0"/>
            </a:br>
            <a:r>
              <a:rPr lang="en-US" dirty="0"/>
              <a:t>public:</a:t>
            </a:r>
            <a:br>
              <a:rPr lang="en-US" dirty="0"/>
            </a:br>
            <a:r>
              <a:rPr lang="en-US" dirty="0"/>
              <a:t>    void eat() {</a:t>
            </a:r>
            <a:br>
              <a:rPr lang="en-US" dirty="0"/>
            </a:br>
            <a:r>
              <a:rPr lang="en-US" dirty="0"/>
              <a:t>        </a:t>
            </a:r>
            <a:r>
              <a:rPr lang="en-US" dirty="0" err="1"/>
              <a:t>cout</a:t>
            </a:r>
            <a:r>
              <a:rPr lang="en-US" dirty="0"/>
              <a:t> &lt;&lt; "Eating...";</a:t>
            </a:r>
            <a:br>
              <a:rPr lang="en-US" dirty="0"/>
            </a:br>
            <a:r>
              <a:rPr lang="en-US" dirty="0"/>
              <a:t>    }</a:t>
            </a:r>
            <a:br>
              <a:rPr lang="en-US" dirty="0"/>
            </a:br>
            <a:r>
              <a:rPr lang="en-US" dirty="0"/>
              <a:t>};</a:t>
            </a:r>
          </a:p>
          <a:p>
            <a:r>
              <a:rPr lang="en-US" dirty="0"/>
              <a:t>Animal knows how to eat.</a:t>
            </a:r>
          </a:p>
          <a:p>
            <a:r>
              <a:rPr lang="en-US" b="1" dirty="0"/>
              <a:t>Step 2</a:t>
            </a:r>
          </a:p>
          <a:p>
            <a:r>
              <a:rPr lang="en-US" dirty="0"/>
              <a:t>class Mammal : public Animal {</a:t>
            </a:r>
            <a:br>
              <a:rPr lang="en-US" dirty="0"/>
            </a:br>
            <a:r>
              <a:rPr lang="en-US" dirty="0"/>
              <a:t>public:</a:t>
            </a:r>
            <a:br>
              <a:rPr lang="en-US" dirty="0"/>
            </a:br>
            <a:r>
              <a:rPr lang="en-US" dirty="0"/>
              <a:t>    void breathe() {</a:t>
            </a:r>
            <a:br>
              <a:rPr lang="en-US" dirty="0"/>
            </a:br>
            <a:r>
              <a:rPr lang="en-US" dirty="0"/>
              <a:t>        </a:t>
            </a:r>
            <a:r>
              <a:rPr lang="en-US" dirty="0" err="1"/>
              <a:t>cout</a:t>
            </a:r>
            <a:r>
              <a:rPr lang="en-US" dirty="0"/>
              <a:t> &lt;&lt; "Breathing...";</a:t>
            </a:r>
            <a:br>
              <a:rPr lang="en-US" dirty="0"/>
            </a:br>
            <a:r>
              <a:rPr lang="en-US" dirty="0"/>
              <a:t>    }</a:t>
            </a:r>
            <a:br>
              <a:rPr lang="en-US" dirty="0"/>
            </a:br>
            <a:r>
              <a:rPr lang="en-US" dirty="0"/>
              <a:t>};</a:t>
            </a:r>
          </a:p>
          <a:p>
            <a:r>
              <a:rPr lang="en-US" dirty="0"/>
              <a:t>Mammal inherits Animal.</a:t>
            </a:r>
          </a:p>
          <a:p>
            <a:r>
              <a:rPr lang="en-US" dirty="0"/>
              <a:t>Therefore Mammal has:</a:t>
            </a:r>
          </a:p>
          <a:p>
            <a:r>
              <a:rPr lang="en-US" dirty="0"/>
              <a:t>eat()</a:t>
            </a:r>
            <a:br>
              <a:rPr lang="en-US" dirty="0"/>
            </a:br>
            <a:r>
              <a:rPr lang="en-US" dirty="0"/>
              <a:t>breathe()</a:t>
            </a:r>
          </a:p>
          <a:p>
            <a:r>
              <a:rPr lang="en-US" b="1" dirty="0"/>
              <a:t>Step 3</a:t>
            </a:r>
          </a:p>
          <a:p>
            <a:r>
              <a:rPr lang="en-US" dirty="0"/>
              <a:t>class Dog : public Mammal {</a:t>
            </a:r>
            <a:br>
              <a:rPr lang="en-US" dirty="0"/>
            </a:br>
            <a:r>
              <a:rPr lang="en-US" dirty="0"/>
              <a:t>public:</a:t>
            </a:r>
            <a:br>
              <a:rPr lang="en-US" dirty="0"/>
            </a:br>
            <a:r>
              <a:rPr lang="en-US" dirty="0"/>
              <a:t>    void bark() {</a:t>
            </a:r>
            <a:br>
              <a:rPr lang="en-US" dirty="0"/>
            </a:br>
            <a:r>
              <a:rPr lang="en-US" dirty="0"/>
              <a:t>        </a:t>
            </a:r>
            <a:r>
              <a:rPr lang="en-US" dirty="0" err="1"/>
              <a:t>cout</a:t>
            </a:r>
            <a:r>
              <a:rPr lang="en-US" dirty="0"/>
              <a:t> &lt;&lt; "Woof!";</a:t>
            </a:r>
            <a:br>
              <a:rPr lang="en-US" dirty="0"/>
            </a:br>
            <a:r>
              <a:rPr lang="en-US" dirty="0"/>
              <a:t>    }</a:t>
            </a:r>
            <a:br>
              <a:rPr lang="en-US" dirty="0"/>
            </a:br>
            <a:r>
              <a:rPr lang="en-US" dirty="0"/>
              <a:t>};</a:t>
            </a:r>
          </a:p>
          <a:p>
            <a:r>
              <a:rPr lang="en-US" dirty="0"/>
              <a:t>Dog inherits Mammal.</a:t>
            </a:r>
          </a:p>
          <a:p>
            <a:r>
              <a:rPr lang="en-US" dirty="0"/>
              <a:t>Since Mammal already inherited Animal, Dog gets everything.</a:t>
            </a:r>
          </a:p>
          <a:p>
            <a:r>
              <a:rPr lang="en-US" dirty="0"/>
              <a:t>Dog contains:</a:t>
            </a:r>
          </a:p>
          <a:p>
            <a:r>
              <a:rPr lang="en-US" dirty="0"/>
              <a:t>eat()      ← Animal</a:t>
            </a:r>
            <a:br>
              <a:rPr lang="en-US" dirty="0"/>
            </a:br>
            <a:r>
              <a:rPr lang="en-US" dirty="0"/>
              <a:t>breathe()  ← Mammal</a:t>
            </a:r>
            <a:br>
              <a:rPr lang="en-US" dirty="0"/>
            </a:br>
            <a:r>
              <a:rPr lang="en-US" dirty="0"/>
              <a:t>bark()     ← Dog</a:t>
            </a:r>
          </a:p>
          <a:p>
            <a:endParaRPr lang="en-US" dirty="0"/>
          </a:p>
          <a:p>
            <a:endParaRPr lang="en-US" dirty="0"/>
          </a:p>
        </p:txBody>
      </p:sp>
    </p:spTree>
    <p:extLst>
      <p:ext uri="{BB962C8B-B14F-4D97-AF65-F5344CB8AC3E}">
        <p14:creationId xmlns:p14="http://schemas.microsoft.com/office/powerpoint/2010/main" val="1932701905"/>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05388-9895-2695-BB70-751F36DA6BF9}"/>
              </a:ext>
            </a:extLst>
          </p:cNvPr>
          <p:cNvSpPr>
            <a:spLocks noGrp="1"/>
          </p:cNvSpPr>
          <p:nvPr>
            <p:ph type="title"/>
          </p:nvPr>
        </p:nvSpPr>
        <p:spPr>
          <a:xfrm>
            <a:off x="1069848" y="484632"/>
            <a:ext cx="10058400" cy="452628"/>
          </a:xfrm>
        </p:spPr>
        <p:txBody>
          <a:bodyPr>
            <a:normAutofit fontScale="90000"/>
          </a:bodyPr>
          <a:lstStyle/>
          <a:p>
            <a:r>
              <a:rPr lang="en-US" dirty="0"/>
              <a:t>…</a:t>
            </a:r>
          </a:p>
        </p:txBody>
      </p:sp>
      <p:sp>
        <p:nvSpPr>
          <p:cNvPr id="3" name="Content Placeholder 2">
            <a:extLst>
              <a:ext uri="{FF2B5EF4-FFF2-40B4-BE49-F238E27FC236}">
                <a16:creationId xmlns:a16="http://schemas.microsoft.com/office/drawing/2014/main" id="{4B83BB3C-0CD9-934C-8D09-E65A0D9B11CF}"/>
              </a:ext>
            </a:extLst>
          </p:cNvPr>
          <p:cNvSpPr>
            <a:spLocks noGrp="1"/>
          </p:cNvSpPr>
          <p:nvPr>
            <p:ph idx="1"/>
          </p:nvPr>
        </p:nvSpPr>
        <p:spPr>
          <a:xfrm>
            <a:off x="1069848" y="937260"/>
            <a:ext cx="10058400" cy="5920740"/>
          </a:xfrm>
        </p:spPr>
        <p:txBody>
          <a:bodyPr>
            <a:normAutofit fontScale="70000" lnSpcReduction="20000"/>
          </a:bodyPr>
          <a:lstStyle/>
          <a:p>
            <a:r>
              <a:rPr lang="en-US" b="1" dirty="0"/>
              <a:t>Important Interview / Exam Questions</a:t>
            </a:r>
          </a:p>
          <a:p>
            <a:r>
              <a:rPr lang="en-US" b="1" dirty="0"/>
              <a:t>Q1. What is Multilevel Inheritance?</a:t>
            </a:r>
          </a:p>
          <a:p>
            <a:r>
              <a:rPr lang="en-US" dirty="0"/>
              <a:t>Inheritance where a derived class inherits from another derived class, forming a chain.</a:t>
            </a:r>
          </a:p>
          <a:p>
            <a:br>
              <a:rPr lang="en-US" dirty="0"/>
            </a:br>
            <a:endParaRPr lang="en-US" dirty="0"/>
          </a:p>
          <a:p>
            <a:r>
              <a:rPr lang="en-US" b="1" dirty="0"/>
              <a:t>Q2. What is Multiple Inheritance?</a:t>
            </a:r>
          </a:p>
          <a:p>
            <a:r>
              <a:rPr lang="en-US" dirty="0"/>
              <a:t>Inheritance where one class inherits from more than one base class.</a:t>
            </a:r>
          </a:p>
          <a:p>
            <a:br>
              <a:rPr lang="en-US" dirty="0"/>
            </a:br>
            <a:endParaRPr lang="en-US" dirty="0"/>
          </a:p>
          <a:p>
            <a:r>
              <a:rPr lang="en-US" b="1" dirty="0"/>
              <a:t>Q3. What is the Diamond Problem?</a:t>
            </a:r>
          </a:p>
          <a:p>
            <a:r>
              <a:rPr lang="en-US" dirty="0"/>
              <a:t>When multiple inheritance causes two copies of the same base class to appear in the final derived class, creating ambiguity.</a:t>
            </a:r>
          </a:p>
          <a:p>
            <a:br>
              <a:rPr lang="en-US" dirty="0"/>
            </a:br>
            <a:endParaRPr lang="en-US" dirty="0"/>
          </a:p>
          <a:p>
            <a:r>
              <a:rPr lang="en-US" b="1" dirty="0"/>
              <a:t>Q4. Why does the Diamond Problem occur?</a:t>
            </a:r>
          </a:p>
          <a:p>
            <a:r>
              <a:rPr lang="en-US" dirty="0"/>
              <a:t>Because the derived class receives duplicate copies of the common base class through different inheritance paths.</a:t>
            </a:r>
          </a:p>
          <a:p>
            <a:br>
              <a:rPr lang="en-US" dirty="0"/>
            </a:br>
            <a:endParaRPr lang="en-US" dirty="0"/>
          </a:p>
          <a:p>
            <a:r>
              <a:rPr lang="en-US" b="1" dirty="0"/>
              <a:t>Q5. How is the Diamond Problem solved?</a:t>
            </a:r>
          </a:p>
          <a:p>
            <a:r>
              <a:rPr lang="en-US" dirty="0"/>
              <a:t>Using virtual inheritance.</a:t>
            </a:r>
          </a:p>
          <a:p>
            <a:r>
              <a:rPr lang="en-US" dirty="0"/>
              <a:t>class B : virtual public A {};</a:t>
            </a:r>
            <a:br>
              <a:rPr lang="en-US" dirty="0"/>
            </a:br>
            <a:r>
              <a:rPr lang="en-US" dirty="0"/>
              <a:t>class C : virtual public A {};</a:t>
            </a:r>
          </a:p>
          <a:p>
            <a:endParaRPr lang="en-US" dirty="0"/>
          </a:p>
        </p:txBody>
      </p:sp>
    </p:spTree>
    <p:extLst>
      <p:ext uri="{BB962C8B-B14F-4D97-AF65-F5344CB8AC3E}">
        <p14:creationId xmlns:p14="http://schemas.microsoft.com/office/powerpoint/2010/main" val="199722720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{062E5959-20D7-4E13-8086-A3C5E19ABCAE}TF2ec419c9-97c3-4958-b02a-0886397d33afcfe10e4b-d68909c4b1b0</Template>
  <TotalTime>3321</TotalTime>
  <Words>10273</Words>
  <Application>Microsoft Office PowerPoint</Application>
  <PresentationFormat>Widescreen</PresentationFormat>
  <Paragraphs>1595</Paragraphs>
  <Slides>141</Slides>
  <Notes>15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141</vt:i4>
      </vt:variant>
    </vt:vector>
  </HeadingPairs>
  <TitlesOfParts>
    <vt:vector size="152" baseType="lpstr">
      <vt:lpstr>Arial</vt:lpstr>
      <vt:lpstr>Arial Unicode MS</vt:lpstr>
      <vt:lpstr>Calibri</vt:lpstr>
      <vt:lpstr>Courier New</vt:lpstr>
      <vt:lpstr>Montserrat</vt:lpstr>
      <vt:lpstr>Rockwell</vt:lpstr>
      <vt:lpstr>Rockwell Condensed</vt:lpstr>
      <vt:lpstr>Slack-Lato</vt:lpstr>
      <vt:lpstr>Times New Roman</vt:lpstr>
      <vt:lpstr>Wingdings</vt:lpstr>
      <vt:lpstr>Wood Type</vt:lpstr>
      <vt:lpstr>    object-oriented- programming in c++    </vt:lpstr>
      <vt:lpstr> defining a class</vt:lpstr>
      <vt:lpstr>PowerPoint Presentation</vt:lpstr>
      <vt:lpstr>PowerPoint Presentation</vt:lpstr>
      <vt:lpstr>Why we need classes?</vt:lpstr>
      <vt:lpstr>What Is a Class?</vt:lpstr>
      <vt:lpstr>Defining a class</vt:lpstr>
      <vt:lpstr>Syntax of class</vt:lpstr>
      <vt:lpstr>Critical thinking question</vt:lpstr>
      <vt:lpstr>Example, Class as user-defined data type</vt:lpstr>
      <vt:lpstr>does constructor actually assigns memory</vt:lpstr>
      <vt:lpstr>Memory of member function</vt:lpstr>
      <vt:lpstr>…</vt:lpstr>
      <vt:lpstr>…</vt:lpstr>
      <vt:lpstr>…</vt:lpstr>
      <vt:lpstr>…</vt:lpstr>
      <vt:lpstr>…</vt:lpstr>
      <vt:lpstr>…</vt:lpstr>
      <vt:lpstr>padding</vt:lpstr>
      <vt:lpstr>…</vt:lpstr>
      <vt:lpstr>…</vt:lpstr>
      <vt:lpstr>Access specifiers</vt:lpstr>
      <vt:lpstr>Access specifiers</vt:lpstr>
      <vt:lpstr>1. Private </vt:lpstr>
      <vt:lpstr>2. Public </vt:lpstr>
      <vt:lpstr>3. Protected </vt:lpstr>
      <vt:lpstr>Differences between access specifiers</vt:lpstr>
      <vt:lpstr>Access specifier</vt:lpstr>
      <vt:lpstr>Introduction to objects</vt:lpstr>
      <vt:lpstr>PowerPoint Presentation</vt:lpstr>
      <vt:lpstr>PowerPoint Presentation</vt:lpstr>
      <vt:lpstr>PowerPoint Presentation</vt:lpstr>
      <vt:lpstr>PowerPoint Presentation</vt:lpstr>
      <vt:lpstr>What is an object?</vt:lpstr>
      <vt:lpstr>Creating objects and the ‘dot’ operator</vt:lpstr>
      <vt:lpstr>PowerPoint Presentation</vt:lpstr>
      <vt:lpstr>Methods or member functions</vt:lpstr>
      <vt:lpstr>PowerPoint Presentation</vt:lpstr>
      <vt:lpstr>PowerPoint Presentation</vt:lpstr>
      <vt:lpstr>Member functions</vt:lpstr>
      <vt:lpstr>comparison</vt:lpstr>
      <vt:lpstr>Scope resolution operator(1)</vt:lpstr>
      <vt:lpstr>PowerPoint Presentation</vt:lpstr>
      <vt:lpstr>PowerPoint Presentation</vt:lpstr>
      <vt:lpstr>PowerPoint Presentation</vt:lpstr>
      <vt:lpstr>constructor</vt:lpstr>
      <vt:lpstr>Constructor overloading</vt:lpstr>
      <vt:lpstr>Types of constructors</vt:lpstr>
      <vt:lpstr>Copy constructor</vt:lpstr>
      <vt:lpstr>PowerPoint Presentation</vt:lpstr>
      <vt:lpstr>PowerPoint Presentation</vt:lpstr>
      <vt:lpstr>Default constructor</vt:lpstr>
      <vt:lpstr>PowerPoint Presentation</vt:lpstr>
      <vt:lpstr>PowerPoint Presentation</vt:lpstr>
      <vt:lpstr>PowerPoint Presentation</vt:lpstr>
      <vt:lpstr>destructor</vt:lpstr>
      <vt:lpstr>Number of destructors…</vt:lpstr>
      <vt:lpstr>Predict output…</vt:lpstr>
      <vt:lpstr>Main pillars of oop</vt:lpstr>
      <vt:lpstr>encapsulation</vt:lpstr>
      <vt:lpstr>Encapsulation continuation…</vt:lpstr>
      <vt:lpstr>PowerPoint Presentation</vt:lpstr>
      <vt:lpstr>PowerPoint Presentation</vt:lpstr>
      <vt:lpstr>PowerPoint Presentation</vt:lpstr>
      <vt:lpstr>Constructor v/s setters</vt:lpstr>
      <vt:lpstr>PowerPoint Presentation</vt:lpstr>
      <vt:lpstr>Setter v/s constructor</vt:lpstr>
      <vt:lpstr>PowerPoint Presentation</vt:lpstr>
      <vt:lpstr>abstraction</vt:lpstr>
      <vt:lpstr>abstraction</vt:lpstr>
      <vt:lpstr>Abstraction…</vt:lpstr>
      <vt:lpstr>…final for exam</vt:lpstr>
      <vt:lpstr>Abstract class</vt:lpstr>
      <vt:lpstr>Pure virtual function</vt:lpstr>
      <vt:lpstr>Comparison b/w encapsulation and abstraction</vt:lpstr>
      <vt:lpstr>Mind traps❓…🔥 </vt:lpstr>
      <vt:lpstr>Answers…</vt:lpstr>
      <vt:lpstr>inheritance</vt:lpstr>
      <vt:lpstr>inheritance</vt:lpstr>
      <vt:lpstr>polymorphism</vt:lpstr>
      <vt:lpstr>polymorphism</vt:lpstr>
      <vt:lpstr>Types of polymorphism</vt:lpstr>
      <vt:lpstr>Difference between compile and run time</vt:lpstr>
      <vt:lpstr>PowerPoint Presentation</vt:lpstr>
      <vt:lpstr>PowerPoint Presentation</vt:lpstr>
      <vt:lpstr>PowerPoint Presentation</vt:lpstr>
      <vt:lpstr>Object-oriented design(ood) process</vt:lpstr>
      <vt:lpstr>🔷 Steps of OOP Design Process</vt:lpstr>
      <vt:lpstr>Steps </vt:lpstr>
      <vt:lpstr>…</vt:lpstr>
      <vt:lpstr>…</vt:lpstr>
      <vt:lpstr>…</vt:lpstr>
      <vt:lpstr>Unified modeling language</vt:lpstr>
      <vt:lpstr>PowerPoint Presentation</vt:lpstr>
      <vt:lpstr>Pass by value</vt:lpstr>
      <vt:lpstr>…</vt:lpstr>
      <vt:lpstr>Copy constructor</vt:lpstr>
      <vt:lpstr>Copy constructor…</vt:lpstr>
      <vt:lpstr>Copy constructor…</vt:lpstr>
      <vt:lpstr>Ways to invoke copy constructor</vt:lpstr>
      <vt:lpstr>1. Object initialization from another object </vt:lpstr>
      <vt:lpstr>2. Pass-by-value </vt:lpstr>
      <vt:lpstr>Returning by value </vt:lpstr>
      <vt:lpstr>PowerPoint Presentation</vt:lpstr>
      <vt:lpstr>PowerPoint Presentation</vt:lpstr>
      <vt:lpstr>PowerPoint Presentation</vt:lpstr>
      <vt:lpstr>PowerPoint Presentation</vt:lpstr>
      <vt:lpstr>Operator overloading</vt:lpstr>
      <vt:lpstr>Operator overriding</vt:lpstr>
      <vt:lpstr>…</vt:lpstr>
      <vt:lpstr>PowerPoint Presentation</vt:lpstr>
      <vt:lpstr>association— "Knows-a" Relationship</vt:lpstr>
      <vt:lpstr>Association (Bidirectional or Unidirectional)</vt:lpstr>
      <vt:lpstr>2. Aggregation — "Has-a" Weak Relationship</vt:lpstr>
      <vt:lpstr>Aggregation (Special Type of Association)</vt:lpstr>
      <vt:lpstr>Key Difference</vt:lpstr>
      <vt:lpstr>Key concept summary</vt:lpstr>
      <vt:lpstr>PowerPoint Presentation</vt:lpstr>
      <vt:lpstr>3. Composition — "Has-a" Strong Relationship</vt:lpstr>
      <vt:lpstr>…</vt:lpstr>
      <vt:lpstr>PowerPoint Presentation</vt:lpstr>
      <vt:lpstr>PowerPoint Presentation</vt:lpstr>
      <vt:lpstr>4. Generalization — "Is-a" Relationship</vt:lpstr>
      <vt:lpstr>PowerPoint Presentation</vt:lpstr>
      <vt:lpstr>PowerPoint Presentation</vt:lpstr>
      <vt:lpstr>Entity Relationship Diagram (ERD)</vt:lpstr>
      <vt:lpstr>Main Components of ERD</vt:lpstr>
      <vt:lpstr>2. Attribute</vt:lpstr>
      <vt:lpstr>3. Relationship</vt:lpstr>
      <vt:lpstr>Function Overriding </vt:lpstr>
      <vt:lpstr>Conditions for Overriding</vt:lpstr>
      <vt:lpstr>Role of virtual</vt:lpstr>
      <vt:lpstr>…</vt:lpstr>
      <vt:lpstr>Role of override</vt:lpstr>
      <vt:lpstr>…</vt:lpstr>
      <vt:lpstr>code</vt:lpstr>
      <vt:lpstr>q1</vt:lpstr>
      <vt:lpstr>Important for answer</vt:lpstr>
      <vt:lpstr>…</vt:lpstr>
      <vt:lpstr>Multi-level inheritance</vt:lpstr>
      <vt:lpst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Nimra Fatima</dc:creator>
  <cp:lastModifiedBy>Nimra Fatima</cp:lastModifiedBy>
  <cp:revision>12</cp:revision>
  <dcterms:created xsi:type="dcterms:W3CDTF">2026-03-08T20:07:55Z</dcterms:created>
  <dcterms:modified xsi:type="dcterms:W3CDTF">2026-10-18T14:01:06Z</dcterms:modified>
</cp:coreProperties>
</file>